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67" r:id="rId2"/>
    <p:sldId id="257" r:id="rId3"/>
    <p:sldId id="270" r:id="rId4"/>
    <p:sldId id="271" r:id="rId5"/>
    <p:sldId id="274" r:id="rId6"/>
    <p:sldId id="273" r:id="rId7"/>
    <p:sldId id="275" r:id="rId8"/>
    <p:sldId id="276" r:id="rId9"/>
    <p:sldId id="261" r:id="rId10"/>
    <p:sldId id="279" r:id="rId11"/>
    <p:sldId id="282" r:id="rId12"/>
    <p:sldId id="283" r:id="rId13"/>
    <p:sldId id="262" r:id="rId14"/>
    <p:sldId id="284" r:id="rId15"/>
    <p:sldId id="285" r:id="rId16"/>
    <p:sldId id="28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9E0B"/>
    <a:srgbClr val="EF4444"/>
    <a:srgbClr val="D69196"/>
    <a:srgbClr val="2F3D58"/>
    <a:srgbClr val="0F2F4C"/>
    <a:srgbClr val="10B981"/>
    <a:srgbClr val="8B5CF6"/>
    <a:srgbClr val="7F46EA"/>
    <a:srgbClr val="6B7280"/>
    <a:srgbClr val="3B82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1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DELL\Documents\Book2%20(version%202).xlsb.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DELL\AppData\Roaming\Microsoft\Excel\Book2%20(version%202).xlsb"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DELL\AppData\Roaming\Microsoft\Excel\Book2%20(version%202).xlsb"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DELL\Documents\Book2%20(version%202).xlsb.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DELL\Documents\Book2%20(version%202).xlsb.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DELL\Documents\Book2%20(version%202).xlsb.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DELL\Documents\Book2%20(version%202).xlsb.xlsx" TargetMode="External"/><Relationship Id="rId2" Type="http://schemas.microsoft.com/office/2011/relationships/chartColorStyle" Target="colors13.xml"/><Relationship Id="rId1" Type="http://schemas.microsoft.com/office/2011/relationships/chartStyle" Target="styl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accent2"/>
            </a:solidFill>
            <a:ln>
              <a:noFill/>
            </a:ln>
            <a:effectLst/>
          </c:spPr>
          <c:invertIfNegative val="0"/>
          <c:dPt>
            <c:idx val="0"/>
            <c:invertIfNegative val="0"/>
            <c:bubble3D val="0"/>
            <c:spPr>
              <a:solidFill>
                <a:srgbClr val="99E271"/>
              </a:solidFill>
              <a:ln>
                <a:noFill/>
              </a:ln>
              <a:effectLst/>
            </c:spPr>
            <c:extLst>
              <c:ext xmlns:c16="http://schemas.microsoft.com/office/drawing/2014/chart" uri="{C3380CC4-5D6E-409C-BE32-E72D297353CC}">
                <c16:uniqueId val="{00000003-4483-4FF4-A916-BF81BD77E1EC}"/>
              </c:ext>
            </c:extLst>
          </c:dPt>
          <c:dPt>
            <c:idx val="2"/>
            <c:invertIfNegative val="0"/>
            <c:bubble3D val="0"/>
            <c:spPr>
              <a:solidFill>
                <a:srgbClr val="FF0000"/>
              </a:solidFill>
              <a:ln>
                <a:noFill/>
              </a:ln>
              <a:effectLst/>
            </c:spPr>
            <c:extLst>
              <c:ext xmlns:c16="http://schemas.microsoft.com/office/drawing/2014/chart" uri="{C3380CC4-5D6E-409C-BE32-E72D297353CC}">
                <c16:uniqueId val="{00000004-4483-4FF4-A916-BF81BD77E1EC}"/>
              </c:ext>
            </c:extLst>
          </c:dPt>
          <c:cat>
            <c:strRef>
              <c:f>Sheet1!$A$2:$A$4</c:f>
              <c:strCache>
                <c:ptCount val="3"/>
                <c:pt idx="0">
                  <c:v>Category 1</c:v>
                </c:pt>
                <c:pt idx="1">
                  <c:v>Category 2</c:v>
                </c:pt>
                <c:pt idx="2">
                  <c:v>Category 3</c:v>
                </c:pt>
              </c:strCache>
            </c:strRef>
          </c:cat>
          <c:val>
            <c:numRef>
              <c:f>Sheet1!$B$2:$B$4</c:f>
              <c:numCache>
                <c:formatCode>General</c:formatCode>
                <c:ptCount val="3"/>
                <c:pt idx="0">
                  <c:v>4.3</c:v>
                </c:pt>
                <c:pt idx="1">
                  <c:v>2.5</c:v>
                </c:pt>
                <c:pt idx="2">
                  <c:v>3.5</c:v>
                </c:pt>
              </c:numCache>
            </c:numRef>
          </c:val>
          <c:extLst>
            <c:ext xmlns:c16="http://schemas.microsoft.com/office/drawing/2014/chart" uri="{C3380CC4-5D6E-409C-BE32-E72D297353CC}">
              <c16:uniqueId val="{00000000-4483-4FF4-A916-BF81BD77E1EC}"/>
            </c:ext>
          </c:extLst>
        </c:ser>
        <c:dLbls>
          <c:showLegendKey val="0"/>
          <c:showVal val="0"/>
          <c:showCatName val="0"/>
          <c:showSerName val="0"/>
          <c:showPercent val="0"/>
          <c:showBubbleSize val="0"/>
        </c:dLbls>
        <c:gapWidth val="150"/>
        <c:overlap val="100"/>
        <c:axId val="574776911"/>
        <c:axId val="574775951"/>
      </c:barChart>
      <c:catAx>
        <c:axId val="574776911"/>
        <c:scaling>
          <c:orientation val="minMax"/>
        </c:scaling>
        <c:delete val="1"/>
        <c:axPos val="b"/>
        <c:numFmt formatCode="General" sourceLinked="1"/>
        <c:majorTickMark val="none"/>
        <c:minorTickMark val="none"/>
        <c:tickLblPos val="nextTo"/>
        <c:crossAx val="574775951"/>
        <c:crosses val="autoZero"/>
        <c:auto val="1"/>
        <c:lblAlgn val="ctr"/>
        <c:lblOffset val="100"/>
        <c:noMultiLvlLbl val="0"/>
      </c:catAx>
      <c:valAx>
        <c:axId val="574775951"/>
        <c:scaling>
          <c:orientation val="minMax"/>
        </c:scaling>
        <c:delete val="1"/>
        <c:axPos val="l"/>
        <c:numFmt formatCode="General" sourceLinked="1"/>
        <c:majorTickMark val="none"/>
        <c:minorTickMark val="none"/>
        <c:tickLblPos val="nextTo"/>
        <c:crossAx val="57477691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GB</c:v>
                </c:pt>
              </c:strCache>
            </c:strRef>
          </c:tx>
          <c:spPr>
            <a:ln w="28575" cap="rnd">
              <a:solidFill>
                <a:srgbClr val="00B0F0"/>
              </a:solidFill>
              <a:round/>
            </a:ln>
            <a:effectLst/>
          </c:spPr>
          <c:marker>
            <c:symbol val="circle"/>
            <c:size val="5"/>
            <c:spPr>
              <a:solidFill>
                <a:schemeClr val="accent1"/>
              </a:solidFill>
              <a:ln w="9525">
                <a:solidFill>
                  <a:schemeClr val="accent1"/>
                </a:solidFill>
              </a:ln>
              <a:effectLst/>
            </c:spPr>
          </c:marker>
          <c:cat>
            <c:strRef>
              <c:f>Sheet1!$A$2:$A$30</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Sheet1!$B$2:$B$30</c:f>
              <c:numCache>
                <c:formatCode>General</c:formatCode>
                <c:ptCount val="29"/>
                <c:pt idx="0">
                  <c:v>197.22816</c:v>
                </c:pt>
                <c:pt idx="1">
                  <c:v>170.13293999999999</c:v>
                </c:pt>
                <c:pt idx="2">
                  <c:v>131.65302</c:v>
                </c:pt>
                <c:pt idx="3">
                  <c:v>106.44336</c:v>
                </c:pt>
                <c:pt idx="4">
                  <c:v>89.779740000000004</c:v>
                </c:pt>
                <c:pt idx="5">
                  <c:v>85.460400000000007</c:v>
                </c:pt>
                <c:pt idx="6">
                  <c:v>80.631540000000001</c:v>
                </c:pt>
                <c:pt idx="7">
                  <c:v>74.945760000000007</c:v>
                </c:pt>
                <c:pt idx="8">
                  <c:v>72.166560000000004</c:v>
                </c:pt>
                <c:pt idx="9">
                  <c:v>73.324560000000005</c:v>
                </c:pt>
                <c:pt idx="10">
                  <c:v>72.595020000000005</c:v>
                </c:pt>
                <c:pt idx="11">
                  <c:v>73.996200000000002</c:v>
                </c:pt>
                <c:pt idx="12">
                  <c:v>74.146739999999994</c:v>
                </c:pt>
                <c:pt idx="13">
                  <c:v>72.062340000000006</c:v>
                </c:pt>
                <c:pt idx="14">
                  <c:v>73.208759999999998</c:v>
                </c:pt>
                <c:pt idx="15">
                  <c:v>73.301400000000001</c:v>
                </c:pt>
                <c:pt idx="16">
                  <c:v>72.236040000000003</c:v>
                </c:pt>
                <c:pt idx="17">
                  <c:v>72.490799999999993</c:v>
                </c:pt>
                <c:pt idx="18">
                  <c:v>71.41386</c:v>
                </c:pt>
                <c:pt idx="19">
                  <c:v>69.943200000000004</c:v>
                </c:pt>
                <c:pt idx="20">
                  <c:v>68.785200000000003</c:v>
                </c:pt>
                <c:pt idx="21">
                  <c:v>67.279799999999994</c:v>
                </c:pt>
                <c:pt idx="22">
                  <c:v>66.202860000000001</c:v>
                </c:pt>
                <c:pt idx="23">
                  <c:v>66.573419999999999</c:v>
                </c:pt>
                <c:pt idx="24">
                  <c:v>66.353399999999993</c:v>
                </c:pt>
                <c:pt idx="25">
                  <c:v>67.187160000000006</c:v>
                </c:pt>
                <c:pt idx="26">
                  <c:v>66.121799999999993</c:v>
                </c:pt>
                <c:pt idx="27">
                  <c:v>67.476659999999995</c:v>
                </c:pt>
                <c:pt idx="28">
                  <c:v>66.654480000000007</c:v>
                </c:pt>
              </c:numCache>
            </c:numRef>
          </c:val>
          <c:smooth val="0"/>
          <c:extLst>
            <c:ext xmlns:c16="http://schemas.microsoft.com/office/drawing/2014/chart" uri="{C3380CC4-5D6E-409C-BE32-E72D297353CC}">
              <c16:uniqueId val="{00000000-5E42-4FC4-A9A5-C6A5FE3CFE9C}"/>
            </c:ext>
          </c:extLst>
        </c:ser>
        <c:ser>
          <c:idx val="1"/>
          <c:order val="1"/>
          <c:tx>
            <c:strRef>
              <c:f>Sheet1!$C$1</c:f>
              <c:strCache>
                <c:ptCount val="1"/>
                <c:pt idx="0">
                  <c:v>DE</c:v>
                </c:pt>
              </c:strCache>
            </c:strRef>
          </c:tx>
          <c:spPr>
            <a:ln w="28575" cap="rnd">
              <a:solidFill>
                <a:srgbClr val="FFC000"/>
              </a:solidFill>
              <a:round/>
            </a:ln>
            <a:effectLst/>
          </c:spPr>
          <c:marker>
            <c:symbol val="circle"/>
            <c:size val="5"/>
            <c:spPr>
              <a:solidFill>
                <a:schemeClr val="accent2"/>
              </a:solidFill>
              <a:ln w="9525">
                <a:solidFill>
                  <a:schemeClr val="accent2"/>
                </a:solidFill>
              </a:ln>
              <a:effectLst/>
            </c:spPr>
          </c:marker>
          <c:cat>
            <c:strRef>
              <c:f>Sheet1!$A$2:$A$30</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Sheet1!$C$2:$C$30</c:f>
              <c:numCache>
                <c:formatCode>General</c:formatCode>
                <c:ptCount val="29"/>
                <c:pt idx="0">
                  <c:v>283.48477159999999</c:v>
                </c:pt>
                <c:pt idx="1">
                  <c:v>305.1799858</c:v>
                </c:pt>
                <c:pt idx="2">
                  <c:v>206.70837040000001</c:v>
                </c:pt>
                <c:pt idx="3">
                  <c:v>150.2341964</c:v>
                </c:pt>
                <c:pt idx="4">
                  <c:v>119.3248956</c:v>
                </c:pt>
                <c:pt idx="5">
                  <c:v>109.7228514</c:v>
                </c:pt>
                <c:pt idx="6">
                  <c:v>94.299667200000002</c:v>
                </c:pt>
                <c:pt idx="7">
                  <c:v>78.965014629999999</c:v>
                </c:pt>
                <c:pt idx="8">
                  <c:v>69.186840619999998</c:v>
                </c:pt>
                <c:pt idx="9">
                  <c:v>67.269269089999995</c:v>
                </c:pt>
                <c:pt idx="10">
                  <c:v>64.234034359999995</c:v>
                </c:pt>
                <c:pt idx="11">
                  <c:v>63.055848859999998</c:v>
                </c:pt>
                <c:pt idx="12">
                  <c:v>63.259901460000002</c:v>
                </c:pt>
                <c:pt idx="13">
                  <c:v>62.220455909999998</c:v>
                </c:pt>
                <c:pt idx="14">
                  <c:v>61.462675269999998</c:v>
                </c:pt>
                <c:pt idx="15">
                  <c:v>61.85307143</c:v>
                </c:pt>
                <c:pt idx="16">
                  <c:v>61.02722954</c:v>
                </c:pt>
                <c:pt idx="17">
                  <c:v>62.170105169999999</c:v>
                </c:pt>
                <c:pt idx="18">
                  <c:v>60.019679940000003</c:v>
                </c:pt>
                <c:pt idx="19">
                  <c:v>60.553281820000002</c:v>
                </c:pt>
                <c:pt idx="20">
                  <c:v>60.072503339999997</c:v>
                </c:pt>
                <c:pt idx="21">
                  <c:v>59.40539708</c:v>
                </c:pt>
                <c:pt idx="22">
                  <c:v>58.29958225</c:v>
                </c:pt>
                <c:pt idx="23">
                  <c:v>56.240900179999997</c:v>
                </c:pt>
                <c:pt idx="24">
                  <c:v>57.558598889999999</c:v>
                </c:pt>
                <c:pt idx="25">
                  <c:v>56.817001990000001</c:v>
                </c:pt>
                <c:pt idx="26">
                  <c:v>55.149299620000001</c:v>
                </c:pt>
                <c:pt idx="27">
                  <c:v>54.97480083</c:v>
                </c:pt>
                <c:pt idx="28">
                  <c:v>53.80525239</c:v>
                </c:pt>
              </c:numCache>
            </c:numRef>
          </c:val>
          <c:smooth val="0"/>
          <c:extLst>
            <c:ext xmlns:c16="http://schemas.microsoft.com/office/drawing/2014/chart" uri="{C3380CC4-5D6E-409C-BE32-E72D297353CC}">
              <c16:uniqueId val="{00000001-5E42-4FC4-A9A5-C6A5FE3CFE9C}"/>
            </c:ext>
          </c:extLst>
        </c:ser>
        <c:dLbls>
          <c:showLegendKey val="0"/>
          <c:showVal val="0"/>
          <c:showCatName val="0"/>
          <c:showSerName val="0"/>
          <c:showPercent val="0"/>
          <c:showBubbleSize val="0"/>
        </c:dLbls>
        <c:marker val="1"/>
        <c:smooth val="0"/>
        <c:axId val="769806544"/>
        <c:axId val="769808464"/>
      </c:lineChart>
      <c:catAx>
        <c:axId val="7698065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bg2"/>
                </a:solidFill>
                <a:latin typeface="Inter" panose="02000503000000020004" pitchFamily="2" charset="0"/>
                <a:ea typeface="Inter" panose="02000503000000020004" pitchFamily="2" charset="0"/>
                <a:cs typeface="+mn-cs"/>
              </a:defRPr>
            </a:pPr>
            <a:endParaRPr lang="en-US"/>
          </a:p>
        </c:txPr>
        <c:crossAx val="769808464"/>
        <c:crosses val="autoZero"/>
        <c:auto val="1"/>
        <c:lblAlgn val="ctr"/>
        <c:lblOffset val="100"/>
        <c:noMultiLvlLbl val="0"/>
      </c:catAx>
      <c:valAx>
        <c:axId val="76980846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bg2"/>
                </a:solidFill>
                <a:latin typeface="Inter" panose="02000503000000020004" pitchFamily="2" charset="0"/>
                <a:ea typeface="Inter" panose="02000503000000020004" pitchFamily="2" charset="0"/>
                <a:cs typeface="+mn-cs"/>
              </a:defRPr>
            </a:pPr>
            <a:endParaRPr lang="en-US"/>
          </a:p>
        </c:txPr>
        <c:crossAx val="76980654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Inter" panose="02000503000000020004" pitchFamily="2" charset="0"/>
              <a:ea typeface="Inter" panose="02000503000000020004" pitchFamily="2" charset="0"/>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GB</c:v>
                </c:pt>
              </c:strCache>
            </c:strRef>
          </c:tx>
          <c:spPr>
            <a:ln w="28575" cap="rnd">
              <a:solidFill>
                <a:srgbClr val="00B0F0"/>
              </a:solidFill>
              <a:round/>
            </a:ln>
            <a:effectLst/>
          </c:spPr>
          <c:marker>
            <c:symbol val="circle"/>
            <c:size val="5"/>
            <c:spPr>
              <a:solidFill>
                <a:schemeClr val="accent1"/>
              </a:solidFill>
              <a:ln w="9525">
                <a:solidFill>
                  <a:schemeClr val="accent1"/>
                </a:solidFill>
              </a:ln>
              <a:effectLst/>
            </c:spPr>
          </c:marker>
          <c:cat>
            <c:strRef>
              <c:f>Sheet1!$A$2:$A$29</c:f>
              <c:strCache>
                <c:ptCount val="28"/>
                <c:pt idx="0">
                  <c:v>"23</c:v>
                </c:pt>
                <c:pt idx="1">
                  <c:v>"24</c:v>
                </c:pt>
                <c:pt idx="2">
                  <c:v>"25</c:v>
                </c:pt>
                <c:pt idx="3">
                  <c:v>"26</c:v>
                </c:pt>
                <c:pt idx="4">
                  <c:v>"27</c:v>
                </c:pt>
                <c:pt idx="5">
                  <c:v>"28</c:v>
                </c:pt>
                <c:pt idx="6">
                  <c:v>"29</c:v>
                </c:pt>
                <c:pt idx="7">
                  <c:v>"30</c:v>
                </c:pt>
                <c:pt idx="8">
                  <c:v>"31</c:v>
                </c:pt>
                <c:pt idx="9">
                  <c:v>"32</c:v>
                </c:pt>
                <c:pt idx="10">
                  <c:v>"33</c:v>
                </c:pt>
                <c:pt idx="11">
                  <c:v>"34</c:v>
                </c:pt>
                <c:pt idx="12">
                  <c:v>"35</c:v>
                </c:pt>
                <c:pt idx="13">
                  <c:v>"36</c:v>
                </c:pt>
                <c:pt idx="14">
                  <c:v>"37</c:v>
                </c:pt>
                <c:pt idx="15">
                  <c:v>"38</c:v>
                </c:pt>
                <c:pt idx="16">
                  <c:v>"39</c:v>
                </c:pt>
                <c:pt idx="17">
                  <c:v>"40</c:v>
                </c:pt>
                <c:pt idx="18">
                  <c:v>"41</c:v>
                </c:pt>
                <c:pt idx="19">
                  <c:v>"42</c:v>
                </c:pt>
                <c:pt idx="20">
                  <c:v>"43</c:v>
                </c:pt>
                <c:pt idx="21">
                  <c:v>"44</c:v>
                </c:pt>
                <c:pt idx="22">
                  <c:v>"45</c:v>
                </c:pt>
                <c:pt idx="23">
                  <c:v>"46</c:v>
                </c:pt>
                <c:pt idx="24">
                  <c:v>"47</c:v>
                </c:pt>
                <c:pt idx="25">
                  <c:v>"48</c:v>
                </c:pt>
                <c:pt idx="26">
                  <c:v>"49</c:v>
                </c:pt>
                <c:pt idx="27">
                  <c:v>"50</c:v>
                </c:pt>
              </c:strCache>
            </c:strRef>
          </c:cat>
          <c:val>
            <c:numRef>
              <c:f>Sheet1!$B$2:$B$29</c:f>
              <c:numCache>
                <c:formatCode>General</c:formatCode>
                <c:ptCount val="28"/>
                <c:pt idx="0">
                  <c:v>260.06400000000002</c:v>
                </c:pt>
                <c:pt idx="1">
                  <c:v>197.20740000000001</c:v>
                </c:pt>
                <c:pt idx="2">
                  <c:v>144.86580000000001</c:v>
                </c:pt>
                <c:pt idx="3">
                  <c:v>98.198400000000007</c:v>
                </c:pt>
                <c:pt idx="4">
                  <c:v>92.987399999999994</c:v>
                </c:pt>
                <c:pt idx="5">
                  <c:v>89.513400000000004</c:v>
                </c:pt>
                <c:pt idx="6">
                  <c:v>83.723399999999998</c:v>
                </c:pt>
                <c:pt idx="7">
                  <c:v>79.902000000000001</c:v>
                </c:pt>
                <c:pt idx="8">
                  <c:v>80.365200000000002</c:v>
                </c:pt>
                <c:pt idx="9">
                  <c:v>79.786199999999994</c:v>
                </c:pt>
                <c:pt idx="10">
                  <c:v>80.596800000000002</c:v>
                </c:pt>
                <c:pt idx="11">
                  <c:v>79.786199999999994</c:v>
                </c:pt>
                <c:pt idx="12">
                  <c:v>76.775400000000005</c:v>
                </c:pt>
                <c:pt idx="13">
                  <c:v>76.196399999999997</c:v>
                </c:pt>
                <c:pt idx="14">
                  <c:v>74.922600000000003</c:v>
                </c:pt>
                <c:pt idx="15">
                  <c:v>73.069800000000001</c:v>
                </c:pt>
                <c:pt idx="16">
                  <c:v>73.185599999999994</c:v>
                </c:pt>
                <c:pt idx="17">
                  <c:v>73.185599999999994</c:v>
                </c:pt>
                <c:pt idx="18">
                  <c:v>70.290599999999998</c:v>
                </c:pt>
                <c:pt idx="19">
                  <c:v>68.553600000000003</c:v>
                </c:pt>
                <c:pt idx="20">
                  <c:v>66.584999999999994</c:v>
                </c:pt>
                <c:pt idx="21">
                  <c:v>66.584999999999994</c:v>
                </c:pt>
                <c:pt idx="22">
                  <c:v>65.7744</c:v>
                </c:pt>
                <c:pt idx="23">
                  <c:v>65.195400000000006</c:v>
                </c:pt>
                <c:pt idx="24">
                  <c:v>64.037400000000005</c:v>
                </c:pt>
                <c:pt idx="25">
                  <c:v>62.647799999999997</c:v>
                </c:pt>
                <c:pt idx="26">
                  <c:v>63.458399999999997</c:v>
                </c:pt>
                <c:pt idx="27">
                  <c:v>64.269000000000005</c:v>
                </c:pt>
              </c:numCache>
            </c:numRef>
          </c:val>
          <c:smooth val="0"/>
          <c:extLst>
            <c:ext xmlns:c16="http://schemas.microsoft.com/office/drawing/2014/chart" uri="{C3380CC4-5D6E-409C-BE32-E72D297353CC}">
              <c16:uniqueId val="{00000000-C8AB-45AA-AF4C-6EDDB47281F0}"/>
            </c:ext>
          </c:extLst>
        </c:ser>
        <c:ser>
          <c:idx val="1"/>
          <c:order val="1"/>
          <c:tx>
            <c:strRef>
              <c:f>Sheet1!$C$1</c:f>
              <c:strCache>
                <c:ptCount val="1"/>
                <c:pt idx="0">
                  <c:v>DE</c:v>
                </c:pt>
              </c:strCache>
            </c:strRef>
          </c:tx>
          <c:spPr>
            <a:ln w="28575" cap="rnd">
              <a:solidFill>
                <a:srgbClr val="FFC000"/>
              </a:solidFill>
              <a:round/>
            </a:ln>
            <a:effectLst/>
          </c:spPr>
          <c:marker>
            <c:symbol val="circle"/>
            <c:size val="5"/>
            <c:spPr>
              <a:solidFill>
                <a:schemeClr val="accent2"/>
              </a:solidFill>
              <a:ln w="9525">
                <a:solidFill>
                  <a:schemeClr val="accent2"/>
                </a:solidFill>
              </a:ln>
              <a:effectLst/>
            </c:spPr>
          </c:marker>
          <c:cat>
            <c:strRef>
              <c:f>Sheet1!$A$2:$A$29</c:f>
              <c:strCache>
                <c:ptCount val="28"/>
                <c:pt idx="0">
                  <c:v>"23</c:v>
                </c:pt>
                <c:pt idx="1">
                  <c:v>"24</c:v>
                </c:pt>
                <c:pt idx="2">
                  <c:v>"25</c:v>
                </c:pt>
                <c:pt idx="3">
                  <c:v>"26</c:v>
                </c:pt>
                <c:pt idx="4">
                  <c:v>"27</c:v>
                </c:pt>
                <c:pt idx="5">
                  <c:v>"28</c:v>
                </c:pt>
                <c:pt idx="6">
                  <c:v>"29</c:v>
                </c:pt>
                <c:pt idx="7">
                  <c:v>"30</c:v>
                </c:pt>
                <c:pt idx="8">
                  <c:v>"31</c:v>
                </c:pt>
                <c:pt idx="9">
                  <c:v>"32</c:v>
                </c:pt>
                <c:pt idx="10">
                  <c:v>"33</c:v>
                </c:pt>
                <c:pt idx="11">
                  <c:v>"34</c:v>
                </c:pt>
                <c:pt idx="12">
                  <c:v>"35</c:v>
                </c:pt>
                <c:pt idx="13">
                  <c:v>"36</c:v>
                </c:pt>
                <c:pt idx="14">
                  <c:v>"37</c:v>
                </c:pt>
                <c:pt idx="15">
                  <c:v>"38</c:v>
                </c:pt>
                <c:pt idx="16">
                  <c:v>"39</c:v>
                </c:pt>
                <c:pt idx="17">
                  <c:v>"40</c:v>
                </c:pt>
                <c:pt idx="18">
                  <c:v>"41</c:v>
                </c:pt>
                <c:pt idx="19">
                  <c:v>"42</c:v>
                </c:pt>
                <c:pt idx="20">
                  <c:v>"43</c:v>
                </c:pt>
                <c:pt idx="21">
                  <c:v>"44</c:v>
                </c:pt>
                <c:pt idx="22">
                  <c:v>"45</c:v>
                </c:pt>
                <c:pt idx="23">
                  <c:v>"46</c:v>
                </c:pt>
                <c:pt idx="24">
                  <c:v>"47</c:v>
                </c:pt>
                <c:pt idx="25">
                  <c:v>"48</c:v>
                </c:pt>
                <c:pt idx="26">
                  <c:v>"49</c:v>
                </c:pt>
                <c:pt idx="27">
                  <c:v>"50</c:v>
                </c:pt>
              </c:strCache>
            </c:strRef>
          </c:cat>
          <c:val>
            <c:numRef>
              <c:f>Sheet1!$C$2:$C$29</c:f>
              <c:numCache>
                <c:formatCode>General</c:formatCode>
                <c:ptCount val="28"/>
                <c:pt idx="0">
                  <c:v>116.2807819777</c:v>
                </c:pt>
                <c:pt idx="1">
                  <c:v>118.6233333318</c:v>
                </c:pt>
                <c:pt idx="2">
                  <c:v>107.83776880249999</c:v>
                </c:pt>
                <c:pt idx="3">
                  <c:v>92.556342519799998</c:v>
                </c:pt>
                <c:pt idx="4">
                  <c:v>86.984112968800005</c:v>
                </c:pt>
                <c:pt idx="5">
                  <c:v>85.814370949199997</c:v>
                </c:pt>
                <c:pt idx="6">
                  <c:v>83.890293034500004</c:v>
                </c:pt>
                <c:pt idx="7">
                  <c:v>80.808519421400007</c:v>
                </c:pt>
                <c:pt idx="8">
                  <c:v>78.111165101300003</c:v>
                </c:pt>
                <c:pt idx="9">
                  <c:v>75.655969640400002</c:v>
                </c:pt>
                <c:pt idx="10">
                  <c:v>76.922087172199994</c:v>
                </c:pt>
                <c:pt idx="11">
                  <c:v>75.276457419600007</c:v>
                </c:pt>
                <c:pt idx="12">
                  <c:v>75.761484847000006</c:v>
                </c:pt>
                <c:pt idx="13">
                  <c:v>76.004862700000004</c:v>
                </c:pt>
                <c:pt idx="14">
                  <c:v>76.646097733299996</c:v>
                </c:pt>
                <c:pt idx="15">
                  <c:v>76.520283964200004</c:v>
                </c:pt>
                <c:pt idx="16">
                  <c:v>76.674984760499996</c:v>
                </c:pt>
                <c:pt idx="17">
                  <c:v>74.744960652299994</c:v>
                </c:pt>
                <c:pt idx="18">
                  <c:v>75.438278208</c:v>
                </c:pt>
                <c:pt idx="19">
                  <c:v>74.748430839799994</c:v>
                </c:pt>
                <c:pt idx="20">
                  <c:v>71.3780882314</c:v>
                </c:pt>
                <c:pt idx="21">
                  <c:v>70.234484872300001</c:v>
                </c:pt>
                <c:pt idx="22">
                  <c:v>69.615233488000001</c:v>
                </c:pt>
                <c:pt idx="23">
                  <c:v>68.102498061600002</c:v>
                </c:pt>
                <c:pt idx="24">
                  <c:v>67.864546393200001</c:v>
                </c:pt>
                <c:pt idx="25">
                  <c:v>66.392543313700003</c:v>
                </c:pt>
                <c:pt idx="26">
                  <c:v>65.924818628200001</c:v>
                </c:pt>
                <c:pt idx="27">
                  <c:v>64.161298252099996</c:v>
                </c:pt>
              </c:numCache>
            </c:numRef>
          </c:val>
          <c:smooth val="0"/>
          <c:extLst>
            <c:ext xmlns:c16="http://schemas.microsoft.com/office/drawing/2014/chart" uri="{C3380CC4-5D6E-409C-BE32-E72D297353CC}">
              <c16:uniqueId val="{00000001-C8AB-45AA-AF4C-6EDDB47281F0}"/>
            </c:ext>
          </c:extLst>
        </c:ser>
        <c:dLbls>
          <c:showLegendKey val="0"/>
          <c:showVal val="0"/>
          <c:showCatName val="0"/>
          <c:showSerName val="0"/>
          <c:showPercent val="0"/>
          <c:showBubbleSize val="0"/>
        </c:dLbls>
        <c:marker val="1"/>
        <c:smooth val="0"/>
        <c:axId val="769806544"/>
        <c:axId val="769808464"/>
      </c:lineChart>
      <c:catAx>
        <c:axId val="7698065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bg2"/>
                </a:solidFill>
                <a:latin typeface="Inter" panose="02000503000000020004" pitchFamily="2" charset="0"/>
                <a:ea typeface="Inter" panose="02000503000000020004" pitchFamily="2" charset="0"/>
                <a:cs typeface="+mn-cs"/>
              </a:defRPr>
            </a:pPr>
            <a:endParaRPr lang="en-US"/>
          </a:p>
        </c:txPr>
        <c:crossAx val="769808464"/>
        <c:crosses val="autoZero"/>
        <c:auto val="1"/>
        <c:lblAlgn val="ctr"/>
        <c:lblOffset val="100"/>
        <c:noMultiLvlLbl val="0"/>
      </c:catAx>
      <c:valAx>
        <c:axId val="76980846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bg2"/>
                </a:solidFill>
                <a:latin typeface="Inter" panose="02000503000000020004" pitchFamily="2" charset="0"/>
                <a:ea typeface="Inter" panose="02000503000000020004" pitchFamily="2" charset="0"/>
                <a:cs typeface="+mn-cs"/>
              </a:defRPr>
            </a:pPr>
            <a:endParaRPr lang="en-US"/>
          </a:p>
        </c:txPr>
        <c:crossAx val="76980654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bg2"/>
              </a:solidFill>
              <a:latin typeface="Inter" panose="02000503000000020004" pitchFamily="2" charset="0"/>
              <a:ea typeface="Inter" panose="02000503000000020004" pitchFamily="2" charset="0"/>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[Book2]GB 2022 Chart!PivotTable1</c:name>
    <c:fmtId val="11"/>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percentStacked"/>
        <c:varyColors val="0"/>
        <c:ser>
          <c:idx val="0"/>
          <c:order val="0"/>
          <c:tx>
            <c:strRef>
              <c:f>'GB 2022 Chart'!$B$3:$B$4</c:f>
              <c:strCache>
                <c:ptCount val="1"/>
                <c:pt idx="0">
                  <c:v>Fossil &amp; Other Thermal</c:v>
                </c:pt>
              </c:strCache>
            </c:strRef>
          </c:tx>
          <c:spPr>
            <a:solidFill>
              <a:srgbClr val="6B7280"/>
            </a:solidFill>
            <a:ln>
              <a:noFill/>
            </a:ln>
            <a:effectLst/>
          </c:spPr>
          <c:invertIfNegative val="0"/>
          <c:cat>
            <c:strRef>
              <c:f>'GB 2022 Chart'!$A$5:$A$34</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'GB 2022 Chart'!$B$5:$B$34</c:f>
              <c:numCache>
                <c:formatCode>General</c:formatCode>
                <c:ptCount val="29"/>
                <c:pt idx="0">
                  <c:v>12.37</c:v>
                </c:pt>
                <c:pt idx="1">
                  <c:v>14.21</c:v>
                </c:pt>
                <c:pt idx="2">
                  <c:v>11.67</c:v>
                </c:pt>
                <c:pt idx="3">
                  <c:v>9.58</c:v>
                </c:pt>
                <c:pt idx="4">
                  <c:v>9.58</c:v>
                </c:pt>
                <c:pt idx="5">
                  <c:v>9.58</c:v>
                </c:pt>
                <c:pt idx="6">
                  <c:v>9.6</c:v>
                </c:pt>
                <c:pt idx="7">
                  <c:v>9.58</c:v>
                </c:pt>
                <c:pt idx="8">
                  <c:v>9.58</c:v>
                </c:pt>
                <c:pt idx="9">
                  <c:v>9.58</c:v>
                </c:pt>
                <c:pt idx="10">
                  <c:v>9.6</c:v>
                </c:pt>
                <c:pt idx="11">
                  <c:v>9.58</c:v>
                </c:pt>
                <c:pt idx="12">
                  <c:v>9.58</c:v>
                </c:pt>
                <c:pt idx="13">
                  <c:v>9.58</c:v>
                </c:pt>
                <c:pt idx="14">
                  <c:v>9.6</c:v>
                </c:pt>
                <c:pt idx="15">
                  <c:v>9.58</c:v>
                </c:pt>
                <c:pt idx="16">
                  <c:v>12.19</c:v>
                </c:pt>
                <c:pt idx="17">
                  <c:v>12.2</c:v>
                </c:pt>
                <c:pt idx="18">
                  <c:v>12.19</c:v>
                </c:pt>
                <c:pt idx="19">
                  <c:v>12.14</c:v>
                </c:pt>
                <c:pt idx="20">
                  <c:v>14.620000000000001</c:v>
                </c:pt>
                <c:pt idx="21">
                  <c:v>14.530000000000001</c:v>
                </c:pt>
                <c:pt idx="22">
                  <c:v>14.48</c:v>
                </c:pt>
                <c:pt idx="23">
                  <c:v>14.42</c:v>
                </c:pt>
                <c:pt idx="24">
                  <c:v>14.35</c:v>
                </c:pt>
                <c:pt idx="25">
                  <c:v>14.32</c:v>
                </c:pt>
                <c:pt idx="26">
                  <c:v>14.219999999999999</c:v>
                </c:pt>
                <c:pt idx="27">
                  <c:v>14.23</c:v>
                </c:pt>
                <c:pt idx="28">
                  <c:v>14.14</c:v>
                </c:pt>
              </c:numCache>
            </c:numRef>
          </c:val>
          <c:extLst>
            <c:ext xmlns:c16="http://schemas.microsoft.com/office/drawing/2014/chart" uri="{C3380CC4-5D6E-409C-BE32-E72D297353CC}">
              <c16:uniqueId val="{00000000-12C3-4E7A-9472-CEDBED5F6B07}"/>
            </c:ext>
          </c:extLst>
        </c:ser>
        <c:ser>
          <c:idx val="1"/>
          <c:order val="1"/>
          <c:tx>
            <c:strRef>
              <c:f>'GB 2022 Chart'!$C$3:$C$4</c:f>
              <c:strCache>
                <c:ptCount val="1"/>
                <c:pt idx="0">
                  <c:v>Gas &amp; Hydrogen</c:v>
                </c:pt>
              </c:strCache>
            </c:strRef>
          </c:tx>
          <c:spPr>
            <a:solidFill>
              <a:srgbClr val="EF4444"/>
            </a:solidFill>
            <a:ln>
              <a:noFill/>
            </a:ln>
            <a:effectLst/>
          </c:spPr>
          <c:invertIfNegative val="0"/>
          <c:cat>
            <c:strRef>
              <c:f>'GB 2022 Chart'!$A$5:$A$34</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'GB 2022 Chart'!$C$5:$C$34</c:f>
              <c:numCache>
                <c:formatCode>General</c:formatCode>
                <c:ptCount val="29"/>
                <c:pt idx="0">
                  <c:v>93.27000000000001</c:v>
                </c:pt>
                <c:pt idx="1">
                  <c:v>100.54</c:v>
                </c:pt>
                <c:pt idx="2">
                  <c:v>94.5</c:v>
                </c:pt>
                <c:pt idx="3">
                  <c:v>92.75</c:v>
                </c:pt>
                <c:pt idx="4">
                  <c:v>73.179999999999993</c:v>
                </c:pt>
                <c:pt idx="5">
                  <c:v>72.11</c:v>
                </c:pt>
                <c:pt idx="6">
                  <c:v>60.5</c:v>
                </c:pt>
                <c:pt idx="7">
                  <c:v>48.970000000000006</c:v>
                </c:pt>
                <c:pt idx="8">
                  <c:v>43.99</c:v>
                </c:pt>
                <c:pt idx="9">
                  <c:v>40.93</c:v>
                </c:pt>
                <c:pt idx="10">
                  <c:v>38.619999999999997</c:v>
                </c:pt>
                <c:pt idx="11">
                  <c:v>40.53</c:v>
                </c:pt>
                <c:pt idx="12">
                  <c:v>38.14</c:v>
                </c:pt>
                <c:pt idx="13">
                  <c:v>34.32</c:v>
                </c:pt>
                <c:pt idx="14">
                  <c:v>36.78</c:v>
                </c:pt>
                <c:pt idx="15">
                  <c:v>36.980000000000004</c:v>
                </c:pt>
                <c:pt idx="16">
                  <c:v>34.909999999999997</c:v>
                </c:pt>
                <c:pt idx="17">
                  <c:v>33.78</c:v>
                </c:pt>
                <c:pt idx="18">
                  <c:v>30.17</c:v>
                </c:pt>
                <c:pt idx="19">
                  <c:v>27.119999999999997</c:v>
                </c:pt>
                <c:pt idx="20">
                  <c:v>18.59</c:v>
                </c:pt>
                <c:pt idx="21">
                  <c:v>18.8</c:v>
                </c:pt>
                <c:pt idx="22">
                  <c:v>19.39</c:v>
                </c:pt>
                <c:pt idx="23">
                  <c:v>20.45</c:v>
                </c:pt>
                <c:pt idx="24">
                  <c:v>19.740000000000002</c:v>
                </c:pt>
                <c:pt idx="25">
                  <c:v>20.080000000000002</c:v>
                </c:pt>
                <c:pt idx="26">
                  <c:v>20.04</c:v>
                </c:pt>
                <c:pt idx="27">
                  <c:v>21.689999999999998</c:v>
                </c:pt>
                <c:pt idx="28">
                  <c:v>22.700000000000003</c:v>
                </c:pt>
              </c:numCache>
            </c:numRef>
          </c:val>
          <c:extLst>
            <c:ext xmlns:c16="http://schemas.microsoft.com/office/drawing/2014/chart" uri="{C3380CC4-5D6E-409C-BE32-E72D297353CC}">
              <c16:uniqueId val="{00000001-12C3-4E7A-9472-CEDBED5F6B07}"/>
            </c:ext>
          </c:extLst>
        </c:ser>
        <c:ser>
          <c:idx val="2"/>
          <c:order val="2"/>
          <c:tx>
            <c:strRef>
              <c:f>'GB 2022 Chart'!$D$3:$D$4</c:f>
              <c:strCache>
                <c:ptCount val="1"/>
                <c:pt idx="0">
                  <c:v>Interconnectors</c:v>
                </c:pt>
              </c:strCache>
            </c:strRef>
          </c:tx>
          <c:spPr>
            <a:solidFill>
              <a:srgbClr val="94A3B8"/>
            </a:solidFill>
            <a:ln>
              <a:noFill/>
            </a:ln>
            <a:effectLst/>
          </c:spPr>
          <c:invertIfNegative val="0"/>
          <c:cat>
            <c:strRef>
              <c:f>'GB 2022 Chart'!$A$5:$A$34</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'GB 2022 Chart'!$D$5:$D$34</c:f>
              <c:numCache>
                <c:formatCode>General</c:formatCode>
                <c:ptCount val="29"/>
                <c:pt idx="0">
                  <c:v>21.42</c:v>
                </c:pt>
                <c:pt idx="1">
                  <c:v>10.46</c:v>
                </c:pt>
                <c:pt idx="2">
                  <c:v>14.26</c:v>
                </c:pt>
                <c:pt idx="3">
                  <c:v>14.95</c:v>
                </c:pt>
                <c:pt idx="4">
                  <c:v>17.63</c:v>
                </c:pt>
                <c:pt idx="5">
                  <c:v>21.34</c:v>
                </c:pt>
                <c:pt idx="6">
                  <c:v>23.37</c:v>
                </c:pt>
                <c:pt idx="7">
                  <c:v>14.89</c:v>
                </c:pt>
                <c:pt idx="8">
                  <c:v>10.96</c:v>
                </c:pt>
                <c:pt idx="9">
                  <c:v>10.39</c:v>
                </c:pt>
                <c:pt idx="10">
                  <c:v>13.95</c:v>
                </c:pt>
                <c:pt idx="11">
                  <c:v>17.16</c:v>
                </c:pt>
                <c:pt idx="12">
                  <c:v>15.86</c:v>
                </c:pt>
                <c:pt idx="13">
                  <c:v>12.52</c:v>
                </c:pt>
                <c:pt idx="14">
                  <c:v>10.9</c:v>
                </c:pt>
                <c:pt idx="15">
                  <c:v>10.91</c:v>
                </c:pt>
                <c:pt idx="16">
                  <c:v>5.3</c:v>
                </c:pt>
                <c:pt idx="17">
                  <c:v>4.47</c:v>
                </c:pt>
                <c:pt idx="18">
                  <c:v>4.7699999999999996</c:v>
                </c:pt>
                <c:pt idx="19">
                  <c:v>2.02</c:v>
                </c:pt>
                <c:pt idx="20">
                  <c:v>5.47</c:v>
                </c:pt>
                <c:pt idx="21">
                  <c:v>5.81</c:v>
                </c:pt>
                <c:pt idx="22">
                  <c:v>6.43</c:v>
                </c:pt>
                <c:pt idx="23">
                  <c:v>8.11</c:v>
                </c:pt>
                <c:pt idx="24">
                  <c:v>3.79</c:v>
                </c:pt>
                <c:pt idx="25">
                  <c:v>2.96</c:v>
                </c:pt>
                <c:pt idx="26">
                  <c:v>1.1000000000000001</c:v>
                </c:pt>
                <c:pt idx="27">
                  <c:v>2.2799999999999998</c:v>
                </c:pt>
                <c:pt idx="28">
                  <c:v>4.6900000000000004</c:v>
                </c:pt>
              </c:numCache>
            </c:numRef>
          </c:val>
          <c:extLst>
            <c:ext xmlns:c16="http://schemas.microsoft.com/office/drawing/2014/chart" uri="{C3380CC4-5D6E-409C-BE32-E72D297353CC}">
              <c16:uniqueId val="{00000002-12C3-4E7A-9472-CEDBED5F6B07}"/>
            </c:ext>
          </c:extLst>
        </c:ser>
        <c:ser>
          <c:idx val="3"/>
          <c:order val="3"/>
          <c:tx>
            <c:strRef>
              <c:f>'GB 2022 Chart'!$E$3:$E$4</c:f>
              <c:strCache>
                <c:ptCount val="1"/>
                <c:pt idx="0">
                  <c:v>Nuclear</c:v>
                </c:pt>
              </c:strCache>
            </c:strRef>
          </c:tx>
          <c:spPr>
            <a:solidFill>
              <a:srgbClr val="8B5CF6"/>
            </a:solidFill>
            <a:ln>
              <a:noFill/>
            </a:ln>
            <a:effectLst/>
          </c:spPr>
          <c:invertIfNegative val="0"/>
          <c:cat>
            <c:strRef>
              <c:f>'GB 2022 Chart'!$A$5:$A$34</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'GB 2022 Chart'!$E$5:$E$34</c:f>
              <c:numCache>
                <c:formatCode>General</c:formatCode>
                <c:ptCount val="29"/>
                <c:pt idx="0">
                  <c:v>44.79</c:v>
                </c:pt>
                <c:pt idx="1">
                  <c:v>37.82</c:v>
                </c:pt>
                <c:pt idx="2">
                  <c:v>30.36</c:v>
                </c:pt>
                <c:pt idx="3">
                  <c:v>22.94</c:v>
                </c:pt>
                <c:pt idx="4">
                  <c:v>22.62</c:v>
                </c:pt>
                <c:pt idx="5">
                  <c:v>15.33</c:v>
                </c:pt>
                <c:pt idx="6">
                  <c:v>14.4</c:v>
                </c:pt>
                <c:pt idx="7">
                  <c:v>27.19</c:v>
                </c:pt>
                <c:pt idx="8">
                  <c:v>33.520000000000003</c:v>
                </c:pt>
                <c:pt idx="9">
                  <c:v>33.409999999999997</c:v>
                </c:pt>
                <c:pt idx="10">
                  <c:v>33.6</c:v>
                </c:pt>
                <c:pt idx="11">
                  <c:v>33.65</c:v>
                </c:pt>
                <c:pt idx="12">
                  <c:v>40.28</c:v>
                </c:pt>
                <c:pt idx="13">
                  <c:v>53.26</c:v>
                </c:pt>
                <c:pt idx="14">
                  <c:v>59.94</c:v>
                </c:pt>
                <c:pt idx="15">
                  <c:v>64.38</c:v>
                </c:pt>
                <c:pt idx="16">
                  <c:v>73.430000000000007</c:v>
                </c:pt>
                <c:pt idx="17">
                  <c:v>78.08</c:v>
                </c:pt>
                <c:pt idx="18">
                  <c:v>83.73</c:v>
                </c:pt>
                <c:pt idx="19">
                  <c:v>94.38</c:v>
                </c:pt>
                <c:pt idx="20">
                  <c:v>99.86</c:v>
                </c:pt>
                <c:pt idx="21">
                  <c:v>99.83</c:v>
                </c:pt>
                <c:pt idx="22">
                  <c:v>100.13</c:v>
                </c:pt>
                <c:pt idx="23">
                  <c:v>105.54</c:v>
                </c:pt>
                <c:pt idx="24">
                  <c:v>116.27</c:v>
                </c:pt>
                <c:pt idx="25">
                  <c:v>121.66</c:v>
                </c:pt>
                <c:pt idx="26">
                  <c:v>121.83</c:v>
                </c:pt>
                <c:pt idx="27">
                  <c:v>121.49</c:v>
                </c:pt>
                <c:pt idx="28">
                  <c:v>121.35</c:v>
                </c:pt>
              </c:numCache>
            </c:numRef>
          </c:val>
          <c:extLst>
            <c:ext xmlns:c16="http://schemas.microsoft.com/office/drawing/2014/chart" uri="{C3380CC4-5D6E-409C-BE32-E72D297353CC}">
              <c16:uniqueId val="{00000003-12C3-4E7A-9472-CEDBED5F6B07}"/>
            </c:ext>
          </c:extLst>
        </c:ser>
        <c:ser>
          <c:idx val="4"/>
          <c:order val="4"/>
          <c:tx>
            <c:strRef>
              <c:f>'GB 2022 Chart'!$F$3:$F$4</c:f>
              <c:strCache>
                <c:ptCount val="1"/>
                <c:pt idx="0">
                  <c:v>Offshore Wind</c:v>
                </c:pt>
              </c:strCache>
            </c:strRef>
          </c:tx>
          <c:spPr>
            <a:solidFill>
              <a:srgbClr val="3B82F6"/>
            </a:solidFill>
            <a:ln>
              <a:noFill/>
            </a:ln>
            <a:effectLst/>
          </c:spPr>
          <c:invertIfNegative val="0"/>
          <c:cat>
            <c:strRef>
              <c:f>'GB 2022 Chart'!$A$5:$A$34</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'GB 2022 Chart'!$F$5:$F$34</c:f>
              <c:numCache>
                <c:formatCode>General</c:formatCode>
                <c:ptCount val="29"/>
                <c:pt idx="0">
                  <c:v>44.78</c:v>
                </c:pt>
                <c:pt idx="1">
                  <c:v>49.6</c:v>
                </c:pt>
                <c:pt idx="2">
                  <c:v>59.16</c:v>
                </c:pt>
                <c:pt idx="3">
                  <c:v>70.92</c:v>
                </c:pt>
                <c:pt idx="4">
                  <c:v>86.18</c:v>
                </c:pt>
                <c:pt idx="5">
                  <c:v>98.91</c:v>
                </c:pt>
                <c:pt idx="6">
                  <c:v>114.26</c:v>
                </c:pt>
                <c:pt idx="7">
                  <c:v>130.41</c:v>
                </c:pt>
                <c:pt idx="8">
                  <c:v>141.33000000000001</c:v>
                </c:pt>
                <c:pt idx="9">
                  <c:v>149.97999999999999</c:v>
                </c:pt>
                <c:pt idx="10">
                  <c:v>154.24</c:v>
                </c:pt>
                <c:pt idx="11">
                  <c:v>154.82</c:v>
                </c:pt>
                <c:pt idx="12">
                  <c:v>157.37</c:v>
                </c:pt>
                <c:pt idx="13">
                  <c:v>158.29</c:v>
                </c:pt>
                <c:pt idx="14">
                  <c:v>161.06</c:v>
                </c:pt>
                <c:pt idx="15">
                  <c:v>161.94999999999999</c:v>
                </c:pt>
                <c:pt idx="16">
                  <c:v>163.68</c:v>
                </c:pt>
                <c:pt idx="17">
                  <c:v>166.44</c:v>
                </c:pt>
                <c:pt idx="18">
                  <c:v>168.91</c:v>
                </c:pt>
                <c:pt idx="19">
                  <c:v>171.15</c:v>
                </c:pt>
                <c:pt idx="20">
                  <c:v>172.78</c:v>
                </c:pt>
                <c:pt idx="21">
                  <c:v>177.16</c:v>
                </c:pt>
                <c:pt idx="22">
                  <c:v>180.15</c:v>
                </c:pt>
                <c:pt idx="23">
                  <c:v>179.38</c:v>
                </c:pt>
                <c:pt idx="24">
                  <c:v>178.47</c:v>
                </c:pt>
                <c:pt idx="25">
                  <c:v>180.72</c:v>
                </c:pt>
                <c:pt idx="26">
                  <c:v>188.36</c:v>
                </c:pt>
                <c:pt idx="27">
                  <c:v>191.18</c:v>
                </c:pt>
                <c:pt idx="28">
                  <c:v>193.81</c:v>
                </c:pt>
              </c:numCache>
            </c:numRef>
          </c:val>
          <c:extLst>
            <c:ext xmlns:c16="http://schemas.microsoft.com/office/drawing/2014/chart" uri="{C3380CC4-5D6E-409C-BE32-E72D297353CC}">
              <c16:uniqueId val="{00000004-12C3-4E7A-9472-CEDBED5F6B07}"/>
            </c:ext>
          </c:extLst>
        </c:ser>
        <c:ser>
          <c:idx val="5"/>
          <c:order val="5"/>
          <c:tx>
            <c:strRef>
              <c:f>'GB 2022 Chart'!$G$3:$G$4</c:f>
              <c:strCache>
                <c:ptCount val="1"/>
                <c:pt idx="0">
                  <c:v>Onshore Wind</c:v>
                </c:pt>
              </c:strCache>
            </c:strRef>
          </c:tx>
          <c:spPr>
            <a:solidFill>
              <a:srgbClr val="10B981"/>
            </a:solidFill>
            <a:ln>
              <a:noFill/>
            </a:ln>
            <a:effectLst/>
          </c:spPr>
          <c:invertIfNegative val="0"/>
          <c:cat>
            <c:strRef>
              <c:f>'GB 2022 Chart'!$A$5:$A$34</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'GB 2022 Chart'!$G$5:$G$34</c:f>
              <c:numCache>
                <c:formatCode>General</c:formatCode>
                <c:ptCount val="29"/>
                <c:pt idx="0">
                  <c:v>31.88</c:v>
                </c:pt>
                <c:pt idx="1">
                  <c:v>34.369999999999997</c:v>
                </c:pt>
                <c:pt idx="2">
                  <c:v>37.75</c:v>
                </c:pt>
                <c:pt idx="3">
                  <c:v>42.6</c:v>
                </c:pt>
                <c:pt idx="4">
                  <c:v>48.51</c:v>
                </c:pt>
                <c:pt idx="5">
                  <c:v>52.7</c:v>
                </c:pt>
                <c:pt idx="6">
                  <c:v>57.72</c:v>
                </c:pt>
                <c:pt idx="7">
                  <c:v>58.24</c:v>
                </c:pt>
                <c:pt idx="8">
                  <c:v>58.03</c:v>
                </c:pt>
                <c:pt idx="9">
                  <c:v>57.97</c:v>
                </c:pt>
                <c:pt idx="10">
                  <c:v>59.27</c:v>
                </c:pt>
                <c:pt idx="11">
                  <c:v>59.36</c:v>
                </c:pt>
                <c:pt idx="12">
                  <c:v>58.81</c:v>
                </c:pt>
                <c:pt idx="13">
                  <c:v>58.96</c:v>
                </c:pt>
                <c:pt idx="14">
                  <c:v>59.45</c:v>
                </c:pt>
                <c:pt idx="15">
                  <c:v>59.7</c:v>
                </c:pt>
                <c:pt idx="16">
                  <c:v>60.59</c:v>
                </c:pt>
                <c:pt idx="17">
                  <c:v>60.75</c:v>
                </c:pt>
                <c:pt idx="18">
                  <c:v>61.3</c:v>
                </c:pt>
                <c:pt idx="19">
                  <c:v>60.27</c:v>
                </c:pt>
                <c:pt idx="20">
                  <c:v>60.12</c:v>
                </c:pt>
                <c:pt idx="21">
                  <c:v>61.71</c:v>
                </c:pt>
                <c:pt idx="22">
                  <c:v>64.61</c:v>
                </c:pt>
                <c:pt idx="23">
                  <c:v>64.56</c:v>
                </c:pt>
                <c:pt idx="24">
                  <c:v>64.03</c:v>
                </c:pt>
                <c:pt idx="25">
                  <c:v>63.24</c:v>
                </c:pt>
                <c:pt idx="26">
                  <c:v>63.52</c:v>
                </c:pt>
                <c:pt idx="27">
                  <c:v>62.92</c:v>
                </c:pt>
                <c:pt idx="28">
                  <c:v>62.99</c:v>
                </c:pt>
              </c:numCache>
            </c:numRef>
          </c:val>
          <c:extLst>
            <c:ext xmlns:c16="http://schemas.microsoft.com/office/drawing/2014/chart" uri="{C3380CC4-5D6E-409C-BE32-E72D297353CC}">
              <c16:uniqueId val="{00000005-12C3-4E7A-9472-CEDBED5F6B07}"/>
            </c:ext>
          </c:extLst>
        </c:ser>
        <c:ser>
          <c:idx val="6"/>
          <c:order val="6"/>
          <c:tx>
            <c:strRef>
              <c:f>'GB 2022 Chart'!$H$3:$H$4</c:f>
              <c:strCache>
                <c:ptCount val="1"/>
                <c:pt idx="0">
                  <c:v>Other</c:v>
                </c:pt>
              </c:strCache>
            </c:strRef>
          </c:tx>
          <c:spPr>
            <a:solidFill>
              <a:srgbClr val="D1D5DB"/>
            </a:solidFill>
            <a:ln>
              <a:noFill/>
            </a:ln>
            <a:effectLst/>
          </c:spPr>
          <c:invertIfNegative val="0"/>
          <c:cat>
            <c:strRef>
              <c:f>'GB 2022 Chart'!$A$5:$A$34</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'GB 2022 Chart'!$H$5:$H$34</c:f>
              <c:numCache>
                <c:formatCode>General</c:formatCode>
                <c:ptCount val="29"/>
                <c:pt idx="0">
                  <c:v>53</c:v>
                </c:pt>
                <c:pt idx="1">
                  <c:v>55.93</c:v>
                </c:pt>
                <c:pt idx="2">
                  <c:v>56.07</c:v>
                </c:pt>
                <c:pt idx="3">
                  <c:v>53</c:v>
                </c:pt>
                <c:pt idx="4">
                  <c:v>50.85</c:v>
                </c:pt>
                <c:pt idx="5">
                  <c:v>42.73</c:v>
                </c:pt>
                <c:pt idx="6">
                  <c:v>36.659999999999997</c:v>
                </c:pt>
                <c:pt idx="7">
                  <c:v>33.86</c:v>
                </c:pt>
                <c:pt idx="8">
                  <c:v>32.18</c:v>
                </c:pt>
                <c:pt idx="9">
                  <c:v>31.75</c:v>
                </c:pt>
                <c:pt idx="10">
                  <c:v>31.76</c:v>
                </c:pt>
                <c:pt idx="11">
                  <c:v>32.15</c:v>
                </c:pt>
                <c:pt idx="12">
                  <c:v>32.01</c:v>
                </c:pt>
                <c:pt idx="13">
                  <c:v>31.07</c:v>
                </c:pt>
                <c:pt idx="14">
                  <c:v>25.63</c:v>
                </c:pt>
                <c:pt idx="15">
                  <c:v>26.16</c:v>
                </c:pt>
                <c:pt idx="16">
                  <c:v>25.92</c:v>
                </c:pt>
                <c:pt idx="17">
                  <c:v>25.91</c:v>
                </c:pt>
                <c:pt idx="18">
                  <c:v>25.84</c:v>
                </c:pt>
                <c:pt idx="19">
                  <c:v>25.66</c:v>
                </c:pt>
                <c:pt idx="20">
                  <c:v>26.39</c:v>
                </c:pt>
                <c:pt idx="21">
                  <c:v>26.46</c:v>
                </c:pt>
                <c:pt idx="22">
                  <c:v>26.4</c:v>
                </c:pt>
                <c:pt idx="23">
                  <c:v>26.45</c:v>
                </c:pt>
                <c:pt idx="24">
                  <c:v>26.35</c:v>
                </c:pt>
                <c:pt idx="25">
                  <c:v>26.51</c:v>
                </c:pt>
                <c:pt idx="26">
                  <c:v>26.38</c:v>
                </c:pt>
                <c:pt idx="27">
                  <c:v>26.54</c:v>
                </c:pt>
                <c:pt idx="28">
                  <c:v>26.45</c:v>
                </c:pt>
              </c:numCache>
            </c:numRef>
          </c:val>
          <c:extLst>
            <c:ext xmlns:c16="http://schemas.microsoft.com/office/drawing/2014/chart" uri="{C3380CC4-5D6E-409C-BE32-E72D297353CC}">
              <c16:uniqueId val="{00000006-12C3-4E7A-9472-CEDBED5F6B07}"/>
            </c:ext>
          </c:extLst>
        </c:ser>
        <c:ser>
          <c:idx val="7"/>
          <c:order val="7"/>
          <c:tx>
            <c:strRef>
              <c:f>'GB 2022 Chart'!$I$3:$I$4</c:f>
              <c:strCache>
                <c:ptCount val="1"/>
                <c:pt idx="0">
                  <c:v>Solar Pv</c:v>
                </c:pt>
              </c:strCache>
            </c:strRef>
          </c:tx>
          <c:spPr>
            <a:solidFill>
              <a:srgbClr val="F59E0B"/>
            </a:solidFill>
            <a:ln>
              <a:noFill/>
            </a:ln>
            <a:effectLst/>
          </c:spPr>
          <c:invertIfNegative val="0"/>
          <c:cat>
            <c:strRef>
              <c:f>'GB 2022 Chart'!$A$5:$A$34</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'GB 2022 Chart'!$I$5:$I$34</c:f>
              <c:numCache>
                <c:formatCode>General</c:formatCode>
                <c:ptCount val="29"/>
                <c:pt idx="0">
                  <c:v>12.46</c:v>
                </c:pt>
                <c:pt idx="1">
                  <c:v>12.76</c:v>
                </c:pt>
                <c:pt idx="2">
                  <c:v>13.61</c:v>
                </c:pt>
                <c:pt idx="3">
                  <c:v>14.85</c:v>
                </c:pt>
                <c:pt idx="4">
                  <c:v>17.21</c:v>
                </c:pt>
                <c:pt idx="5">
                  <c:v>19.25</c:v>
                </c:pt>
                <c:pt idx="6">
                  <c:v>21.32</c:v>
                </c:pt>
                <c:pt idx="7">
                  <c:v>22.31</c:v>
                </c:pt>
                <c:pt idx="8">
                  <c:v>46.72</c:v>
                </c:pt>
                <c:pt idx="9">
                  <c:v>48.62</c:v>
                </c:pt>
                <c:pt idx="10">
                  <c:v>25.57</c:v>
                </c:pt>
                <c:pt idx="11">
                  <c:v>26.8</c:v>
                </c:pt>
                <c:pt idx="12">
                  <c:v>28.06</c:v>
                </c:pt>
                <c:pt idx="13">
                  <c:v>29.29</c:v>
                </c:pt>
                <c:pt idx="14">
                  <c:v>30.95</c:v>
                </c:pt>
                <c:pt idx="15">
                  <c:v>32.07</c:v>
                </c:pt>
                <c:pt idx="16">
                  <c:v>33.49</c:v>
                </c:pt>
                <c:pt idx="17">
                  <c:v>35.56</c:v>
                </c:pt>
                <c:pt idx="18">
                  <c:v>37.74</c:v>
                </c:pt>
                <c:pt idx="19">
                  <c:v>39.770000000000003</c:v>
                </c:pt>
                <c:pt idx="20">
                  <c:v>41.82</c:v>
                </c:pt>
                <c:pt idx="21">
                  <c:v>44.51</c:v>
                </c:pt>
                <c:pt idx="22">
                  <c:v>46.8</c:v>
                </c:pt>
                <c:pt idx="23">
                  <c:v>48.68</c:v>
                </c:pt>
                <c:pt idx="24">
                  <c:v>51.9</c:v>
                </c:pt>
                <c:pt idx="25">
                  <c:v>53.22</c:v>
                </c:pt>
                <c:pt idx="26">
                  <c:v>55.31</c:v>
                </c:pt>
                <c:pt idx="27">
                  <c:v>56.74</c:v>
                </c:pt>
                <c:pt idx="28">
                  <c:v>58.26</c:v>
                </c:pt>
              </c:numCache>
            </c:numRef>
          </c:val>
          <c:extLst>
            <c:ext xmlns:c16="http://schemas.microsoft.com/office/drawing/2014/chart" uri="{C3380CC4-5D6E-409C-BE32-E72D297353CC}">
              <c16:uniqueId val="{00000007-12C3-4E7A-9472-CEDBED5F6B07}"/>
            </c:ext>
          </c:extLst>
        </c:ser>
        <c:dLbls>
          <c:showLegendKey val="0"/>
          <c:showVal val="0"/>
          <c:showCatName val="0"/>
          <c:showSerName val="0"/>
          <c:showPercent val="0"/>
          <c:showBubbleSize val="0"/>
        </c:dLbls>
        <c:gapWidth val="219"/>
        <c:overlap val="100"/>
        <c:axId val="1357764368"/>
        <c:axId val="1357752368"/>
      </c:barChart>
      <c:catAx>
        <c:axId val="13577643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mn-lt"/>
                <a:ea typeface="+mn-ea"/>
                <a:cs typeface="+mn-cs"/>
              </a:defRPr>
            </a:pPr>
            <a:endParaRPr lang="en-US"/>
          </a:p>
        </c:txPr>
        <c:crossAx val="1357752368"/>
        <c:crosses val="autoZero"/>
        <c:auto val="1"/>
        <c:lblAlgn val="ctr"/>
        <c:lblOffset val="100"/>
        <c:noMultiLvlLbl val="0"/>
      </c:catAx>
      <c:valAx>
        <c:axId val="135775236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mn-lt"/>
                <a:ea typeface="+mn-ea"/>
                <a:cs typeface="+mn-cs"/>
              </a:defRPr>
            </a:pPr>
            <a:endParaRPr lang="en-US"/>
          </a:p>
        </c:txPr>
        <c:crossAx val="13577643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bg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[Book2]DE 2022 Chart!PivotTable7</c:name>
    <c:fmtId val="6"/>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percentStacked"/>
        <c:varyColors val="0"/>
        <c:ser>
          <c:idx val="0"/>
          <c:order val="0"/>
          <c:tx>
            <c:strRef>
              <c:f>'DE 2022 Chart'!$B$3:$B$4</c:f>
              <c:strCache>
                <c:ptCount val="1"/>
                <c:pt idx="0">
                  <c:v>Biomass And Waste</c:v>
                </c:pt>
              </c:strCache>
            </c:strRef>
          </c:tx>
          <c:spPr>
            <a:solidFill>
              <a:schemeClr val="bg2"/>
            </a:solidFill>
            <a:ln>
              <a:noFill/>
            </a:ln>
            <a:effectLst/>
          </c:spPr>
          <c:invertIfNegative val="0"/>
          <c:cat>
            <c:strRef>
              <c:f>'DE 2022 Chart'!$A$5:$A$34</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'DE 2022 Chart'!$B$5:$B$34</c:f>
              <c:numCache>
                <c:formatCode>General</c:formatCode>
                <c:ptCount val="29"/>
                <c:pt idx="0">
                  <c:v>71.037616067774493</c:v>
                </c:pt>
                <c:pt idx="1">
                  <c:v>75.779729573892396</c:v>
                </c:pt>
                <c:pt idx="2">
                  <c:v>79.631996873455904</c:v>
                </c:pt>
                <c:pt idx="3">
                  <c:v>83.599503022544894</c:v>
                </c:pt>
                <c:pt idx="4">
                  <c:v>88.173732079893</c:v>
                </c:pt>
                <c:pt idx="5">
                  <c:v>92.9327462122139</c:v>
                </c:pt>
                <c:pt idx="6">
                  <c:v>96.963122065936702</c:v>
                </c:pt>
                <c:pt idx="7">
                  <c:v>100.02660295330701</c:v>
                </c:pt>
                <c:pt idx="8">
                  <c:v>100.99679550327301</c:v>
                </c:pt>
                <c:pt idx="9">
                  <c:v>100.677546617644</c:v>
                </c:pt>
                <c:pt idx="10">
                  <c:v>100.24434509869</c:v>
                </c:pt>
                <c:pt idx="11">
                  <c:v>97.636789244927996</c:v>
                </c:pt>
                <c:pt idx="12">
                  <c:v>96.222025526447894</c:v>
                </c:pt>
                <c:pt idx="13">
                  <c:v>95.041909217495103</c:v>
                </c:pt>
                <c:pt idx="14">
                  <c:v>94.180260273229905</c:v>
                </c:pt>
                <c:pt idx="15">
                  <c:v>93.906409589005605</c:v>
                </c:pt>
                <c:pt idx="16">
                  <c:v>94.200329475915197</c:v>
                </c:pt>
                <c:pt idx="17">
                  <c:v>94.345033237797097</c:v>
                </c:pt>
                <c:pt idx="18">
                  <c:v>92.554765826537107</c:v>
                </c:pt>
                <c:pt idx="19">
                  <c:v>92.551429290234694</c:v>
                </c:pt>
                <c:pt idx="20">
                  <c:v>91.652343071402598</c:v>
                </c:pt>
                <c:pt idx="21">
                  <c:v>91.281569771569295</c:v>
                </c:pt>
                <c:pt idx="22">
                  <c:v>91.755189921531397</c:v>
                </c:pt>
                <c:pt idx="23">
                  <c:v>90.372468980492201</c:v>
                </c:pt>
                <c:pt idx="24">
                  <c:v>90.870893470067401</c:v>
                </c:pt>
                <c:pt idx="25">
                  <c:v>90.406192255514597</c:v>
                </c:pt>
                <c:pt idx="26">
                  <c:v>88.624673438662796</c:v>
                </c:pt>
                <c:pt idx="27">
                  <c:v>87.796180896374906</c:v>
                </c:pt>
                <c:pt idx="28">
                  <c:v>87.348494726054</c:v>
                </c:pt>
              </c:numCache>
            </c:numRef>
          </c:val>
          <c:extLst>
            <c:ext xmlns:c16="http://schemas.microsoft.com/office/drawing/2014/chart" uri="{C3380CC4-5D6E-409C-BE32-E72D297353CC}">
              <c16:uniqueId val="{00000000-4D08-47E4-9C4F-CFBF3D3F60A5}"/>
            </c:ext>
          </c:extLst>
        </c:ser>
        <c:ser>
          <c:idx val="1"/>
          <c:order val="1"/>
          <c:tx>
            <c:strRef>
              <c:f>'DE 2022 Chart'!$C$3:$C$4</c:f>
              <c:strCache>
                <c:ptCount val="1"/>
                <c:pt idx="0">
                  <c:v>Biomass Ccs</c:v>
                </c:pt>
              </c:strCache>
            </c:strRef>
          </c:tx>
          <c:spPr>
            <a:solidFill>
              <a:srgbClr val="6B7280"/>
            </a:solidFill>
            <a:ln>
              <a:noFill/>
            </a:ln>
            <a:effectLst/>
          </c:spPr>
          <c:invertIfNegative val="0"/>
          <c:cat>
            <c:strRef>
              <c:f>'DE 2022 Chart'!$A$5:$A$34</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'DE 2022 Chart'!$C$5:$C$34</c:f>
              <c:numCache>
                <c:formatCode>General</c:formatCode>
                <c:ptCount val="2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numCache>
            </c:numRef>
          </c:val>
          <c:extLst>
            <c:ext xmlns:c16="http://schemas.microsoft.com/office/drawing/2014/chart" uri="{C3380CC4-5D6E-409C-BE32-E72D297353CC}">
              <c16:uniqueId val="{00000001-4D08-47E4-9C4F-CFBF3D3F60A5}"/>
            </c:ext>
          </c:extLst>
        </c:ser>
        <c:ser>
          <c:idx val="2"/>
          <c:order val="2"/>
          <c:tx>
            <c:strRef>
              <c:f>'DE 2022 Chart'!$D$3:$D$4</c:f>
              <c:strCache>
                <c:ptCount val="1"/>
                <c:pt idx="0">
                  <c:v>Fossil &amp; Other Thermal</c:v>
                </c:pt>
              </c:strCache>
            </c:strRef>
          </c:tx>
          <c:spPr>
            <a:solidFill>
              <a:srgbClr val="6B7280"/>
            </a:solidFill>
            <a:ln>
              <a:noFill/>
            </a:ln>
            <a:effectLst/>
          </c:spPr>
          <c:invertIfNegative val="0"/>
          <c:cat>
            <c:strRef>
              <c:f>'DE 2022 Chart'!$A$5:$A$34</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'DE 2022 Chart'!$D$5:$D$34</c:f>
              <c:numCache>
                <c:formatCode>General</c:formatCode>
                <c:ptCount val="29"/>
                <c:pt idx="0">
                  <c:v>201.9659584284781</c:v>
                </c:pt>
                <c:pt idx="1">
                  <c:v>200.5177594319332</c:v>
                </c:pt>
                <c:pt idx="2">
                  <c:v>175.1275047236131</c:v>
                </c:pt>
                <c:pt idx="3">
                  <c:v>155.03079239501761</c:v>
                </c:pt>
                <c:pt idx="4">
                  <c:v>105.9914228453018</c:v>
                </c:pt>
                <c:pt idx="5">
                  <c:v>97.516894473548206</c:v>
                </c:pt>
                <c:pt idx="6">
                  <c:v>73.078198797777304</c:v>
                </c:pt>
                <c:pt idx="7">
                  <c:v>53.511468802601101</c:v>
                </c:pt>
                <c:pt idx="8">
                  <c:v>43.024388553414198</c:v>
                </c:pt>
                <c:pt idx="9">
                  <c:v>31.798701158409703</c:v>
                </c:pt>
                <c:pt idx="10">
                  <c:v>29.690061758100597</c:v>
                </c:pt>
                <c:pt idx="11">
                  <c:v>28.299699207800003</c:v>
                </c:pt>
                <c:pt idx="12">
                  <c:v>23.9052292753926</c:v>
                </c:pt>
                <c:pt idx="13">
                  <c:v>16.384436149485801</c:v>
                </c:pt>
                <c:pt idx="14">
                  <c:v>15.938511544583001</c:v>
                </c:pt>
                <c:pt idx="15">
                  <c:v>15.036726505513201</c:v>
                </c:pt>
                <c:pt idx="16">
                  <c:v>9.9918331418516999</c:v>
                </c:pt>
                <c:pt idx="17">
                  <c:v>1.2441963823188</c:v>
                </c:pt>
                <c:pt idx="18">
                  <c:v>0.910111</c:v>
                </c:pt>
                <c:pt idx="19">
                  <c:v>0.96922799999999998</c:v>
                </c:pt>
                <c:pt idx="20">
                  <c:v>0.96329461466550004</c:v>
                </c:pt>
                <c:pt idx="21">
                  <c:v>0.64417000000000002</c:v>
                </c:pt>
                <c:pt idx="22">
                  <c:v>0.63482400000000005</c:v>
                </c:pt>
                <c:pt idx="23">
                  <c:v>0.61350400000000005</c:v>
                </c:pt>
                <c:pt idx="24">
                  <c:v>0.31883337968859998</c:v>
                </c:pt>
                <c:pt idx="25">
                  <c:v>0.3404214011267</c:v>
                </c:pt>
                <c:pt idx="26">
                  <c:v>0.32859899999999997</c:v>
                </c:pt>
                <c:pt idx="27">
                  <c:v>6.2233675599000001E-3</c:v>
                </c:pt>
                <c:pt idx="28">
                  <c:v>3.2239999999999999E-3</c:v>
                </c:pt>
              </c:numCache>
            </c:numRef>
          </c:val>
          <c:extLst>
            <c:ext xmlns:c16="http://schemas.microsoft.com/office/drawing/2014/chart" uri="{C3380CC4-5D6E-409C-BE32-E72D297353CC}">
              <c16:uniqueId val="{00000002-4D08-47E4-9C4F-CFBF3D3F60A5}"/>
            </c:ext>
          </c:extLst>
        </c:ser>
        <c:ser>
          <c:idx val="3"/>
          <c:order val="3"/>
          <c:tx>
            <c:strRef>
              <c:f>'DE 2022 Chart'!$E$3:$E$4</c:f>
              <c:strCache>
                <c:ptCount val="1"/>
                <c:pt idx="0">
                  <c:v>Gas &amp; Hydrogen</c:v>
                </c:pt>
              </c:strCache>
            </c:strRef>
          </c:tx>
          <c:spPr>
            <a:solidFill>
              <a:srgbClr val="EF4444"/>
            </a:solidFill>
            <a:ln>
              <a:noFill/>
            </a:ln>
            <a:effectLst/>
          </c:spPr>
          <c:invertIfNegative val="0"/>
          <c:cat>
            <c:strRef>
              <c:f>'DE 2022 Chart'!$A$5:$A$34</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'DE 2022 Chart'!$E$5:$E$34</c:f>
              <c:numCache>
                <c:formatCode>General</c:formatCode>
                <c:ptCount val="29"/>
                <c:pt idx="0">
                  <c:v>76.159945712675494</c:v>
                </c:pt>
                <c:pt idx="1">
                  <c:v>77.593214426421994</c:v>
                </c:pt>
                <c:pt idx="2">
                  <c:v>91.799229259107094</c:v>
                </c:pt>
                <c:pt idx="3">
                  <c:v>112.59405094296299</c:v>
                </c:pt>
                <c:pt idx="4">
                  <c:v>127.329566099226</c:v>
                </c:pt>
                <c:pt idx="5">
                  <c:v>126.144247702097</c:v>
                </c:pt>
                <c:pt idx="6">
                  <c:v>131.777411030092</c:v>
                </c:pt>
                <c:pt idx="7">
                  <c:v>132.282264048521</c:v>
                </c:pt>
                <c:pt idx="8">
                  <c:v>128.957036799089</c:v>
                </c:pt>
                <c:pt idx="9">
                  <c:v>128.7657361680601</c:v>
                </c:pt>
                <c:pt idx="10">
                  <c:v>123.8572130041951</c:v>
                </c:pt>
                <c:pt idx="11">
                  <c:v>124.9594892038988</c:v>
                </c:pt>
                <c:pt idx="12">
                  <c:v>126.42645506629169</c:v>
                </c:pt>
                <c:pt idx="13">
                  <c:v>127.1606938501597</c:v>
                </c:pt>
                <c:pt idx="14">
                  <c:v>129.2912218752339</c:v>
                </c:pt>
                <c:pt idx="15">
                  <c:v>130.07771284002101</c:v>
                </c:pt>
                <c:pt idx="16">
                  <c:v>131.00551138647279</c:v>
                </c:pt>
                <c:pt idx="17">
                  <c:v>134.67119745267999</c:v>
                </c:pt>
                <c:pt idx="18">
                  <c:v>130.70247640656621</c:v>
                </c:pt>
                <c:pt idx="19">
                  <c:v>128.3017958982868</c:v>
                </c:pt>
                <c:pt idx="20">
                  <c:v>126.9166733138145</c:v>
                </c:pt>
                <c:pt idx="21">
                  <c:v>124.90833259012611</c:v>
                </c:pt>
                <c:pt idx="22">
                  <c:v>124.31388005130979</c:v>
                </c:pt>
                <c:pt idx="23">
                  <c:v>121.30247061236251</c:v>
                </c:pt>
                <c:pt idx="24">
                  <c:v>120.6047031568568</c:v>
                </c:pt>
                <c:pt idx="25">
                  <c:v>119.5729259972932</c:v>
                </c:pt>
                <c:pt idx="26">
                  <c:v>117.72631338231329</c:v>
                </c:pt>
                <c:pt idx="27">
                  <c:v>116.3827162824912</c:v>
                </c:pt>
                <c:pt idx="28">
                  <c:v>113.69959388732001</c:v>
                </c:pt>
              </c:numCache>
            </c:numRef>
          </c:val>
          <c:extLst>
            <c:ext xmlns:c16="http://schemas.microsoft.com/office/drawing/2014/chart" uri="{C3380CC4-5D6E-409C-BE32-E72D297353CC}">
              <c16:uniqueId val="{00000003-4D08-47E4-9C4F-CFBF3D3F60A5}"/>
            </c:ext>
          </c:extLst>
        </c:ser>
        <c:ser>
          <c:idx val="4"/>
          <c:order val="4"/>
          <c:tx>
            <c:strRef>
              <c:f>'DE 2022 Chart'!$F$3:$F$4</c:f>
              <c:strCache>
                <c:ptCount val="1"/>
                <c:pt idx="0">
                  <c:v>Hydro</c:v>
                </c:pt>
              </c:strCache>
            </c:strRef>
          </c:tx>
          <c:spPr>
            <a:solidFill>
              <a:srgbClr val="7030A0"/>
            </a:solidFill>
            <a:ln>
              <a:noFill/>
            </a:ln>
            <a:effectLst/>
          </c:spPr>
          <c:invertIfNegative val="0"/>
          <c:cat>
            <c:strRef>
              <c:f>'DE 2022 Chart'!$A$5:$A$34</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'DE 2022 Chart'!$F$5:$F$34</c:f>
              <c:numCache>
                <c:formatCode>General</c:formatCode>
                <c:ptCount val="29"/>
                <c:pt idx="0">
                  <c:v>15.0972549939562</c:v>
                </c:pt>
                <c:pt idx="1">
                  <c:v>15.1848662596023</c:v>
                </c:pt>
                <c:pt idx="2">
                  <c:v>15.1378537114756</c:v>
                </c:pt>
                <c:pt idx="3">
                  <c:v>15.0948116148162</c:v>
                </c:pt>
                <c:pt idx="4">
                  <c:v>14.985232178618899</c:v>
                </c:pt>
                <c:pt idx="5">
                  <c:v>14.9377631865956</c:v>
                </c:pt>
                <c:pt idx="6">
                  <c:v>14.733913819029</c:v>
                </c:pt>
                <c:pt idx="7">
                  <c:v>14.4753705808926</c:v>
                </c:pt>
                <c:pt idx="8">
                  <c:v>14.204526068470001</c:v>
                </c:pt>
                <c:pt idx="9">
                  <c:v>14.006926123045099</c:v>
                </c:pt>
                <c:pt idx="10">
                  <c:v>13.9194396011639</c:v>
                </c:pt>
                <c:pt idx="11">
                  <c:v>13.8363549374175</c:v>
                </c:pt>
                <c:pt idx="12">
                  <c:v>13.882422274929899</c:v>
                </c:pt>
                <c:pt idx="13">
                  <c:v>14.1215318547076</c:v>
                </c:pt>
                <c:pt idx="14">
                  <c:v>14.0588528255636</c:v>
                </c:pt>
                <c:pt idx="15">
                  <c:v>14.133530088834</c:v>
                </c:pt>
                <c:pt idx="16">
                  <c:v>14.0998570760656</c:v>
                </c:pt>
                <c:pt idx="17">
                  <c:v>14.138610121525501</c:v>
                </c:pt>
                <c:pt idx="18">
                  <c:v>14.246982251678499</c:v>
                </c:pt>
                <c:pt idx="19">
                  <c:v>14.058513141111799</c:v>
                </c:pt>
                <c:pt idx="20">
                  <c:v>13.8987398699831</c:v>
                </c:pt>
                <c:pt idx="21">
                  <c:v>13.9177002387394</c:v>
                </c:pt>
                <c:pt idx="22">
                  <c:v>13.752197306649901</c:v>
                </c:pt>
                <c:pt idx="23">
                  <c:v>13.729890579510901</c:v>
                </c:pt>
                <c:pt idx="24">
                  <c:v>13.6870697039072</c:v>
                </c:pt>
                <c:pt idx="25">
                  <c:v>13.466265280698501</c:v>
                </c:pt>
                <c:pt idx="26">
                  <c:v>13.4630389963498</c:v>
                </c:pt>
                <c:pt idx="27">
                  <c:v>13.2804444255414</c:v>
                </c:pt>
                <c:pt idx="28">
                  <c:v>13.2134561211718</c:v>
                </c:pt>
              </c:numCache>
            </c:numRef>
          </c:val>
          <c:extLst>
            <c:ext xmlns:c16="http://schemas.microsoft.com/office/drawing/2014/chart" uri="{C3380CC4-5D6E-409C-BE32-E72D297353CC}">
              <c16:uniqueId val="{00000004-4D08-47E4-9C4F-CFBF3D3F60A5}"/>
            </c:ext>
          </c:extLst>
        </c:ser>
        <c:ser>
          <c:idx val="5"/>
          <c:order val="5"/>
          <c:tx>
            <c:strRef>
              <c:f>'DE 2022 Chart'!$G$3:$G$4</c:f>
              <c:strCache>
                <c:ptCount val="1"/>
                <c:pt idx="0">
                  <c:v>Nuclear</c:v>
                </c:pt>
              </c:strCache>
            </c:strRef>
          </c:tx>
          <c:spPr>
            <a:solidFill>
              <a:srgbClr val="3B82F6"/>
            </a:solidFill>
            <a:ln>
              <a:noFill/>
            </a:ln>
            <a:effectLst/>
          </c:spPr>
          <c:invertIfNegative val="0"/>
          <c:cat>
            <c:strRef>
              <c:f>'DE 2022 Chart'!$A$5:$A$34</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'DE 2022 Chart'!$G$5:$G$34</c:f>
              <c:numCache>
                <c:formatCode>General</c:formatCode>
                <c:ptCount val="29"/>
                <c:pt idx="0">
                  <c:v>31.688066640678102</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numCache>
            </c:numRef>
          </c:val>
          <c:extLst>
            <c:ext xmlns:c16="http://schemas.microsoft.com/office/drawing/2014/chart" uri="{C3380CC4-5D6E-409C-BE32-E72D297353CC}">
              <c16:uniqueId val="{00000005-4D08-47E4-9C4F-CFBF3D3F60A5}"/>
            </c:ext>
          </c:extLst>
        </c:ser>
        <c:ser>
          <c:idx val="6"/>
          <c:order val="6"/>
          <c:tx>
            <c:strRef>
              <c:f>'DE 2022 Chart'!$H$3:$H$4</c:f>
              <c:strCache>
                <c:ptCount val="1"/>
                <c:pt idx="0">
                  <c:v>Offshore Wind</c:v>
                </c:pt>
              </c:strCache>
            </c:strRef>
          </c:tx>
          <c:spPr>
            <a:solidFill>
              <a:srgbClr val="3B82F6"/>
            </a:solidFill>
            <a:ln>
              <a:noFill/>
            </a:ln>
            <a:effectLst/>
          </c:spPr>
          <c:invertIfNegative val="0"/>
          <c:cat>
            <c:strRef>
              <c:f>'DE 2022 Chart'!$A$5:$A$34</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'DE 2022 Chart'!$H$5:$H$34</c:f>
              <c:numCache>
                <c:formatCode>General</c:formatCode>
                <c:ptCount val="29"/>
                <c:pt idx="0">
                  <c:v>28.551118791855998</c:v>
                </c:pt>
                <c:pt idx="1">
                  <c:v>29.765127109912001</c:v>
                </c:pt>
                <c:pt idx="2">
                  <c:v>31.75578324588</c:v>
                </c:pt>
                <c:pt idx="3">
                  <c:v>36.579604740399503</c:v>
                </c:pt>
                <c:pt idx="4">
                  <c:v>41.991248147075801</c:v>
                </c:pt>
                <c:pt idx="5">
                  <c:v>45.838776631446699</c:v>
                </c:pt>
                <c:pt idx="6">
                  <c:v>50.7833287985477</c:v>
                </c:pt>
                <c:pt idx="7">
                  <c:v>62.333875814840198</c:v>
                </c:pt>
                <c:pt idx="8">
                  <c:v>84.827345322572597</c:v>
                </c:pt>
                <c:pt idx="9">
                  <c:v>93.752284984172206</c:v>
                </c:pt>
                <c:pt idx="10">
                  <c:v>103.351674574071</c:v>
                </c:pt>
                <c:pt idx="11">
                  <c:v>111.871413501634</c:v>
                </c:pt>
                <c:pt idx="12">
                  <c:v>121.015185944593</c:v>
                </c:pt>
                <c:pt idx="13">
                  <c:v>130.548324926585</c:v>
                </c:pt>
                <c:pt idx="14">
                  <c:v>131.16537563425399</c:v>
                </c:pt>
                <c:pt idx="15">
                  <c:v>137.97748766103601</c:v>
                </c:pt>
                <c:pt idx="16">
                  <c:v>145.332708031452</c:v>
                </c:pt>
                <c:pt idx="17">
                  <c:v>152.60344829802199</c:v>
                </c:pt>
                <c:pt idx="18">
                  <c:v>161.11497185730099</c:v>
                </c:pt>
                <c:pt idx="19">
                  <c:v>166.796362443346</c:v>
                </c:pt>
                <c:pt idx="20">
                  <c:v>172.27270228371799</c:v>
                </c:pt>
                <c:pt idx="21">
                  <c:v>178.36300699608199</c:v>
                </c:pt>
                <c:pt idx="22">
                  <c:v>185.21851021329999</c:v>
                </c:pt>
                <c:pt idx="23">
                  <c:v>190.51804763369401</c:v>
                </c:pt>
                <c:pt idx="24">
                  <c:v>195.09568109695701</c:v>
                </c:pt>
                <c:pt idx="25">
                  <c:v>201.01466801042</c:v>
                </c:pt>
                <c:pt idx="26">
                  <c:v>207.21370674449599</c:v>
                </c:pt>
                <c:pt idx="27">
                  <c:v>212.17521828358699</c:v>
                </c:pt>
                <c:pt idx="28">
                  <c:v>217.33453014730699</c:v>
                </c:pt>
              </c:numCache>
            </c:numRef>
          </c:val>
          <c:extLst>
            <c:ext xmlns:c16="http://schemas.microsoft.com/office/drawing/2014/chart" uri="{C3380CC4-5D6E-409C-BE32-E72D297353CC}">
              <c16:uniqueId val="{00000006-4D08-47E4-9C4F-CFBF3D3F60A5}"/>
            </c:ext>
          </c:extLst>
        </c:ser>
        <c:ser>
          <c:idx val="7"/>
          <c:order val="7"/>
          <c:tx>
            <c:strRef>
              <c:f>'DE 2022 Chart'!$I$3:$I$4</c:f>
              <c:strCache>
                <c:ptCount val="1"/>
                <c:pt idx="0">
                  <c:v>Onshore Wind</c:v>
                </c:pt>
              </c:strCache>
            </c:strRef>
          </c:tx>
          <c:spPr>
            <a:solidFill>
              <a:srgbClr val="10B981"/>
            </a:solidFill>
            <a:ln>
              <a:noFill/>
            </a:ln>
            <a:effectLst/>
          </c:spPr>
          <c:invertIfNegative val="0"/>
          <c:cat>
            <c:strRef>
              <c:f>'DE 2022 Chart'!$A$5:$A$34</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'DE 2022 Chart'!$I$5:$I$34</c:f>
              <c:numCache>
                <c:formatCode>General</c:formatCode>
                <c:ptCount val="29"/>
                <c:pt idx="0">
                  <c:v>97.361177923468404</c:v>
                </c:pt>
                <c:pt idx="1">
                  <c:v>102.53560080039701</c:v>
                </c:pt>
                <c:pt idx="2">
                  <c:v>108.094805843315</c:v>
                </c:pt>
                <c:pt idx="3">
                  <c:v>114.135544398044</c:v>
                </c:pt>
                <c:pt idx="4">
                  <c:v>120.33804308142599</c:v>
                </c:pt>
                <c:pt idx="5">
                  <c:v>124.19478506334499</c:v>
                </c:pt>
                <c:pt idx="6">
                  <c:v>129.42150510483799</c:v>
                </c:pt>
                <c:pt idx="7">
                  <c:v>134.711462570859</c:v>
                </c:pt>
                <c:pt idx="8">
                  <c:v>142.463170864098</c:v>
                </c:pt>
                <c:pt idx="9">
                  <c:v>147.77971279338399</c:v>
                </c:pt>
                <c:pt idx="10">
                  <c:v>154.22428552231901</c:v>
                </c:pt>
                <c:pt idx="11">
                  <c:v>158.36259266022799</c:v>
                </c:pt>
                <c:pt idx="12">
                  <c:v>163.56987627813001</c:v>
                </c:pt>
                <c:pt idx="13">
                  <c:v>169.66090109554301</c:v>
                </c:pt>
                <c:pt idx="14">
                  <c:v>171.36957830107801</c:v>
                </c:pt>
                <c:pt idx="15">
                  <c:v>175.23040123264599</c:v>
                </c:pt>
                <c:pt idx="16">
                  <c:v>179.87771719273999</c:v>
                </c:pt>
                <c:pt idx="17">
                  <c:v>185.18548941712299</c:v>
                </c:pt>
                <c:pt idx="18">
                  <c:v>192.19576368920701</c:v>
                </c:pt>
                <c:pt idx="19">
                  <c:v>200.06326738347701</c:v>
                </c:pt>
                <c:pt idx="20">
                  <c:v>209.01893592445199</c:v>
                </c:pt>
                <c:pt idx="21">
                  <c:v>218.019554994814</c:v>
                </c:pt>
                <c:pt idx="22">
                  <c:v>227.02345736335201</c:v>
                </c:pt>
                <c:pt idx="23">
                  <c:v>233.83521261996299</c:v>
                </c:pt>
                <c:pt idx="24">
                  <c:v>241.38459877090901</c:v>
                </c:pt>
                <c:pt idx="25">
                  <c:v>248.354717225602</c:v>
                </c:pt>
                <c:pt idx="26">
                  <c:v>257.49955126013202</c:v>
                </c:pt>
                <c:pt idx="27">
                  <c:v>264.51594595272798</c:v>
                </c:pt>
                <c:pt idx="28">
                  <c:v>270.96361320452502</c:v>
                </c:pt>
              </c:numCache>
            </c:numRef>
          </c:val>
          <c:extLst>
            <c:ext xmlns:c16="http://schemas.microsoft.com/office/drawing/2014/chart" uri="{C3380CC4-5D6E-409C-BE32-E72D297353CC}">
              <c16:uniqueId val="{00000007-4D08-47E4-9C4F-CFBF3D3F60A5}"/>
            </c:ext>
          </c:extLst>
        </c:ser>
        <c:ser>
          <c:idx val="8"/>
          <c:order val="8"/>
          <c:tx>
            <c:strRef>
              <c:f>'DE 2022 Chart'!$J$3:$J$4</c:f>
              <c:strCache>
                <c:ptCount val="1"/>
                <c:pt idx="0">
                  <c:v>Solar Pv</c:v>
                </c:pt>
              </c:strCache>
            </c:strRef>
          </c:tx>
          <c:spPr>
            <a:solidFill>
              <a:srgbClr val="F59E0B"/>
            </a:solidFill>
            <a:ln>
              <a:noFill/>
            </a:ln>
            <a:effectLst/>
          </c:spPr>
          <c:invertIfNegative val="0"/>
          <c:cat>
            <c:strRef>
              <c:f>'DE 2022 Chart'!$A$5:$A$34</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'DE 2022 Chart'!$J$5:$J$34</c:f>
              <c:numCache>
                <c:formatCode>General</c:formatCode>
                <c:ptCount val="29"/>
                <c:pt idx="0">
                  <c:v>59.0549452531328</c:v>
                </c:pt>
                <c:pt idx="1">
                  <c:v>66.151166975337802</c:v>
                </c:pt>
                <c:pt idx="2">
                  <c:v>74.756118247357804</c:v>
                </c:pt>
                <c:pt idx="3">
                  <c:v>85.525179859880893</c:v>
                </c:pt>
                <c:pt idx="4">
                  <c:v>98.913570588530206</c:v>
                </c:pt>
                <c:pt idx="5">
                  <c:v>113.26689285976499</c:v>
                </c:pt>
                <c:pt idx="6">
                  <c:v>128.08249726682899</c:v>
                </c:pt>
                <c:pt idx="7">
                  <c:v>140.94853420574901</c:v>
                </c:pt>
                <c:pt idx="8">
                  <c:v>153.43026129320501</c:v>
                </c:pt>
                <c:pt idx="9">
                  <c:v>155.12935318790599</c:v>
                </c:pt>
                <c:pt idx="10">
                  <c:v>157.51738739794999</c:v>
                </c:pt>
                <c:pt idx="11">
                  <c:v>159.02348022375199</c:v>
                </c:pt>
                <c:pt idx="12">
                  <c:v>161.20454846781399</c:v>
                </c:pt>
                <c:pt idx="13">
                  <c:v>163.71595975877</c:v>
                </c:pt>
                <c:pt idx="14">
                  <c:v>165.375607421589</c:v>
                </c:pt>
                <c:pt idx="15">
                  <c:v>167.02740271898301</c:v>
                </c:pt>
                <c:pt idx="16">
                  <c:v>169.055920412771</c:v>
                </c:pt>
                <c:pt idx="17">
                  <c:v>170.853928019411</c:v>
                </c:pt>
                <c:pt idx="18">
                  <c:v>172.92565654030301</c:v>
                </c:pt>
                <c:pt idx="19">
                  <c:v>174.401910279476</c:v>
                </c:pt>
                <c:pt idx="20">
                  <c:v>176.83958197987499</c:v>
                </c:pt>
                <c:pt idx="21">
                  <c:v>179.02829170659101</c:v>
                </c:pt>
                <c:pt idx="22">
                  <c:v>180.89930172861301</c:v>
                </c:pt>
                <c:pt idx="23">
                  <c:v>183.43157636664901</c:v>
                </c:pt>
                <c:pt idx="24">
                  <c:v>185.174287145954</c:v>
                </c:pt>
                <c:pt idx="25">
                  <c:v>188.59272219336799</c:v>
                </c:pt>
                <c:pt idx="26">
                  <c:v>191.61720448941901</c:v>
                </c:pt>
                <c:pt idx="27">
                  <c:v>193.36783641680199</c:v>
                </c:pt>
                <c:pt idx="28">
                  <c:v>195.60962455838899</c:v>
                </c:pt>
              </c:numCache>
            </c:numRef>
          </c:val>
          <c:extLst>
            <c:ext xmlns:c16="http://schemas.microsoft.com/office/drawing/2014/chart" uri="{C3380CC4-5D6E-409C-BE32-E72D297353CC}">
              <c16:uniqueId val="{0000000B-4D08-47E4-9C4F-CFBF3D3F60A5}"/>
            </c:ext>
          </c:extLst>
        </c:ser>
        <c:dLbls>
          <c:showLegendKey val="0"/>
          <c:showVal val="0"/>
          <c:showCatName val="0"/>
          <c:showSerName val="0"/>
          <c:showPercent val="0"/>
          <c:showBubbleSize val="0"/>
        </c:dLbls>
        <c:gapWidth val="219"/>
        <c:overlap val="100"/>
        <c:axId val="2084453952"/>
        <c:axId val="2084452032"/>
      </c:barChart>
      <c:catAx>
        <c:axId val="2084453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mn-lt"/>
                <a:ea typeface="+mn-ea"/>
                <a:cs typeface="+mn-cs"/>
              </a:defRPr>
            </a:pPr>
            <a:endParaRPr lang="en-US"/>
          </a:p>
        </c:txPr>
        <c:crossAx val="2084452032"/>
        <c:crosses val="autoZero"/>
        <c:auto val="1"/>
        <c:lblAlgn val="ctr"/>
        <c:lblOffset val="100"/>
        <c:noMultiLvlLbl val="0"/>
      </c:catAx>
      <c:valAx>
        <c:axId val="208445203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mn-lt"/>
                <a:ea typeface="+mn-ea"/>
                <a:cs typeface="+mn-cs"/>
              </a:defRPr>
            </a:pPr>
            <a:endParaRPr lang="en-US"/>
          </a:p>
        </c:txPr>
        <c:crossAx val="2084453952"/>
        <c:crosses val="autoZero"/>
        <c:crossBetween val="between"/>
      </c:valAx>
      <c:spPr>
        <a:noFill/>
        <a:ln>
          <a:noFill/>
        </a:ln>
        <a:effectLst/>
      </c:spPr>
    </c:plotArea>
    <c:legend>
      <c:legendPos val="b"/>
      <c:legendEntry>
        <c:idx val="1"/>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bg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[Book2]GB 2023Q1 Chart!PivotTable3</c:name>
    <c:fmtId val="6"/>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percentStacked"/>
        <c:varyColors val="0"/>
        <c:ser>
          <c:idx val="0"/>
          <c:order val="0"/>
          <c:tx>
            <c:strRef>
              <c:f>'GB 2023Q1 Chart'!$B$3:$B$4</c:f>
              <c:strCache>
                <c:ptCount val="1"/>
                <c:pt idx="0">
                  <c:v>Fossil &amp; Other Thermal</c:v>
                </c:pt>
              </c:strCache>
            </c:strRef>
          </c:tx>
          <c:spPr>
            <a:solidFill>
              <a:srgbClr val="6B7280"/>
            </a:solidFill>
            <a:ln>
              <a:noFill/>
            </a:ln>
            <a:effectLst/>
          </c:spPr>
          <c:invertIfNegative val="0"/>
          <c:cat>
            <c:strRef>
              <c:f>'GB 2023Q1 Chart'!$A$5:$A$33</c:f>
              <c:strCache>
                <c:ptCount val="28"/>
                <c:pt idx="0">
                  <c:v>"41</c:v>
                </c:pt>
                <c:pt idx="1">
                  <c:v>"38</c:v>
                </c:pt>
                <c:pt idx="2">
                  <c:v>"39</c:v>
                </c:pt>
                <c:pt idx="3">
                  <c:v>"36</c:v>
                </c:pt>
                <c:pt idx="4">
                  <c:v>"40</c:v>
                </c:pt>
                <c:pt idx="5">
                  <c:v>"42</c:v>
                </c:pt>
                <c:pt idx="6">
                  <c:v>"37</c:v>
                </c:pt>
                <c:pt idx="7">
                  <c:v>"43</c:v>
                </c:pt>
                <c:pt idx="8">
                  <c:v>"44</c:v>
                </c:pt>
                <c:pt idx="9">
                  <c:v>"46</c:v>
                </c:pt>
                <c:pt idx="10">
                  <c:v>"48</c:v>
                </c:pt>
                <c:pt idx="11">
                  <c:v>"47</c:v>
                </c:pt>
                <c:pt idx="12">
                  <c:v>"45</c:v>
                </c:pt>
                <c:pt idx="13">
                  <c:v>"49</c:v>
                </c:pt>
                <c:pt idx="14">
                  <c:v>"50</c:v>
                </c:pt>
                <c:pt idx="15">
                  <c:v>"35</c:v>
                </c:pt>
                <c:pt idx="16">
                  <c:v>"32</c:v>
                </c:pt>
                <c:pt idx="17">
                  <c:v>"31</c:v>
                </c:pt>
                <c:pt idx="18">
                  <c:v>"34</c:v>
                </c:pt>
                <c:pt idx="19">
                  <c:v>"33</c:v>
                </c:pt>
                <c:pt idx="20">
                  <c:v>"30</c:v>
                </c:pt>
                <c:pt idx="21">
                  <c:v>"29</c:v>
                </c:pt>
                <c:pt idx="22">
                  <c:v>"28</c:v>
                </c:pt>
                <c:pt idx="23">
                  <c:v>"27</c:v>
                </c:pt>
                <c:pt idx="24">
                  <c:v>"26</c:v>
                </c:pt>
                <c:pt idx="25">
                  <c:v>"23</c:v>
                </c:pt>
                <c:pt idx="26">
                  <c:v>"25</c:v>
                </c:pt>
                <c:pt idx="27">
                  <c:v>"24</c:v>
                </c:pt>
              </c:strCache>
            </c:strRef>
          </c:cat>
          <c:val>
            <c:numRef>
              <c:f>'GB 2023Q1 Chart'!$B$5:$B$33</c:f>
              <c:numCache>
                <c:formatCode>General</c:formatCode>
                <c:ptCount val="28"/>
                <c:pt idx="0">
                  <c:v>12.14</c:v>
                </c:pt>
                <c:pt idx="1">
                  <c:v>12.21</c:v>
                </c:pt>
                <c:pt idx="2">
                  <c:v>12.22</c:v>
                </c:pt>
                <c:pt idx="3">
                  <c:v>9.6</c:v>
                </c:pt>
                <c:pt idx="4">
                  <c:v>12.25</c:v>
                </c:pt>
                <c:pt idx="5">
                  <c:v>14.75</c:v>
                </c:pt>
                <c:pt idx="6">
                  <c:v>9.58</c:v>
                </c:pt>
                <c:pt idx="7">
                  <c:v>14.74</c:v>
                </c:pt>
                <c:pt idx="8">
                  <c:v>14.75</c:v>
                </c:pt>
                <c:pt idx="9">
                  <c:v>14.75</c:v>
                </c:pt>
                <c:pt idx="10">
                  <c:v>14.75</c:v>
                </c:pt>
                <c:pt idx="11">
                  <c:v>14.83</c:v>
                </c:pt>
                <c:pt idx="12">
                  <c:v>14.81</c:v>
                </c:pt>
                <c:pt idx="13">
                  <c:v>14.71</c:v>
                </c:pt>
                <c:pt idx="14">
                  <c:v>14.7</c:v>
                </c:pt>
                <c:pt idx="15">
                  <c:v>9.58</c:v>
                </c:pt>
                <c:pt idx="16">
                  <c:v>9.6</c:v>
                </c:pt>
                <c:pt idx="17">
                  <c:v>9.58</c:v>
                </c:pt>
                <c:pt idx="18">
                  <c:v>9.58</c:v>
                </c:pt>
                <c:pt idx="19">
                  <c:v>9.58</c:v>
                </c:pt>
                <c:pt idx="20">
                  <c:v>9.58</c:v>
                </c:pt>
                <c:pt idx="21">
                  <c:v>9.58</c:v>
                </c:pt>
                <c:pt idx="22">
                  <c:v>9.6</c:v>
                </c:pt>
                <c:pt idx="23">
                  <c:v>9.58</c:v>
                </c:pt>
                <c:pt idx="24">
                  <c:v>9.58</c:v>
                </c:pt>
                <c:pt idx="25">
                  <c:v>12.66</c:v>
                </c:pt>
                <c:pt idx="26">
                  <c:v>9.56</c:v>
                </c:pt>
                <c:pt idx="27">
                  <c:v>10.88</c:v>
                </c:pt>
              </c:numCache>
            </c:numRef>
          </c:val>
          <c:extLst>
            <c:ext xmlns:c16="http://schemas.microsoft.com/office/drawing/2014/chart" uri="{C3380CC4-5D6E-409C-BE32-E72D297353CC}">
              <c16:uniqueId val="{00000000-9EAA-473F-B8A6-5F1709B3E163}"/>
            </c:ext>
          </c:extLst>
        </c:ser>
        <c:ser>
          <c:idx val="1"/>
          <c:order val="1"/>
          <c:tx>
            <c:strRef>
              <c:f>'GB 2023Q1 Chart'!$C$3:$C$4</c:f>
              <c:strCache>
                <c:ptCount val="1"/>
                <c:pt idx="0">
                  <c:v>Gas &amp; Hydrogen</c:v>
                </c:pt>
              </c:strCache>
            </c:strRef>
          </c:tx>
          <c:spPr>
            <a:solidFill>
              <a:srgbClr val="EF4444"/>
            </a:solidFill>
            <a:ln>
              <a:noFill/>
            </a:ln>
            <a:effectLst/>
          </c:spPr>
          <c:invertIfNegative val="0"/>
          <c:cat>
            <c:strRef>
              <c:f>'GB 2023Q1 Chart'!$A$5:$A$33</c:f>
              <c:strCache>
                <c:ptCount val="28"/>
                <c:pt idx="0">
                  <c:v>"41</c:v>
                </c:pt>
                <c:pt idx="1">
                  <c:v>"38</c:v>
                </c:pt>
                <c:pt idx="2">
                  <c:v>"39</c:v>
                </c:pt>
                <c:pt idx="3">
                  <c:v>"36</c:v>
                </c:pt>
                <c:pt idx="4">
                  <c:v>"40</c:v>
                </c:pt>
                <c:pt idx="5">
                  <c:v>"42</c:v>
                </c:pt>
                <c:pt idx="6">
                  <c:v>"37</c:v>
                </c:pt>
                <c:pt idx="7">
                  <c:v>"43</c:v>
                </c:pt>
                <c:pt idx="8">
                  <c:v>"44</c:v>
                </c:pt>
                <c:pt idx="9">
                  <c:v>"46</c:v>
                </c:pt>
                <c:pt idx="10">
                  <c:v>"48</c:v>
                </c:pt>
                <c:pt idx="11">
                  <c:v>"47</c:v>
                </c:pt>
                <c:pt idx="12">
                  <c:v>"45</c:v>
                </c:pt>
                <c:pt idx="13">
                  <c:v>"49</c:v>
                </c:pt>
                <c:pt idx="14">
                  <c:v>"50</c:v>
                </c:pt>
                <c:pt idx="15">
                  <c:v>"35</c:v>
                </c:pt>
                <c:pt idx="16">
                  <c:v>"32</c:v>
                </c:pt>
                <c:pt idx="17">
                  <c:v>"31</c:v>
                </c:pt>
                <c:pt idx="18">
                  <c:v>"34</c:v>
                </c:pt>
                <c:pt idx="19">
                  <c:v>"33</c:v>
                </c:pt>
                <c:pt idx="20">
                  <c:v>"30</c:v>
                </c:pt>
                <c:pt idx="21">
                  <c:v>"29</c:v>
                </c:pt>
                <c:pt idx="22">
                  <c:v>"28</c:v>
                </c:pt>
                <c:pt idx="23">
                  <c:v>"27</c:v>
                </c:pt>
                <c:pt idx="24">
                  <c:v>"26</c:v>
                </c:pt>
                <c:pt idx="25">
                  <c:v>"23</c:v>
                </c:pt>
                <c:pt idx="26">
                  <c:v>"25</c:v>
                </c:pt>
                <c:pt idx="27">
                  <c:v>"24</c:v>
                </c:pt>
              </c:strCache>
            </c:strRef>
          </c:cat>
          <c:val>
            <c:numRef>
              <c:f>'GB 2023Q1 Chart'!$C$5:$C$33</c:f>
              <c:numCache>
                <c:formatCode>General</c:formatCode>
                <c:ptCount val="28"/>
                <c:pt idx="0">
                  <c:v>21.9</c:v>
                </c:pt>
                <c:pt idx="1">
                  <c:v>28.27</c:v>
                </c:pt>
                <c:pt idx="2">
                  <c:v>27.27</c:v>
                </c:pt>
                <c:pt idx="3">
                  <c:v>30.700000000000003</c:v>
                </c:pt>
                <c:pt idx="4">
                  <c:v>25.09</c:v>
                </c:pt>
                <c:pt idx="5">
                  <c:v>15.95</c:v>
                </c:pt>
                <c:pt idx="6">
                  <c:v>30.43</c:v>
                </c:pt>
                <c:pt idx="7">
                  <c:v>15.879999999999999</c:v>
                </c:pt>
                <c:pt idx="8">
                  <c:v>16.3</c:v>
                </c:pt>
                <c:pt idx="9">
                  <c:v>15.48</c:v>
                </c:pt>
                <c:pt idx="10">
                  <c:v>14.91</c:v>
                </c:pt>
                <c:pt idx="11">
                  <c:v>15.079999999999998</c:v>
                </c:pt>
                <c:pt idx="12">
                  <c:v>16.95</c:v>
                </c:pt>
                <c:pt idx="13">
                  <c:v>15.9</c:v>
                </c:pt>
                <c:pt idx="14">
                  <c:v>17.649999999999999</c:v>
                </c:pt>
                <c:pt idx="15">
                  <c:v>29.63</c:v>
                </c:pt>
                <c:pt idx="16">
                  <c:v>34.659999999999997</c:v>
                </c:pt>
                <c:pt idx="17">
                  <c:v>38.230000000000004</c:v>
                </c:pt>
                <c:pt idx="18">
                  <c:v>32.85</c:v>
                </c:pt>
                <c:pt idx="19">
                  <c:v>35.72</c:v>
                </c:pt>
                <c:pt idx="20">
                  <c:v>42.32</c:v>
                </c:pt>
                <c:pt idx="21">
                  <c:v>48.36</c:v>
                </c:pt>
                <c:pt idx="22">
                  <c:v>58.38</c:v>
                </c:pt>
                <c:pt idx="23">
                  <c:v>66.87</c:v>
                </c:pt>
                <c:pt idx="24">
                  <c:v>68.09</c:v>
                </c:pt>
                <c:pt idx="25">
                  <c:v>98.100000000000009</c:v>
                </c:pt>
                <c:pt idx="26">
                  <c:v>83.690000000000012</c:v>
                </c:pt>
                <c:pt idx="27">
                  <c:v>87.69</c:v>
                </c:pt>
              </c:numCache>
            </c:numRef>
          </c:val>
          <c:extLst>
            <c:ext xmlns:c16="http://schemas.microsoft.com/office/drawing/2014/chart" uri="{C3380CC4-5D6E-409C-BE32-E72D297353CC}">
              <c16:uniqueId val="{00000001-9EAA-473F-B8A6-5F1709B3E163}"/>
            </c:ext>
          </c:extLst>
        </c:ser>
        <c:ser>
          <c:idx val="2"/>
          <c:order val="2"/>
          <c:tx>
            <c:strRef>
              <c:f>'GB 2023Q1 Chart'!$D$3:$D$4</c:f>
              <c:strCache>
                <c:ptCount val="1"/>
                <c:pt idx="0">
                  <c:v>Interconnectors</c:v>
                </c:pt>
              </c:strCache>
            </c:strRef>
          </c:tx>
          <c:spPr>
            <a:solidFill>
              <a:schemeClr val="accent3"/>
            </a:solidFill>
            <a:ln>
              <a:noFill/>
            </a:ln>
            <a:effectLst/>
          </c:spPr>
          <c:invertIfNegative val="0"/>
          <c:cat>
            <c:strRef>
              <c:f>'GB 2023Q1 Chart'!$A$5:$A$33</c:f>
              <c:strCache>
                <c:ptCount val="28"/>
                <c:pt idx="0">
                  <c:v>"41</c:v>
                </c:pt>
                <c:pt idx="1">
                  <c:v>"38</c:v>
                </c:pt>
                <c:pt idx="2">
                  <c:v>"39</c:v>
                </c:pt>
                <c:pt idx="3">
                  <c:v>"36</c:v>
                </c:pt>
                <c:pt idx="4">
                  <c:v>"40</c:v>
                </c:pt>
                <c:pt idx="5">
                  <c:v>"42</c:v>
                </c:pt>
                <c:pt idx="6">
                  <c:v>"37</c:v>
                </c:pt>
                <c:pt idx="7">
                  <c:v>"43</c:v>
                </c:pt>
                <c:pt idx="8">
                  <c:v>"44</c:v>
                </c:pt>
                <c:pt idx="9">
                  <c:v>"46</c:v>
                </c:pt>
                <c:pt idx="10">
                  <c:v>"48</c:v>
                </c:pt>
                <c:pt idx="11">
                  <c:v>"47</c:v>
                </c:pt>
                <c:pt idx="12">
                  <c:v>"45</c:v>
                </c:pt>
                <c:pt idx="13">
                  <c:v>"49</c:v>
                </c:pt>
                <c:pt idx="14">
                  <c:v>"50</c:v>
                </c:pt>
                <c:pt idx="15">
                  <c:v>"35</c:v>
                </c:pt>
                <c:pt idx="16">
                  <c:v>"32</c:v>
                </c:pt>
                <c:pt idx="17">
                  <c:v>"31</c:v>
                </c:pt>
                <c:pt idx="18">
                  <c:v>"34</c:v>
                </c:pt>
                <c:pt idx="19">
                  <c:v>"33</c:v>
                </c:pt>
                <c:pt idx="20">
                  <c:v>"30</c:v>
                </c:pt>
                <c:pt idx="21">
                  <c:v>"29</c:v>
                </c:pt>
                <c:pt idx="22">
                  <c:v>"28</c:v>
                </c:pt>
                <c:pt idx="23">
                  <c:v>"27</c:v>
                </c:pt>
                <c:pt idx="24">
                  <c:v>"26</c:v>
                </c:pt>
                <c:pt idx="25">
                  <c:v>"23</c:v>
                </c:pt>
                <c:pt idx="26">
                  <c:v>"25</c:v>
                </c:pt>
                <c:pt idx="27">
                  <c:v>"24</c:v>
                </c:pt>
              </c:strCache>
            </c:strRef>
          </c:cat>
          <c:val>
            <c:numRef>
              <c:f>'GB 2023Q1 Chart'!$D$5:$D$33</c:f>
              <c:numCache>
                <c:formatCode>General</c:formatCode>
                <c:ptCount val="28"/>
                <c:pt idx="0">
                  <c:v>-13.53</c:v>
                </c:pt>
                <c:pt idx="1">
                  <c:v>-7.22</c:v>
                </c:pt>
                <c:pt idx="2">
                  <c:v>-8.6999999999999993</c:v>
                </c:pt>
                <c:pt idx="3">
                  <c:v>-1.62</c:v>
                </c:pt>
                <c:pt idx="4">
                  <c:v>-7.85</c:v>
                </c:pt>
                <c:pt idx="5">
                  <c:v>-13.62</c:v>
                </c:pt>
                <c:pt idx="6">
                  <c:v>-0.7</c:v>
                </c:pt>
                <c:pt idx="7">
                  <c:v>-14.41</c:v>
                </c:pt>
                <c:pt idx="8">
                  <c:v>-12.23</c:v>
                </c:pt>
                <c:pt idx="9">
                  <c:v>-13.12</c:v>
                </c:pt>
                <c:pt idx="10">
                  <c:v>-16.46</c:v>
                </c:pt>
                <c:pt idx="11">
                  <c:v>-15.68</c:v>
                </c:pt>
                <c:pt idx="12">
                  <c:v>-10.24</c:v>
                </c:pt>
                <c:pt idx="13">
                  <c:v>-13.02</c:v>
                </c:pt>
                <c:pt idx="14">
                  <c:v>-10.6</c:v>
                </c:pt>
                <c:pt idx="15">
                  <c:v>-0.27</c:v>
                </c:pt>
                <c:pt idx="16">
                  <c:v>-0.01</c:v>
                </c:pt>
                <c:pt idx="17">
                  <c:v>-3.79</c:v>
                </c:pt>
                <c:pt idx="18">
                  <c:v>3.96</c:v>
                </c:pt>
                <c:pt idx="19">
                  <c:v>4.55</c:v>
                </c:pt>
                <c:pt idx="20">
                  <c:v>-2.61</c:v>
                </c:pt>
                <c:pt idx="21">
                  <c:v>1.72</c:v>
                </c:pt>
                <c:pt idx="22">
                  <c:v>14.86</c:v>
                </c:pt>
                <c:pt idx="23">
                  <c:v>16.93</c:v>
                </c:pt>
                <c:pt idx="24">
                  <c:v>19.32</c:v>
                </c:pt>
                <c:pt idx="25">
                  <c:v>8.65</c:v>
                </c:pt>
                <c:pt idx="26">
                  <c:v>20.91</c:v>
                </c:pt>
                <c:pt idx="27">
                  <c:v>16.28</c:v>
                </c:pt>
              </c:numCache>
            </c:numRef>
          </c:val>
          <c:extLst>
            <c:ext xmlns:c16="http://schemas.microsoft.com/office/drawing/2014/chart" uri="{C3380CC4-5D6E-409C-BE32-E72D297353CC}">
              <c16:uniqueId val="{00000002-9EAA-473F-B8A6-5F1709B3E163}"/>
            </c:ext>
          </c:extLst>
        </c:ser>
        <c:ser>
          <c:idx val="3"/>
          <c:order val="3"/>
          <c:tx>
            <c:strRef>
              <c:f>'GB 2023Q1 Chart'!$E$3:$E$4</c:f>
              <c:strCache>
                <c:ptCount val="1"/>
                <c:pt idx="0">
                  <c:v>Nuclear</c:v>
                </c:pt>
              </c:strCache>
            </c:strRef>
          </c:tx>
          <c:spPr>
            <a:solidFill>
              <a:srgbClr val="8B5CF6"/>
            </a:solidFill>
            <a:ln>
              <a:noFill/>
            </a:ln>
            <a:effectLst/>
          </c:spPr>
          <c:invertIfNegative val="0"/>
          <c:cat>
            <c:strRef>
              <c:f>'GB 2023Q1 Chart'!$A$5:$A$33</c:f>
              <c:strCache>
                <c:ptCount val="28"/>
                <c:pt idx="0">
                  <c:v>"41</c:v>
                </c:pt>
                <c:pt idx="1">
                  <c:v>"38</c:v>
                </c:pt>
                <c:pt idx="2">
                  <c:v>"39</c:v>
                </c:pt>
                <c:pt idx="3">
                  <c:v>"36</c:v>
                </c:pt>
                <c:pt idx="4">
                  <c:v>"40</c:v>
                </c:pt>
                <c:pt idx="5">
                  <c:v>"42</c:v>
                </c:pt>
                <c:pt idx="6">
                  <c:v>"37</c:v>
                </c:pt>
                <c:pt idx="7">
                  <c:v>"43</c:v>
                </c:pt>
                <c:pt idx="8">
                  <c:v>"44</c:v>
                </c:pt>
                <c:pt idx="9">
                  <c:v>"46</c:v>
                </c:pt>
                <c:pt idx="10">
                  <c:v>"48</c:v>
                </c:pt>
                <c:pt idx="11">
                  <c:v>"47</c:v>
                </c:pt>
                <c:pt idx="12">
                  <c:v>"45</c:v>
                </c:pt>
                <c:pt idx="13">
                  <c:v>"49</c:v>
                </c:pt>
                <c:pt idx="14">
                  <c:v>"50</c:v>
                </c:pt>
                <c:pt idx="15">
                  <c:v>"35</c:v>
                </c:pt>
                <c:pt idx="16">
                  <c:v>"32</c:v>
                </c:pt>
                <c:pt idx="17">
                  <c:v>"31</c:v>
                </c:pt>
                <c:pt idx="18">
                  <c:v>"34</c:v>
                </c:pt>
                <c:pt idx="19">
                  <c:v>"33</c:v>
                </c:pt>
                <c:pt idx="20">
                  <c:v>"30</c:v>
                </c:pt>
                <c:pt idx="21">
                  <c:v>"29</c:v>
                </c:pt>
                <c:pt idx="22">
                  <c:v>"28</c:v>
                </c:pt>
                <c:pt idx="23">
                  <c:v>"27</c:v>
                </c:pt>
                <c:pt idx="24">
                  <c:v>"26</c:v>
                </c:pt>
                <c:pt idx="25">
                  <c:v>"23</c:v>
                </c:pt>
                <c:pt idx="26">
                  <c:v>"25</c:v>
                </c:pt>
                <c:pt idx="27">
                  <c:v>"24</c:v>
                </c:pt>
              </c:strCache>
            </c:strRef>
          </c:cat>
          <c:val>
            <c:numRef>
              <c:f>'GB 2023Q1 Chart'!$E$5:$E$33</c:f>
              <c:numCache>
                <c:formatCode>General</c:formatCode>
                <c:ptCount val="28"/>
                <c:pt idx="0">
                  <c:v>94.17</c:v>
                </c:pt>
                <c:pt idx="1">
                  <c:v>73.52</c:v>
                </c:pt>
                <c:pt idx="2">
                  <c:v>78.09</c:v>
                </c:pt>
                <c:pt idx="3">
                  <c:v>60.18</c:v>
                </c:pt>
                <c:pt idx="4">
                  <c:v>83.83</c:v>
                </c:pt>
                <c:pt idx="5">
                  <c:v>99.9</c:v>
                </c:pt>
                <c:pt idx="6">
                  <c:v>64.59</c:v>
                </c:pt>
                <c:pt idx="7">
                  <c:v>99.97</c:v>
                </c:pt>
                <c:pt idx="8">
                  <c:v>100.38</c:v>
                </c:pt>
                <c:pt idx="9">
                  <c:v>116.53</c:v>
                </c:pt>
                <c:pt idx="10">
                  <c:v>122.09</c:v>
                </c:pt>
                <c:pt idx="11">
                  <c:v>121.88</c:v>
                </c:pt>
                <c:pt idx="12">
                  <c:v>105.7</c:v>
                </c:pt>
                <c:pt idx="13">
                  <c:v>121.68</c:v>
                </c:pt>
                <c:pt idx="14">
                  <c:v>121.61</c:v>
                </c:pt>
                <c:pt idx="15">
                  <c:v>53.48</c:v>
                </c:pt>
                <c:pt idx="16">
                  <c:v>33.840000000000003</c:v>
                </c:pt>
                <c:pt idx="17">
                  <c:v>33.6</c:v>
                </c:pt>
                <c:pt idx="18">
                  <c:v>40.42</c:v>
                </c:pt>
                <c:pt idx="19">
                  <c:v>33.85</c:v>
                </c:pt>
                <c:pt idx="20">
                  <c:v>33.79</c:v>
                </c:pt>
                <c:pt idx="21">
                  <c:v>27.4</c:v>
                </c:pt>
                <c:pt idx="22">
                  <c:v>14.6</c:v>
                </c:pt>
                <c:pt idx="23">
                  <c:v>15.36</c:v>
                </c:pt>
                <c:pt idx="24">
                  <c:v>22.64</c:v>
                </c:pt>
                <c:pt idx="25">
                  <c:v>37.82</c:v>
                </c:pt>
                <c:pt idx="26">
                  <c:v>22.94</c:v>
                </c:pt>
                <c:pt idx="27">
                  <c:v>30.36</c:v>
                </c:pt>
              </c:numCache>
            </c:numRef>
          </c:val>
          <c:extLst>
            <c:ext xmlns:c16="http://schemas.microsoft.com/office/drawing/2014/chart" uri="{C3380CC4-5D6E-409C-BE32-E72D297353CC}">
              <c16:uniqueId val="{00000003-9EAA-473F-B8A6-5F1709B3E163}"/>
            </c:ext>
          </c:extLst>
        </c:ser>
        <c:ser>
          <c:idx val="4"/>
          <c:order val="4"/>
          <c:tx>
            <c:strRef>
              <c:f>'GB 2023Q1 Chart'!$F$3:$F$4</c:f>
              <c:strCache>
                <c:ptCount val="1"/>
                <c:pt idx="0">
                  <c:v>Offshore Wind</c:v>
                </c:pt>
              </c:strCache>
            </c:strRef>
          </c:tx>
          <c:spPr>
            <a:solidFill>
              <a:srgbClr val="3B82F6"/>
            </a:solidFill>
            <a:ln>
              <a:noFill/>
            </a:ln>
            <a:effectLst/>
          </c:spPr>
          <c:invertIfNegative val="0"/>
          <c:cat>
            <c:strRef>
              <c:f>'GB 2023Q1 Chart'!$A$5:$A$33</c:f>
              <c:strCache>
                <c:ptCount val="28"/>
                <c:pt idx="0">
                  <c:v>"41</c:v>
                </c:pt>
                <c:pt idx="1">
                  <c:v>"38</c:v>
                </c:pt>
                <c:pt idx="2">
                  <c:v>"39</c:v>
                </c:pt>
                <c:pt idx="3">
                  <c:v>"36</c:v>
                </c:pt>
                <c:pt idx="4">
                  <c:v>"40</c:v>
                </c:pt>
                <c:pt idx="5">
                  <c:v>"42</c:v>
                </c:pt>
                <c:pt idx="6">
                  <c:v>"37</c:v>
                </c:pt>
                <c:pt idx="7">
                  <c:v>"43</c:v>
                </c:pt>
                <c:pt idx="8">
                  <c:v>"44</c:v>
                </c:pt>
                <c:pt idx="9">
                  <c:v>"46</c:v>
                </c:pt>
                <c:pt idx="10">
                  <c:v>"48</c:v>
                </c:pt>
                <c:pt idx="11">
                  <c:v>"47</c:v>
                </c:pt>
                <c:pt idx="12">
                  <c:v>"45</c:v>
                </c:pt>
                <c:pt idx="13">
                  <c:v>"49</c:v>
                </c:pt>
                <c:pt idx="14">
                  <c:v>"50</c:v>
                </c:pt>
                <c:pt idx="15">
                  <c:v>"35</c:v>
                </c:pt>
                <c:pt idx="16">
                  <c:v>"32</c:v>
                </c:pt>
                <c:pt idx="17">
                  <c:v>"31</c:v>
                </c:pt>
                <c:pt idx="18">
                  <c:v>"34</c:v>
                </c:pt>
                <c:pt idx="19">
                  <c:v>"33</c:v>
                </c:pt>
                <c:pt idx="20">
                  <c:v>"30</c:v>
                </c:pt>
                <c:pt idx="21">
                  <c:v>"29</c:v>
                </c:pt>
                <c:pt idx="22">
                  <c:v>"28</c:v>
                </c:pt>
                <c:pt idx="23">
                  <c:v>"27</c:v>
                </c:pt>
                <c:pt idx="24">
                  <c:v>"26</c:v>
                </c:pt>
                <c:pt idx="25">
                  <c:v>"23</c:v>
                </c:pt>
                <c:pt idx="26">
                  <c:v>"25</c:v>
                </c:pt>
                <c:pt idx="27">
                  <c:v>"24</c:v>
                </c:pt>
              </c:strCache>
            </c:strRef>
          </c:cat>
          <c:val>
            <c:numRef>
              <c:f>'GB 2023Q1 Chart'!$F$5:$F$33</c:f>
              <c:numCache>
                <c:formatCode>General</c:formatCode>
                <c:ptCount val="28"/>
                <c:pt idx="0">
                  <c:v>181.48</c:v>
                </c:pt>
                <c:pt idx="1">
                  <c:v>175.26</c:v>
                </c:pt>
                <c:pt idx="2">
                  <c:v>176.81</c:v>
                </c:pt>
                <c:pt idx="3">
                  <c:v>172.08</c:v>
                </c:pt>
                <c:pt idx="4">
                  <c:v>178.81</c:v>
                </c:pt>
                <c:pt idx="5">
                  <c:v>184.34</c:v>
                </c:pt>
                <c:pt idx="6">
                  <c:v>172.9</c:v>
                </c:pt>
                <c:pt idx="7">
                  <c:v>190.68</c:v>
                </c:pt>
                <c:pt idx="8">
                  <c:v>193.69</c:v>
                </c:pt>
                <c:pt idx="9">
                  <c:v>192.19</c:v>
                </c:pt>
                <c:pt idx="10">
                  <c:v>199.53</c:v>
                </c:pt>
                <c:pt idx="11">
                  <c:v>195.35</c:v>
                </c:pt>
                <c:pt idx="12">
                  <c:v>193.45</c:v>
                </c:pt>
                <c:pt idx="13">
                  <c:v>200.65</c:v>
                </c:pt>
                <c:pt idx="14">
                  <c:v>201.3</c:v>
                </c:pt>
                <c:pt idx="15">
                  <c:v>168.02</c:v>
                </c:pt>
                <c:pt idx="16">
                  <c:v>163.09</c:v>
                </c:pt>
                <c:pt idx="17">
                  <c:v>157.08000000000001</c:v>
                </c:pt>
                <c:pt idx="18">
                  <c:v>166.2</c:v>
                </c:pt>
                <c:pt idx="19">
                  <c:v>163.6</c:v>
                </c:pt>
                <c:pt idx="20">
                  <c:v>146.41999999999999</c:v>
                </c:pt>
                <c:pt idx="21">
                  <c:v>135.28</c:v>
                </c:pt>
                <c:pt idx="22">
                  <c:v>119.86</c:v>
                </c:pt>
                <c:pt idx="23">
                  <c:v>104.94</c:v>
                </c:pt>
                <c:pt idx="24">
                  <c:v>90.11</c:v>
                </c:pt>
                <c:pt idx="25">
                  <c:v>49.66</c:v>
                </c:pt>
                <c:pt idx="26">
                  <c:v>70.709999999999994</c:v>
                </c:pt>
                <c:pt idx="27">
                  <c:v>59.22</c:v>
                </c:pt>
              </c:numCache>
            </c:numRef>
          </c:val>
          <c:extLst>
            <c:ext xmlns:c16="http://schemas.microsoft.com/office/drawing/2014/chart" uri="{C3380CC4-5D6E-409C-BE32-E72D297353CC}">
              <c16:uniqueId val="{00000004-9EAA-473F-B8A6-5F1709B3E163}"/>
            </c:ext>
          </c:extLst>
        </c:ser>
        <c:ser>
          <c:idx val="5"/>
          <c:order val="5"/>
          <c:tx>
            <c:strRef>
              <c:f>'GB 2023Q1 Chart'!$G$3:$G$4</c:f>
              <c:strCache>
                <c:ptCount val="1"/>
                <c:pt idx="0">
                  <c:v>Onshore Wind</c:v>
                </c:pt>
              </c:strCache>
            </c:strRef>
          </c:tx>
          <c:spPr>
            <a:solidFill>
              <a:srgbClr val="10B981"/>
            </a:solidFill>
            <a:ln>
              <a:noFill/>
            </a:ln>
            <a:effectLst/>
          </c:spPr>
          <c:invertIfNegative val="0"/>
          <c:cat>
            <c:strRef>
              <c:f>'GB 2023Q1 Chart'!$A$5:$A$33</c:f>
              <c:strCache>
                <c:ptCount val="28"/>
                <c:pt idx="0">
                  <c:v>"41</c:v>
                </c:pt>
                <c:pt idx="1">
                  <c:v>"38</c:v>
                </c:pt>
                <c:pt idx="2">
                  <c:v>"39</c:v>
                </c:pt>
                <c:pt idx="3">
                  <c:v>"36</c:v>
                </c:pt>
                <c:pt idx="4">
                  <c:v>"40</c:v>
                </c:pt>
                <c:pt idx="5">
                  <c:v>"42</c:v>
                </c:pt>
                <c:pt idx="6">
                  <c:v>"37</c:v>
                </c:pt>
                <c:pt idx="7">
                  <c:v>"43</c:v>
                </c:pt>
                <c:pt idx="8">
                  <c:v>"44</c:v>
                </c:pt>
                <c:pt idx="9">
                  <c:v>"46</c:v>
                </c:pt>
                <c:pt idx="10">
                  <c:v>"48</c:v>
                </c:pt>
                <c:pt idx="11">
                  <c:v>"47</c:v>
                </c:pt>
                <c:pt idx="12">
                  <c:v>"45</c:v>
                </c:pt>
                <c:pt idx="13">
                  <c:v>"49</c:v>
                </c:pt>
                <c:pt idx="14">
                  <c:v>"50</c:v>
                </c:pt>
                <c:pt idx="15">
                  <c:v>"35</c:v>
                </c:pt>
                <c:pt idx="16">
                  <c:v>"32</c:v>
                </c:pt>
                <c:pt idx="17">
                  <c:v>"31</c:v>
                </c:pt>
                <c:pt idx="18">
                  <c:v>"34</c:v>
                </c:pt>
                <c:pt idx="19">
                  <c:v>"33</c:v>
                </c:pt>
                <c:pt idx="20">
                  <c:v>"30</c:v>
                </c:pt>
                <c:pt idx="21">
                  <c:v>"29</c:v>
                </c:pt>
                <c:pt idx="22">
                  <c:v>"28</c:v>
                </c:pt>
                <c:pt idx="23">
                  <c:v>"27</c:v>
                </c:pt>
                <c:pt idx="24">
                  <c:v>"26</c:v>
                </c:pt>
                <c:pt idx="25">
                  <c:v>"23</c:v>
                </c:pt>
                <c:pt idx="26">
                  <c:v>"25</c:v>
                </c:pt>
                <c:pt idx="27">
                  <c:v>"24</c:v>
                </c:pt>
              </c:strCache>
            </c:strRef>
          </c:cat>
          <c:val>
            <c:numRef>
              <c:f>'GB 2023Q1 Chart'!$G$5:$G$33</c:f>
              <c:numCache>
                <c:formatCode>General</c:formatCode>
                <c:ptCount val="28"/>
                <c:pt idx="0">
                  <c:v>72.27</c:v>
                </c:pt>
                <c:pt idx="1">
                  <c:v>67.66</c:v>
                </c:pt>
                <c:pt idx="2">
                  <c:v>70</c:v>
                </c:pt>
                <c:pt idx="3">
                  <c:v>65.97</c:v>
                </c:pt>
                <c:pt idx="4">
                  <c:v>68.94</c:v>
                </c:pt>
                <c:pt idx="5">
                  <c:v>71.83</c:v>
                </c:pt>
                <c:pt idx="6">
                  <c:v>66.319999999999993</c:v>
                </c:pt>
                <c:pt idx="7">
                  <c:v>73.25</c:v>
                </c:pt>
                <c:pt idx="8">
                  <c:v>73</c:v>
                </c:pt>
                <c:pt idx="9">
                  <c:v>71.709999999999994</c:v>
                </c:pt>
                <c:pt idx="10">
                  <c:v>75.510000000000005</c:v>
                </c:pt>
                <c:pt idx="11">
                  <c:v>72.8</c:v>
                </c:pt>
                <c:pt idx="12">
                  <c:v>72.150000000000006</c:v>
                </c:pt>
                <c:pt idx="13">
                  <c:v>74.86</c:v>
                </c:pt>
                <c:pt idx="14">
                  <c:v>74.88</c:v>
                </c:pt>
                <c:pt idx="15">
                  <c:v>64.81</c:v>
                </c:pt>
                <c:pt idx="16">
                  <c:v>65.22</c:v>
                </c:pt>
                <c:pt idx="17">
                  <c:v>64.48</c:v>
                </c:pt>
                <c:pt idx="18">
                  <c:v>64.42</c:v>
                </c:pt>
                <c:pt idx="19">
                  <c:v>64.78</c:v>
                </c:pt>
                <c:pt idx="20">
                  <c:v>64.55</c:v>
                </c:pt>
                <c:pt idx="21">
                  <c:v>63.57</c:v>
                </c:pt>
                <c:pt idx="22">
                  <c:v>60.08</c:v>
                </c:pt>
                <c:pt idx="23">
                  <c:v>53.79</c:v>
                </c:pt>
                <c:pt idx="24">
                  <c:v>46.44</c:v>
                </c:pt>
                <c:pt idx="25">
                  <c:v>33.19</c:v>
                </c:pt>
                <c:pt idx="26">
                  <c:v>38.89</c:v>
                </c:pt>
                <c:pt idx="27">
                  <c:v>36.99</c:v>
                </c:pt>
              </c:numCache>
            </c:numRef>
          </c:val>
          <c:extLst>
            <c:ext xmlns:c16="http://schemas.microsoft.com/office/drawing/2014/chart" uri="{C3380CC4-5D6E-409C-BE32-E72D297353CC}">
              <c16:uniqueId val="{00000005-9EAA-473F-B8A6-5F1709B3E163}"/>
            </c:ext>
          </c:extLst>
        </c:ser>
        <c:ser>
          <c:idx val="6"/>
          <c:order val="6"/>
          <c:tx>
            <c:strRef>
              <c:f>'GB 2023Q1 Chart'!$H$3:$H$4</c:f>
              <c:strCache>
                <c:ptCount val="1"/>
                <c:pt idx="0">
                  <c:v>Other</c:v>
                </c:pt>
              </c:strCache>
            </c:strRef>
          </c:tx>
          <c:spPr>
            <a:solidFill>
              <a:srgbClr val="D1D5DB"/>
            </a:solidFill>
            <a:ln>
              <a:noFill/>
            </a:ln>
            <a:effectLst/>
          </c:spPr>
          <c:invertIfNegative val="0"/>
          <c:cat>
            <c:strRef>
              <c:f>'GB 2023Q1 Chart'!$A$5:$A$33</c:f>
              <c:strCache>
                <c:ptCount val="28"/>
                <c:pt idx="0">
                  <c:v>"41</c:v>
                </c:pt>
                <c:pt idx="1">
                  <c:v>"38</c:v>
                </c:pt>
                <c:pt idx="2">
                  <c:v>"39</c:v>
                </c:pt>
                <c:pt idx="3">
                  <c:v>"36</c:v>
                </c:pt>
                <c:pt idx="4">
                  <c:v>"40</c:v>
                </c:pt>
                <c:pt idx="5">
                  <c:v>"42</c:v>
                </c:pt>
                <c:pt idx="6">
                  <c:v>"37</c:v>
                </c:pt>
                <c:pt idx="7">
                  <c:v>"43</c:v>
                </c:pt>
                <c:pt idx="8">
                  <c:v>"44</c:v>
                </c:pt>
                <c:pt idx="9">
                  <c:v>"46</c:v>
                </c:pt>
                <c:pt idx="10">
                  <c:v>"48</c:v>
                </c:pt>
                <c:pt idx="11">
                  <c:v>"47</c:v>
                </c:pt>
                <c:pt idx="12">
                  <c:v>"45</c:v>
                </c:pt>
                <c:pt idx="13">
                  <c:v>"49</c:v>
                </c:pt>
                <c:pt idx="14">
                  <c:v>"50</c:v>
                </c:pt>
                <c:pt idx="15">
                  <c:v>"35</c:v>
                </c:pt>
                <c:pt idx="16">
                  <c:v>"32</c:v>
                </c:pt>
                <c:pt idx="17">
                  <c:v>"31</c:v>
                </c:pt>
                <c:pt idx="18">
                  <c:v>"34</c:v>
                </c:pt>
                <c:pt idx="19">
                  <c:v>"33</c:v>
                </c:pt>
                <c:pt idx="20">
                  <c:v>"30</c:v>
                </c:pt>
                <c:pt idx="21">
                  <c:v>"29</c:v>
                </c:pt>
                <c:pt idx="22">
                  <c:v>"28</c:v>
                </c:pt>
                <c:pt idx="23">
                  <c:v>"27</c:v>
                </c:pt>
                <c:pt idx="24">
                  <c:v>"26</c:v>
                </c:pt>
                <c:pt idx="25">
                  <c:v>"23</c:v>
                </c:pt>
                <c:pt idx="26">
                  <c:v>"25</c:v>
                </c:pt>
                <c:pt idx="27">
                  <c:v>"24</c:v>
                </c:pt>
              </c:strCache>
            </c:strRef>
          </c:cat>
          <c:val>
            <c:numRef>
              <c:f>'GB 2023Q1 Chart'!$H$5:$H$33</c:f>
              <c:numCache>
                <c:formatCode>General</c:formatCode>
                <c:ptCount val="28"/>
                <c:pt idx="0">
                  <c:v>25.51</c:v>
                </c:pt>
                <c:pt idx="1">
                  <c:v>25.93</c:v>
                </c:pt>
                <c:pt idx="2">
                  <c:v>26.07</c:v>
                </c:pt>
                <c:pt idx="3">
                  <c:v>26.36</c:v>
                </c:pt>
                <c:pt idx="4">
                  <c:v>26.44</c:v>
                </c:pt>
                <c:pt idx="5">
                  <c:v>26.58</c:v>
                </c:pt>
                <c:pt idx="6">
                  <c:v>26.59</c:v>
                </c:pt>
                <c:pt idx="7">
                  <c:v>26.6</c:v>
                </c:pt>
                <c:pt idx="8">
                  <c:v>27.33</c:v>
                </c:pt>
                <c:pt idx="9">
                  <c:v>27.52</c:v>
                </c:pt>
                <c:pt idx="10">
                  <c:v>27.55</c:v>
                </c:pt>
                <c:pt idx="11">
                  <c:v>27.55</c:v>
                </c:pt>
                <c:pt idx="12">
                  <c:v>27.61</c:v>
                </c:pt>
                <c:pt idx="13">
                  <c:v>28.07</c:v>
                </c:pt>
                <c:pt idx="14">
                  <c:v>28.71</c:v>
                </c:pt>
                <c:pt idx="15">
                  <c:v>32.270000000000003</c:v>
                </c:pt>
                <c:pt idx="16">
                  <c:v>33.75</c:v>
                </c:pt>
                <c:pt idx="17">
                  <c:v>33.79</c:v>
                </c:pt>
                <c:pt idx="18">
                  <c:v>33.97</c:v>
                </c:pt>
                <c:pt idx="19">
                  <c:v>34.29</c:v>
                </c:pt>
                <c:pt idx="20">
                  <c:v>34.31</c:v>
                </c:pt>
                <c:pt idx="21">
                  <c:v>36</c:v>
                </c:pt>
                <c:pt idx="22">
                  <c:v>38.43</c:v>
                </c:pt>
                <c:pt idx="23">
                  <c:v>44.46</c:v>
                </c:pt>
                <c:pt idx="24">
                  <c:v>52.25</c:v>
                </c:pt>
                <c:pt idx="25">
                  <c:v>55.63</c:v>
                </c:pt>
                <c:pt idx="26">
                  <c:v>56.57</c:v>
                </c:pt>
                <c:pt idx="27">
                  <c:v>56.61</c:v>
                </c:pt>
              </c:numCache>
            </c:numRef>
          </c:val>
          <c:extLst>
            <c:ext xmlns:c16="http://schemas.microsoft.com/office/drawing/2014/chart" uri="{C3380CC4-5D6E-409C-BE32-E72D297353CC}">
              <c16:uniqueId val="{00000006-9EAA-473F-B8A6-5F1709B3E163}"/>
            </c:ext>
          </c:extLst>
        </c:ser>
        <c:ser>
          <c:idx val="7"/>
          <c:order val="7"/>
          <c:tx>
            <c:strRef>
              <c:f>'GB 2023Q1 Chart'!$I$3:$I$4</c:f>
              <c:strCache>
                <c:ptCount val="1"/>
                <c:pt idx="0">
                  <c:v>Solar Pv</c:v>
                </c:pt>
              </c:strCache>
            </c:strRef>
          </c:tx>
          <c:spPr>
            <a:solidFill>
              <a:srgbClr val="F59E0B"/>
            </a:solidFill>
            <a:ln>
              <a:noFill/>
            </a:ln>
            <a:effectLst/>
          </c:spPr>
          <c:invertIfNegative val="0"/>
          <c:cat>
            <c:strRef>
              <c:f>'GB 2023Q1 Chart'!$A$5:$A$33</c:f>
              <c:strCache>
                <c:ptCount val="28"/>
                <c:pt idx="0">
                  <c:v>"41</c:v>
                </c:pt>
                <c:pt idx="1">
                  <c:v>"38</c:v>
                </c:pt>
                <c:pt idx="2">
                  <c:v>"39</c:v>
                </c:pt>
                <c:pt idx="3">
                  <c:v>"36</c:v>
                </c:pt>
                <c:pt idx="4">
                  <c:v>"40</c:v>
                </c:pt>
                <c:pt idx="5">
                  <c:v>"42</c:v>
                </c:pt>
                <c:pt idx="6">
                  <c:v>"37</c:v>
                </c:pt>
                <c:pt idx="7">
                  <c:v>"43</c:v>
                </c:pt>
                <c:pt idx="8">
                  <c:v>"44</c:v>
                </c:pt>
                <c:pt idx="9">
                  <c:v>"46</c:v>
                </c:pt>
                <c:pt idx="10">
                  <c:v>"48</c:v>
                </c:pt>
                <c:pt idx="11">
                  <c:v>"47</c:v>
                </c:pt>
                <c:pt idx="12">
                  <c:v>"45</c:v>
                </c:pt>
                <c:pt idx="13">
                  <c:v>"49</c:v>
                </c:pt>
                <c:pt idx="14">
                  <c:v>"50</c:v>
                </c:pt>
                <c:pt idx="15">
                  <c:v>"35</c:v>
                </c:pt>
                <c:pt idx="16">
                  <c:v>"32</c:v>
                </c:pt>
                <c:pt idx="17">
                  <c:v>"31</c:v>
                </c:pt>
                <c:pt idx="18">
                  <c:v>"34</c:v>
                </c:pt>
                <c:pt idx="19">
                  <c:v>"33</c:v>
                </c:pt>
                <c:pt idx="20">
                  <c:v>"30</c:v>
                </c:pt>
                <c:pt idx="21">
                  <c:v>"29</c:v>
                </c:pt>
                <c:pt idx="22">
                  <c:v>"28</c:v>
                </c:pt>
                <c:pt idx="23">
                  <c:v>"27</c:v>
                </c:pt>
                <c:pt idx="24">
                  <c:v>"26</c:v>
                </c:pt>
                <c:pt idx="25">
                  <c:v>"23</c:v>
                </c:pt>
                <c:pt idx="26">
                  <c:v>"25</c:v>
                </c:pt>
                <c:pt idx="27">
                  <c:v>"24</c:v>
                </c:pt>
              </c:strCache>
            </c:strRef>
          </c:cat>
          <c:val>
            <c:numRef>
              <c:f>'GB 2023Q1 Chart'!$I$5:$I$33</c:f>
              <c:numCache>
                <c:formatCode>General</c:formatCode>
                <c:ptCount val="28"/>
                <c:pt idx="0">
                  <c:v>40.65</c:v>
                </c:pt>
                <c:pt idx="1">
                  <c:v>35.51</c:v>
                </c:pt>
                <c:pt idx="2">
                  <c:v>37.15</c:v>
                </c:pt>
                <c:pt idx="3">
                  <c:v>32.32</c:v>
                </c:pt>
                <c:pt idx="4">
                  <c:v>38.799999999999997</c:v>
                </c:pt>
                <c:pt idx="5">
                  <c:v>42.5</c:v>
                </c:pt>
                <c:pt idx="6">
                  <c:v>33.92</c:v>
                </c:pt>
                <c:pt idx="7">
                  <c:v>44.89</c:v>
                </c:pt>
                <c:pt idx="8">
                  <c:v>46.86</c:v>
                </c:pt>
                <c:pt idx="9">
                  <c:v>50.8</c:v>
                </c:pt>
                <c:pt idx="10">
                  <c:v>53.52</c:v>
                </c:pt>
                <c:pt idx="11">
                  <c:v>51.79</c:v>
                </c:pt>
                <c:pt idx="12">
                  <c:v>48.18</c:v>
                </c:pt>
                <c:pt idx="13">
                  <c:v>54.56</c:v>
                </c:pt>
                <c:pt idx="14">
                  <c:v>55.68</c:v>
                </c:pt>
                <c:pt idx="15">
                  <c:v>30.56</c:v>
                </c:pt>
                <c:pt idx="16">
                  <c:v>27.05</c:v>
                </c:pt>
                <c:pt idx="17">
                  <c:v>51.9</c:v>
                </c:pt>
                <c:pt idx="18">
                  <c:v>29.35</c:v>
                </c:pt>
                <c:pt idx="19">
                  <c:v>28.16</c:v>
                </c:pt>
                <c:pt idx="20">
                  <c:v>24.73</c:v>
                </c:pt>
                <c:pt idx="21">
                  <c:v>23.27</c:v>
                </c:pt>
                <c:pt idx="22">
                  <c:v>21.83</c:v>
                </c:pt>
                <c:pt idx="23">
                  <c:v>19.41</c:v>
                </c:pt>
                <c:pt idx="24">
                  <c:v>17.100000000000001</c:v>
                </c:pt>
                <c:pt idx="25">
                  <c:v>12.4</c:v>
                </c:pt>
                <c:pt idx="26">
                  <c:v>14.69</c:v>
                </c:pt>
                <c:pt idx="27">
                  <c:v>13.68</c:v>
                </c:pt>
              </c:numCache>
            </c:numRef>
          </c:val>
          <c:extLst>
            <c:ext xmlns:c16="http://schemas.microsoft.com/office/drawing/2014/chart" uri="{C3380CC4-5D6E-409C-BE32-E72D297353CC}">
              <c16:uniqueId val="{00000007-9EAA-473F-B8A6-5F1709B3E163}"/>
            </c:ext>
          </c:extLst>
        </c:ser>
        <c:dLbls>
          <c:showLegendKey val="0"/>
          <c:showVal val="0"/>
          <c:showCatName val="0"/>
          <c:showSerName val="0"/>
          <c:showPercent val="0"/>
          <c:showBubbleSize val="0"/>
        </c:dLbls>
        <c:gapWidth val="219"/>
        <c:overlap val="100"/>
        <c:axId val="1902350912"/>
        <c:axId val="1902351872"/>
      </c:barChart>
      <c:catAx>
        <c:axId val="1902350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mn-lt"/>
                <a:ea typeface="+mn-ea"/>
                <a:cs typeface="+mn-cs"/>
              </a:defRPr>
            </a:pPr>
            <a:endParaRPr lang="en-US"/>
          </a:p>
        </c:txPr>
        <c:crossAx val="1902351872"/>
        <c:crosses val="autoZero"/>
        <c:auto val="1"/>
        <c:lblAlgn val="ctr"/>
        <c:lblOffset val="100"/>
        <c:noMultiLvlLbl val="0"/>
      </c:catAx>
      <c:valAx>
        <c:axId val="190235187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mn-lt"/>
                <a:ea typeface="+mn-ea"/>
                <a:cs typeface="+mn-cs"/>
              </a:defRPr>
            </a:pPr>
            <a:endParaRPr lang="en-US"/>
          </a:p>
        </c:txPr>
        <c:crossAx val="19023509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bg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[Book2 (version 2).xlsb.xlsx]DE 2023 Chart!PivotTable6</c:name>
    <c:fmtId val="9"/>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percentStacked"/>
        <c:varyColors val="0"/>
        <c:ser>
          <c:idx val="0"/>
          <c:order val="0"/>
          <c:tx>
            <c:strRef>
              <c:f>'DE 2023 Chart'!$B$3:$B$4</c:f>
              <c:strCache>
                <c:ptCount val="1"/>
                <c:pt idx="0">
                  <c:v>Biomass And Waste</c:v>
                </c:pt>
              </c:strCache>
            </c:strRef>
          </c:tx>
          <c:spPr>
            <a:solidFill>
              <a:schemeClr val="bg2"/>
            </a:solidFill>
            <a:ln>
              <a:noFill/>
            </a:ln>
            <a:effectLst/>
          </c:spPr>
          <c:invertIfNegative val="0"/>
          <c:cat>
            <c:strRef>
              <c:f>'DE 2023 Chart'!$A$5:$A$33</c:f>
              <c:strCache>
                <c:ptCount val="28"/>
                <c:pt idx="0">
                  <c:v>"23</c:v>
                </c:pt>
                <c:pt idx="1">
                  <c:v>"24</c:v>
                </c:pt>
                <c:pt idx="2">
                  <c:v>"25</c:v>
                </c:pt>
                <c:pt idx="3">
                  <c:v>"26</c:v>
                </c:pt>
                <c:pt idx="4">
                  <c:v>"27</c:v>
                </c:pt>
                <c:pt idx="5">
                  <c:v>"28</c:v>
                </c:pt>
                <c:pt idx="6">
                  <c:v>"29</c:v>
                </c:pt>
                <c:pt idx="7">
                  <c:v>"30</c:v>
                </c:pt>
                <c:pt idx="8">
                  <c:v>"31</c:v>
                </c:pt>
                <c:pt idx="9">
                  <c:v>"32</c:v>
                </c:pt>
                <c:pt idx="10">
                  <c:v>"33</c:v>
                </c:pt>
                <c:pt idx="11">
                  <c:v>"34</c:v>
                </c:pt>
                <c:pt idx="12">
                  <c:v>"35</c:v>
                </c:pt>
                <c:pt idx="13">
                  <c:v>"36</c:v>
                </c:pt>
                <c:pt idx="14">
                  <c:v>"37</c:v>
                </c:pt>
                <c:pt idx="15">
                  <c:v>"38</c:v>
                </c:pt>
                <c:pt idx="16">
                  <c:v>"39</c:v>
                </c:pt>
                <c:pt idx="17">
                  <c:v>"40</c:v>
                </c:pt>
                <c:pt idx="18">
                  <c:v>"41</c:v>
                </c:pt>
                <c:pt idx="19">
                  <c:v>"42</c:v>
                </c:pt>
                <c:pt idx="20">
                  <c:v>"43</c:v>
                </c:pt>
                <c:pt idx="21">
                  <c:v>"44</c:v>
                </c:pt>
                <c:pt idx="22">
                  <c:v>"45</c:v>
                </c:pt>
                <c:pt idx="23">
                  <c:v>"46</c:v>
                </c:pt>
                <c:pt idx="24">
                  <c:v>"47</c:v>
                </c:pt>
                <c:pt idx="25">
                  <c:v>"48</c:v>
                </c:pt>
                <c:pt idx="26">
                  <c:v>"49</c:v>
                </c:pt>
                <c:pt idx="27">
                  <c:v>"50</c:v>
                </c:pt>
              </c:strCache>
            </c:strRef>
          </c:cat>
          <c:val>
            <c:numRef>
              <c:f>'DE 2023 Chart'!$B$5:$B$33</c:f>
              <c:numCache>
                <c:formatCode>General</c:formatCode>
                <c:ptCount val="28"/>
                <c:pt idx="0">
                  <c:v>60.5280506161982</c:v>
                </c:pt>
                <c:pt idx="1">
                  <c:v>64.445506737835501</c:v>
                </c:pt>
                <c:pt idx="2">
                  <c:v>63.0425205378749</c:v>
                </c:pt>
                <c:pt idx="3">
                  <c:v>62.554510040205599</c:v>
                </c:pt>
                <c:pt idx="4">
                  <c:v>61.942842723775598</c:v>
                </c:pt>
                <c:pt idx="5">
                  <c:v>61.766565167858701</c:v>
                </c:pt>
                <c:pt idx="6">
                  <c:v>60.968797956622701</c:v>
                </c:pt>
                <c:pt idx="7">
                  <c:v>56.527569047183803</c:v>
                </c:pt>
                <c:pt idx="8">
                  <c:v>56.317439906448598</c:v>
                </c:pt>
                <c:pt idx="9">
                  <c:v>55.969391613838297</c:v>
                </c:pt>
                <c:pt idx="10">
                  <c:v>55.7097986720199</c:v>
                </c:pt>
                <c:pt idx="11">
                  <c:v>55.246714316401402</c:v>
                </c:pt>
                <c:pt idx="12">
                  <c:v>51.440494369884497</c:v>
                </c:pt>
                <c:pt idx="13">
                  <c:v>51.382809026612499</c:v>
                </c:pt>
                <c:pt idx="14">
                  <c:v>51.176530935549302</c:v>
                </c:pt>
                <c:pt idx="15">
                  <c:v>49.957693856669003</c:v>
                </c:pt>
                <c:pt idx="16">
                  <c:v>48.962915129155299</c:v>
                </c:pt>
                <c:pt idx="17">
                  <c:v>45.238220497524999</c:v>
                </c:pt>
                <c:pt idx="18">
                  <c:v>44.909414128052603</c:v>
                </c:pt>
                <c:pt idx="19">
                  <c:v>43.9188321897091</c:v>
                </c:pt>
                <c:pt idx="20">
                  <c:v>42.560685105875997</c:v>
                </c:pt>
                <c:pt idx="21">
                  <c:v>41.914061833319401</c:v>
                </c:pt>
                <c:pt idx="22">
                  <c:v>38.009627090213897</c:v>
                </c:pt>
                <c:pt idx="23">
                  <c:v>36.567226262916002</c:v>
                </c:pt>
                <c:pt idx="24">
                  <c:v>35.972403607515098</c:v>
                </c:pt>
                <c:pt idx="25">
                  <c:v>35.6192527534335</c:v>
                </c:pt>
                <c:pt idx="26">
                  <c:v>33.560161666490302</c:v>
                </c:pt>
                <c:pt idx="27">
                  <c:v>31.833525424353802</c:v>
                </c:pt>
              </c:numCache>
            </c:numRef>
          </c:val>
          <c:extLst>
            <c:ext xmlns:c16="http://schemas.microsoft.com/office/drawing/2014/chart" uri="{C3380CC4-5D6E-409C-BE32-E72D297353CC}">
              <c16:uniqueId val="{00000000-02C5-413F-8230-06258D19008B}"/>
            </c:ext>
          </c:extLst>
        </c:ser>
        <c:ser>
          <c:idx val="1"/>
          <c:order val="1"/>
          <c:tx>
            <c:strRef>
              <c:f>'DE 2023 Chart'!$C$3:$C$4</c:f>
              <c:strCache>
                <c:ptCount val="1"/>
                <c:pt idx="0">
                  <c:v>Fossil &amp; Other Thermal</c:v>
                </c:pt>
              </c:strCache>
            </c:strRef>
          </c:tx>
          <c:spPr>
            <a:solidFill>
              <a:srgbClr val="6B7280"/>
            </a:solidFill>
            <a:ln>
              <a:noFill/>
            </a:ln>
            <a:effectLst/>
          </c:spPr>
          <c:invertIfNegative val="0"/>
          <c:cat>
            <c:strRef>
              <c:f>'DE 2023 Chart'!$A$5:$A$33</c:f>
              <c:strCache>
                <c:ptCount val="28"/>
                <c:pt idx="0">
                  <c:v>"23</c:v>
                </c:pt>
                <c:pt idx="1">
                  <c:v>"24</c:v>
                </c:pt>
                <c:pt idx="2">
                  <c:v>"25</c:v>
                </c:pt>
                <c:pt idx="3">
                  <c:v>"26</c:v>
                </c:pt>
                <c:pt idx="4">
                  <c:v>"27</c:v>
                </c:pt>
                <c:pt idx="5">
                  <c:v>"28</c:v>
                </c:pt>
                <c:pt idx="6">
                  <c:v>"29</c:v>
                </c:pt>
                <c:pt idx="7">
                  <c:v>"30</c:v>
                </c:pt>
                <c:pt idx="8">
                  <c:v>"31</c:v>
                </c:pt>
                <c:pt idx="9">
                  <c:v>"32</c:v>
                </c:pt>
                <c:pt idx="10">
                  <c:v>"33</c:v>
                </c:pt>
                <c:pt idx="11">
                  <c:v>"34</c:v>
                </c:pt>
                <c:pt idx="12">
                  <c:v>"35</c:v>
                </c:pt>
                <c:pt idx="13">
                  <c:v>"36</c:v>
                </c:pt>
                <c:pt idx="14">
                  <c:v>"37</c:v>
                </c:pt>
                <c:pt idx="15">
                  <c:v>"38</c:v>
                </c:pt>
                <c:pt idx="16">
                  <c:v>"39</c:v>
                </c:pt>
                <c:pt idx="17">
                  <c:v>"40</c:v>
                </c:pt>
                <c:pt idx="18">
                  <c:v>"41</c:v>
                </c:pt>
                <c:pt idx="19">
                  <c:v>"42</c:v>
                </c:pt>
                <c:pt idx="20">
                  <c:v>"43</c:v>
                </c:pt>
                <c:pt idx="21">
                  <c:v>"44</c:v>
                </c:pt>
                <c:pt idx="22">
                  <c:v>"45</c:v>
                </c:pt>
                <c:pt idx="23">
                  <c:v>"46</c:v>
                </c:pt>
                <c:pt idx="24">
                  <c:v>"47</c:v>
                </c:pt>
                <c:pt idx="25">
                  <c:v>"48</c:v>
                </c:pt>
                <c:pt idx="26">
                  <c:v>"49</c:v>
                </c:pt>
                <c:pt idx="27">
                  <c:v>"50</c:v>
                </c:pt>
              </c:strCache>
            </c:strRef>
          </c:cat>
          <c:val>
            <c:numRef>
              <c:f>'DE 2023 Chart'!$C$5:$C$33</c:f>
              <c:numCache>
                <c:formatCode>General</c:formatCode>
                <c:ptCount val="28"/>
                <c:pt idx="0">
                  <c:v>152.30810868512188</c:v>
                </c:pt>
                <c:pt idx="1">
                  <c:v>139.9074998182233</c:v>
                </c:pt>
                <c:pt idx="2">
                  <c:v>109.85872146320619</c:v>
                </c:pt>
                <c:pt idx="3">
                  <c:v>63.6656320012885</c:v>
                </c:pt>
                <c:pt idx="4">
                  <c:v>51.147881276183298</c:v>
                </c:pt>
                <c:pt idx="5">
                  <c:v>42.502976080981703</c:v>
                </c:pt>
                <c:pt idx="6">
                  <c:v>39.176532912225504</c:v>
                </c:pt>
                <c:pt idx="7">
                  <c:v>30.3652965293142</c:v>
                </c:pt>
                <c:pt idx="8">
                  <c:v>17.375979444081199</c:v>
                </c:pt>
                <c:pt idx="9">
                  <c:v>12.652839075664</c:v>
                </c:pt>
                <c:pt idx="10">
                  <c:v>12.155674810309399</c:v>
                </c:pt>
                <c:pt idx="11">
                  <c:v>11.822124218143101</c:v>
                </c:pt>
                <c:pt idx="12">
                  <c:v>5.3880500104491</c:v>
                </c:pt>
                <c:pt idx="13">
                  <c:v>4.8649369922828001</c:v>
                </c:pt>
                <c:pt idx="14">
                  <c:v>4.7862734588341</c:v>
                </c:pt>
                <c:pt idx="15">
                  <c:v>1.9298000006700001E-2</c:v>
                </c:pt>
                <c:pt idx="16">
                  <c:v>1.2238000000000001E-2</c:v>
                </c:pt>
                <c:pt idx="17">
                  <c:v>9.41E-3</c:v>
                </c:pt>
                <c:pt idx="18">
                  <c:v>1.5095000000000001E-2</c:v>
                </c:pt>
                <c:pt idx="19">
                  <c:v>1.031E-2</c:v>
                </c:pt>
                <c:pt idx="20">
                  <c:v>2.2950000000000002E-3</c:v>
                </c:pt>
                <c:pt idx="21">
                  <c:v>4.2999999999999999E-4</c:v>
                </c:pt>
                <c:pt idx="22">
                  <c:v>0</c:v>
                </c:pt>
                <c:pt idx="23">
                  <c:v>0</c:v>
                </c:pt>
                <c:pt idx="24">
                  <c:v>0</c:v>
                </c:pt>
                <c:pt idx="25">
                  <c:v>0</c:v>
                </c:pt>
                <c:pt idx="26">
                  <c:v>0</c:v>
                </c:pt>
                <c:pt idx="27">
                  <c:v>0</c:v>
                </c:pt>
              </c:numCache>
            </c:numRef>
          </c:val>
          <c:extLst>
            <c:ext xmlns:c16="http://schemas.microsoft.com/office/drawing/2014/chart" uri="{C3380CC4-5D6E-409C-BE32-E72D297353CC}">
              <c16:uniqueId val="{00000001-02C5-413F-8230-06258D19008B}"/>
            </c:ext>
          </c:extLst>
        </c:ser>
        <c:ser>
          <c:idx val="2"/>
          <c:order val="2"/>
          <c:tx>
            <c:strRef>
              <c:f>'DE 2023 Chart'!$D$3:$D$4</c:f>
              <c:strCache>
                <c:ptCount val="1"/>
                <c:pt idx="0">
                  <c:v>Gas &amp; Hydrogen</c:v>
                </c:pt>
              </c:strCache>
            </c:strRef>
          </c:tx>
          <c:spPr>
            <a:solidFill>
              <a:srgbClr val="EF4444"/>
            </a:solidFill>
            <a:ln>
              <a:noFill/>
            </a:ln>
            <a:effectLst/>
          </c:spPr>
          <c:invertIfNegative val="0"/>
          <c:cat>
            <c:strRef>
              <c:f>'DE 2023 Chart'!$A$5:$A$33</c:f>
              <c:strCache>
                <c:ptCount val="28"/>
                <c:pt idx="0">
                  <c:v>"23</c:v>
                </c:pt>
                <c:pt idx="1">
                  <c:v>"24</c:v>
                </c:pt>
                <c:pt idx="2">
                  <c:v>"25</c:v>
                </c:pt>
                <c:pt idx="3">
                  <c:v>"26</c:v>
                </c:pt>
                <c:pt idx="4">
                  <c:v>"27</c:v>
                </c:pt>
                <c:pt idx="5">
                  <c:v>"28</c:v>
                </c:pt>
                <c:pt idx="6">
                  <c:v>"29</c:v>
                </c:pt>
                <c:pt idx="7">
                  <c:v>"30</c:v>
                </c:pt>
                <c:pt idx="8">
                  <c:v>"31</c:v>
                </c:pt>
                <c:pt idx="9">
                  <c:v>"32</c:v>
                </c:pt>
                <c:pt idx="10">
                  <c:v>"33</c:v>
                </c:pt>
                <c:pt idx="11">
                  <c:v>"34</c:v>
                </c:pt>
                <c:pt idx="12">
                  <c:v>"35</c:v>
                </c:pt>
                <c:pt idx="13">
                  <c:v>"36</c:v>
                </c:pt>
                <c:pt idx="14">
                  <c:v>"37</c:v>
                </c:pt>
                <c:pt idx="15">
                  <c:v>"38</c:v>
                </c:pt>
                <c:pt idx="16">
                  <c:v>"39</c:v>
                </c:pt>
                <c:pt idx="17">
                  <c:v>"40</c:v>
                </c:pt>
                <c:pt idx="18">
                  <c:v>"41</c:v>
                </c:pt>
                <c:pt idx="19">
                  <c:v>"42</c:v>
                </c:pt>
                <c:pt idx="20">
                  <c:v>"43</c:v>
                </c:pt>
                <c:pt idx="21">
                  <c:v>"44</c:v>
                </c:pt>
                <c:pt idx="22">
                  <c:v>"45</c:v>
                </c:pt>
                <c:pt idx="23">
                  <c:v>"46</c:v>
                </c:pt>
                <c:pt idx="24">
                  <c:v>"47</c:v>
                </c:pt>
                <c:pt idx="25">
                  <c:v>"48</c:v>
                </c:pt>
                <c:pt idx="26">
                  <c:v>"49</c:v>
                </c:pt>
                <c:pt idx="27">
                  <c:v>"50</c:v>
                </c:pt>
              </c:strCache>
            </c:strRef>
          </c:cat>
          <c:val>
            <c:numRef>
              <c:f>'DE 2023 Chart'!$D$5:$D$33</c:f>
              <c:numCache>
                <c:formatCode>General</c:formatCode>
                <c:ptCount val="28"/>
                <c:pt idx="0">
                  <c:v>117.07421419425501</c:v>
                </c:pt>
                <c:pt idx="1">
                  <c:v>108.02040265368301</c:v>
                </c:pt>
                <c:pt idx="2">
                  <c:v>126.324924206506</c:v>
                </c:pt>
                <c:pt idx="3">
                  <c:v>130.65120738368299</c:v>
                </c:pt>
                <c:pt idx="4">
                  <c:v>130.24223495200499</c:v>
                </c:pt>
                <c:pt idx="5">
                  <c:v>127.345367102843</c:v>
                </c:pt>
                <c:pt idx="6">
                  <c:v>121.542710948104</c:v>
                </c:pt>
                <c:pt idx="7">
                  <c:v>115.10319057106011</c:v>
                </c:pt>
                <c:pt idx="8">
                  <c:v>111.5367706668643</c:v>
                </c:pt>
                <c:pt idx="9">
                  <c:v>106.1129928729016</c:v>
                </c:pt>
                <c:pt idx="10">
                  <c:v>102.63487380296</c:v>
                </c:pt>
                <c:pt idx="11">
                  <c:v>102.13521929773771</c:v>
                </c:pt>
                <c:pt idx="12">
                  <c:v>95.679545745476105</c:v>
                </c:pt>
                <c:pt idx="13">
                  <c:v>92.672298256647892</c:v>
                </c:pt>
                <c:pt idx="14">
                  <c:v>84.964715230578406</c:v>
                </c:pt>
                <c:pt idx="15">
                  <c:v>81.792409052359403</c:v>
                </c:pt>
                <c:pt idx="16">
                  <c:v>77.110696028880795</c:v>
                </c:pt>
                <c:pt idx="17">
                  <c:v>67.794305949564304</c:v>
                </c:pt>
                <c:pt idx="18">
                  <c:v>65.448395974476995</c:v>
                </c:pt>
                <c:pt idx="19">
                  <c:v>54.103422926418602</c:v>
                </c:pt>
                <c:pt idx="20">
                  <c:v>50.311901599789699</c:v>
                </c:pt>
                <c:pt idx="21">
                  <c:v>44.872247100014604</c:v>
                </c:pt>
                <c:pt idx="22">
                  <c:v>43.3156064248383</c:v>
                </c:pt>
                <c:pt idx="23">
                  <c:v>39.952544038025501</c:v>
                </c:pt>
                <c:pt idx="24">
                  <c:v>38.869170182679397</c:v>
                </c:pt>
                <c:pt idx="25">
                  <c:v>37.5810053823838</c:v>
                </c:pt>
                <c:pt idx="26">
                  <c:v>34.559895597655498</c:v>
                </c:pt>
                <c:pt idx="27">
                  <c:v>33.8869395629672</c:v>
                </c:pt>
              </c:numCache>
            </c:numRef>
          </c:val>
          <c:extLst>
            <c:ext xmlns:c16="http://schemas.microsoft.com/office/drawing/2014/chart" uri="{C3380CC4-5D6E-409C-BE32-E72D297353CC}">
              <c16:uniqueId val="{00000002-02C5-413F-8230-06258D19008B}"/>
            </c:ext>
          </c:extLst>
        </c:ser>
        <c:ser>
          <c:idx val="3"/>
          <c:order val="3"/>
          <c:tx>
            <c:strRef>
              <c:f>'DE 2023 Chart'!$E$3:$E$4</c:f>
              <c:strCache>
                <c:ptCount val="1"/>
                <c:pt idx="0">
                  <c:v>Hydro</c:v>
                </c:pt>
              </c:strCache>
            </c:strRef>
          </c:tx>
          <c:spPr>
            <a:solidFill>
              <a:srgbClr val="7F46EA"/>
            </a:solidFill>
            <a:ln>
              <a:noFill/>
            </a:ln>
            <a:effectLst/>
          </c:spPr>
          <c:invertIfNegative val="0"/>
          <c:cat>
            <c:strRef>
              <c:f>'DE 2023 Chart'!$A$5:$A$33</c:f>
              <c:strCache>
                <c:ptCount val="28"/>
                <c:pt idx="0">
                  <c:v>"23</c:v>
                </c:pt>
                <c:pt idx="1">
                  <c:v>"24</c:v>
                </c:pt>
                <c:pt idx="2">
                  <c:v>"25</c:v>
                </c:pt>
                <c:pt idx="3">
                  <c:v>"26</c:v>
                </c:pt>
                <c:pt idx="4">
                  <c:v>"27</c:v>
                </c:pt>
                <c:pt idx="5">
                  <c:v>"28</c:v>
                </c:pt>
                <c:pt idx="6">
                  <c:v>"29</c:v>
                </c:pt>
                <c:pt idx="7">
                  <c:v>"30</c:v>
                </c:pt>
                <c:pt idx="8">
                  <c:v>"31</c:v>
                </c:pt>
                <c:pt idx="9">
                  <c:v>"32</c:v>
                </c:pt>
                <c:pt idx="10">
                  <c:v>"33</c:v>
                </c:pt>
                <c:pt idx="11">
                  <c:v>"34</c:v>
                </c:pt>
                <c:pt idx="12">
                  <c:v>"35</c:v>
                </c:pt>
                <c:pt idx="13">
                  <c:v>"36</c:v>
                </c:pt>
                <c:pt idx="14">
                  <c:v>"37</c:v>
                </c:pt>
                <c:pt idx="15">
                  <c:v>"38</c:v>
                </c:pt>
                <c:pt idx="16">
                  <c:v>"39</c:v>
                </c:pt>
                <c:pt idx="17">
                  <c:v>"40</c:v>
                </c:pt>
                <c:pt idx="18">
                  <c:v>"41</c:v>
                </c:pt>
                <c:pt idx="19">
                  <c:v>"42</c:v>
                </c:pt>
                <c:pt idx="20">
                  <c:v>"43</c:v>
                </c:pt>
                <c:pt idx="21">
                  <c:v>"44</c:v>
                </c:pt>
                <c:pt idx="22">
                  <c:v>"45</c:v>
                </c:pt>
                <c:pt idx="23">
                  <c:v>"46</c:v>
                </c:pt>
                <c:pt idx="24">
                  <c:v>"47</c:v>
                </c:pt>
                <c:pt idx="25">
                  <c:v>"48</c:v>
                </c:pt>
                <c:pt idx="26">
                  <c:v>"49</c:v>
                </c:pt>
                <c:pt idx="27">
                  <c:v>"50</c:v>
                </c:pt>
              </c:strCache>
            </c:strRef>
          </c:cat>
          <c:val>
            <c:numRef>
              <c:f>'DE 2023 Chart'!$E$5:$E$33</c:f>
              <c:numCache>
                <c:formatCode>General</c:formatCode>
                <c:ptCount val="28"/>
                <c:pt idx="0">
                  <c:v>15.157386587097299</c:v>
                </c:pt>
                <c:pt idx="1">
                  <c:v>15.156093476406401</c:v>
                </c:pt>
                <c:pt idx="2">
                  <c:v>15.1030032330429</c:v>
                </c:pt>
                <c:pt idx="3">
                  <c:v>14.8888907695968</c:v>
                </c:pt>
                <c:pt idx="4">
                  <c:v>14.667012606623301</c:v>
                </c:pt>
                <c:pt idx="5">
                  <c:v>14.411451656271</c:v>
                </c:pt>
                <c:pt idx="6">
                  <c:v>14.0586191163731</c:v>
                </c:pt>
                <c:pt idx="7">
                  <c:v>13.6972505197382</c:v>
                </c:pt>
                <c:pt idx="8">
                  <c:v>13.632670521119801</c:v>
                </c:pt>
                <c:pt idx="9">
                  <c:v>13.5936017241944</c:v>
                </c:pt>
                <c:pt idx="10">
                  <c:v>13.4778436802595</c:v>
                </c:pt>
                <c:pt idx="11">
                  <c:v>13.5011826601593</c:v>
                </c:pt>
                <c:pt idx="12">
                  <c:v>13.718314623443799</c:v>
                </c:pt>
                <c:pt idx="13">
                  <c:v>13.6906175669176</c:v>
                </c:pt>
                <c:pt idx="14">
                  <c:v>13.6190568861636</c:v>
                </c:pt>
                <c:pt idx="15">
                  <c:v>13.703470057634</c:v>
                </c:pt>
                <c:pt idx="16">
                  <c:v>13.6616381476697</c:v>
                </c:pt>
                <c:pt idx="17">
                  <c:v>13.8020796668903</c:v>
                </c:pt>
                <c:pt idx="18">
                  <c:v>13.5676393804331</c:v>
                </c:pt>
                <c:pt idx="19">
                  <c:v>13.4277019728213</c:v>
                </c:pt>
                <c:pt idx="20">
                  <c:v>13.2348922970111</c:v>
                </c:pt>
                <c:pt idx="21">
                  <c:v>13.025066553882001</c:v>
                </c:pt>
                <c:pt idx="22">
                  <c:v>12.981075523509601</c:v>
                </c:pt>
                <c:pt idx="23">
                  <c:v>12.894347922724499</c:v>
                </c:pt>
                <c:pt idx="24">
                  <c:v>12.6685270751152</c:v>
                </c:pt>
                <c:pt idx="25">
                  <c:v>12.480788529492701</c:v>
                </c:pt>
                <c:pt idx="26">
                  <c:v>12.431778026978799</c:v>
                </c:pt>
                <c:pt idx="27">
                  <c:v>12.234137698568601</c:v>
                </c:pt>
              </c:numCache>
            </c:numRef>
          </c:val>
          <c:extLst>
            <c:ext xmlns:c16="http://schemas.microsoft.com/office/drawing/2014/chart" uri="{C3380CC4-5D6E-409C-BE32-E72D297353CC}">
              <c16:uniqueId val="{00000003-02C5-413F-8230-06258D19008B}"/>
            </c:ext>
          </c:extLst>
        </c:ser>
        <c:ser>
          <c:idx val="4"/>
          <c:order val="4"/>
          <c:tx>
            <c:strRef>
              <c:f>'DE 2023 Chart'!$F$3:$F$4</c:f>
              <c:strCache>
                <c:ptCount val="1"/>
                <c:pt idx="0">
                  <c:v>Offshore Wind</c:v>
                </c:pt>
              </c:strCache>
            </c:strRef>
          </c:tx>
          <c:spPr>
            <a:solidFill>
              <a:srgbClr val="3B82F6"/>
            </a:solidFill>
            <a:ln>
              <a:noFill/>
            </a:ln>
            <a:effectLst/>
          </c:spPr>
          <c:invertIfNegative val="0"/>
          <c:cat>
            <c:strRef>
              <c:f>'DE 2023 Chart'!$A$5:$A$33</c:f>
              <c:strCache>
                <c:ptCount val="28"/>
                <c:pt idx="0">
                  <c:v>"23</c:v>
                </c:pt>
                <c:pt idx="1">
                  <c:v>"24</c:v>
                </c:pt>
                <c:pt idx="2">
                  <c:v>"25</c:v>
                </c:pt>
                <c:pt idx="3">
                  <c:v>"26</c:v>
                </c:pt>
                <c:pt idx="4">
                  <c:v>"27</c:v>
                </c:pt>
                <c:pt idx="5">
                  <c:v>"28</c:v>
                </c:pt>
                <c:pt idx="6">
                  <c:v>"29</c:v>
                </c:pt>
                <c:pt idx="7">
                  <c:v>"30</c:v>
                </c:pt>
                <c:pt idx="8">
                  <c:v>"31</c:v>
                </c:pt>
                <c:pt idx="9">
                  <c:v>"32</c:v>
                </c:pt>
                <c:pt idx="10">
                  <c:v>"33</c:v>
                </c:pt>
                <c:pt idx="11">
                  <c:v>"34</c:v>
                </c:pt>
                <c:pt idx="12">
                  <c:v>"35</c:v>
                </c:pt>
                <c:pt idx="13">
                  <c:v>"36</c:v>
                </c:pt>
                <c:pt idx="14">
                  <c:v>"37</c:v>
                </c:pt>
                <c:pt idx="15">
                  <c:v>"38</c:v>
                </c:pt>
                <c:pt idx="16">
                  <c:v>"39</c:v>
                </c:pt>
                <c:pt idx="17">
                  <c:v>"40</c:v>
                </c:pt>
                <c:pt idx="18">
                  <c:v>"41</c:v>
                </c:pt>
                <c:pt idx="19">
                  <c:v>"42</c:v>
                </c:pt>
                <c:pt idx="20">
                  <c:v>"43</c:v>
                </c:pt>
                <c:pt idx="21">
                  <c:v>"44</c:v>
                </c:pt>
                <c:pt idx="22">
                  <c:v>"45</c:v>
                </c:pt>
                <c:pt idx="23">
                  <c:v>"46</c:v>
                </c:pt>
                <c:pt idx="24">
                  <c:v>"47</c:v>
                </c:pt>
                <c:pt idx="25">
                  <c:v>"48</c:v>
                </c:pt>
                <c:pt idx="26">
                  <c:v>"49</c:v>
                </c:pt>
                <c:pt idx="27">
                  <c:v>"50</c:v>
                </c:pt>
              </c:strCache>
            </c:strRef>
          </c:cat>
          <c:val>
            <c:numRef>
              <c:f>'DE 2023 Chart'!$F$5:$F$33</c:f>
              <c:numCache>
                <c:formatCode>General</c:formatCode>
                <c:ptCount val="28"/>
                <c:pt idx="0">
                  <c:v>28.925381889014002</c:v>
                </c:pt>
                <c:pt idx="1">
                  <c:v>30.522875273324999</c:v>
                </c:pt>
                <c:pt idx="2">
                  <c:v>35.104544831442603</c:v>
                </c:pt>
                <c:pt idx="3">
                  <c:v>41.714686328943401</c:v>
                </c:pt>
                <c:pt idx="4">
                  <c:v>47.258987266391898</c:v>
                </c:pt>
                <c:pt idx="5">
                  <c:v>51.519088940844298</c:v>
                </c:pt>
                <c:pt idx="6">
                  <c:v>62.9040498868982</c:v>
                </c:pt>
                <c:pt idx="7">
                  <c:v>85.526906121314994</c:v>
                </c:pt>
                <c:pt idx="8">
                  <c:v>95.091756663079295</c:v>
                </c:pt>
                <c:pt idx="9">
                  <c:v>105.005157164241</c:v>
                </c:pt>
                <c:pt idx="10">
                  <c:v>113.833410497893</c:v>
                </c:pt>
                <c:pt idx="11">
                  <c:v>122.862549941615</c:v>
                </c:pt>
                <c:pt idx="12">
                  <c:v>133.07716778198301</c:v>
                </c:pt>
                <c:pt idx="13">
                  <c:v>148.698177579537</c:v>
                </c:pt>
                <c:pt idx="14">
                  <c:v>163.75552124215201</c:v>
                </c:pt>
                <c:pt idx="15">
                  <c:v>179.469563237459</c:v>
                </c:pt>
                <c:pt idx="16">
                  <c:v>194.58736467853399</c:v>
                </c:pt>
                <c:pt idx="17">
                  <c:v>211.83446985077501</c:v>
                </c:pt>
                <c:pt idx="18">
                  <c:v>228.75093939347201</c:v>
                </c:pt>
                <c:pt idx="19">
                  <c:v>246.42073023538899</c:v>
                </c:pt>
                <c:pt idx="20">
                  <c:v>264.35314752904901</c:v>
                </c:pt>
                <c:pt idx="21">
                  <c:v>282.954781482177</c:v>
                </c:pt>
                <c:pt idx="22">
                  <c:v>300.66907194304599</c:v>
                </c:pt>
                <c:pt idx="23">
                  <c:v>304.08310557471702</c:v>
                </c:pt>
                <c:pt idx="24">
                  <c:v>308.20726113135601</c:v>
                </c:pt>
                <c:pt idx="25">
                  <c:v>312.84112816675503</c:v>
                </c:pt>
                <c:pt idx="26">
                  <c:v>315.86373297959</c:v>
                </c:pt>
                <c:pt idx="27">
                  <c:v>319.70689350452301</c:v>
                </c:pt>
              </c:numCache>
            </c:numRef>
          </c:val>
          <c:extLst>
            <c:ext xmlns:c16="http://schemas.microsoft.com/office/drawing/2014/chart" uri="{C3380CC4-5D6E-409C-BE32-E72D297353CC}">
              <c16:uniqueId val="{00000004-02C5-413F-8230-06258D19008B}"/>
            </c:ext>
          </c:extLst>
        </c:ser>
        <c:ser>
          <c:idx val="5"/>
          <c:order val="5"/>
          <c:tx>
            <c:strRef>
              <c:f>'DE 2023 Chart'!$G$3:$G$4</c:f>
              <c:strCache>
                <c:ptCount val="1"/>
                <c:pt idx="0">
                  <c:v>Onshore Wind</c:v>
                </c:pt>
              </c:strCache>
            </c:strRef>
          </c:tx>
          <c:spPr>
            <a:solidFill>
              <a:srgbClr val="10B981"/>
            </a:solidFill>
            <a:ln>
              <a:noFill/>
            </a:ln>
            <a:effectLst/>
          </c:spPr>
          <c:invertIfNegative val="0"/>
          <c:cat>
            <c:strRef>
              <c:f>'DE 2023 Chart'!$A$5:$A$33</c:f>
              <c:strCache>
                <c:ptCount val="28"/>
                <c:pt idx="0">
                  <c:v>"23</c:v>
                </c:pt>
                <c:pt idx="1">
                  <c:v>"24</c:v>
                </c:pt>
                <c:pt idx="2">
                  <c:v>"25</c:v>
                </c:pt>
                <c:pt idx="3">
                  <c:v>"26</c:v>
                </c:pt>
                <c:pt idx="4">
                  <c:v>"27</c:v>
                </c:pt>
                <c:pt idx="5">
                  <c:v>"28</c:v>
                </c:pt>
                <c:pt idx="6">
                  <c:v>"29</c:v>
                </c:pt>
                <c:pt idx="7">
                  <c:v>"30</c:v>
                </c:pt>
                <c:pt idx="8">
                  <c:v>"31</c:v>
                </c:pt>
                <c:pt idx="9">
                  <c:v>"32</c:v>
                </c:pt>
                <c:pt idx="10">
                  <c:v>"33</c:v>
                </c:pt>
                <c:pt idx="11">
                  <c:v>"34</c:v>
                </c:pt>
                <c:pt idx="12">
                  <c:v>"35</c:v>
                </c:pt>
                <c:pt idx="13">
                  <c:v>"36</c:v>
                </c:pt>
                <c:pt idx="14">
                  <c:v>"37</c:v>
                </c:pt>
                <c:pt idx="15">
                  <c:v>"38</c:v>
                </c:pt>
                <c:pt idx="16">
                  <c:v>"39</c:v>
                </c:pt>
                <c:pt idx="17">
                  <c:v>"40</c:v>
                </c:pt>
                <c:pt idx="18">
                  <c:v>"41</c:v>
                </c:pt>
                <c:pt idx="19">
                  <c:v>"42</c:v>
                </c:pt>
                <c:pt idx="20">
                  <c:v>"43</c:v>
                </c:pt>
                <c:pt idx="21">
                  <c:v>"44</c:v>
                </c:pt>
                <c:pt idx="22">
                  <c:v>"45</c:v>
                </c:pt>
                <c:pt idx="23">
                  <c:v>"46</c:v>
                </c:pt>
                <c:pt idx="24">
                  <c:v>"47</c:v>
                </c:pt>
                <c:pt idx="25">
                  <c:v>"48</c:v>
                </c:pt>
                <c:pt idx="26">
                  <c:v>"49</c:v>
                </c:pt>
                <c:pt idx="27">
                  <c:v>"50</c:v>
                </c:pt>
              </c:strCache>
            </c:strRef>
          </c:cat>
          <c:val>
            <c:numRef>
              <c:f>'DE 2023 Chart'!$G$5:$G$33</c:f>
              <c:numCache>
                <c:formatCode>General</c:formatCode>
                <c:ptCount val="28"/>
                <c:pt idx="0">
                  <c:v>104.711351127806</c:v>
                </c:pt>
                <c:pt idx="1">
                  <c:v>107.41787820215799</c:v>
                </c:pt>
                <c:pt idx="2">
                  <c:v>114.166242238355</c:v>
                </c:pt>
                <c:pt idx="3">
                  <c:v>124.46941377187601</c:v>
                </c:pt>
                <c:pt idx="4">
                  <c:v>131.16961615934301</c:v>
                </c:pt>
                <c:pt idx="5">
                  <c:v>138.86348106324601</c:v>
                </c:pt>
                <c:pt idx="6">
                  <c:v>145.51520895469099</c:v>
                </c:pt>
                <c:pt idx="7">
                  <c:v>153.82905043837101</c:v>
                </c:pt>
                <c:pt idx="8">
                  <c:v>165.43161754103301</c:v>
                </c:pt>
                <c:pt idx="9">
                  <c:v>178.544896787167</c:v>
                </c:pt>
                <c:pt idx="10">
                  <c:v>188.33961517956899</c:v>
                </c:pt>
                <c:pt idx="11">
                  <c:v>199.571276480222</c:v>
                </c:pt>
                <c:pt idx="12">
                  <c:v>211.958577169867</c:v>
                </c:pt>
                <c:pt idx="13">
                  <c:v>224.63593696793799</c:v>
                </c:pt>
                <c:pt idx="14">
                  <c:v>235.771068242756</c:v>
                </c:pt>
                <c:pt idx="15">
                  <c:v>248.49131448771601</c:v>
                </c:pt>
                <c:pt idx="16">
                  <c:v>261.45305552047199</c:v>
                </c:pt>
                <c:pt idx="17">
                  <c:v>276.83365103867698</c:v>
                </c:pt>
                <c:pt idx="18">
                  <c:v>287.98570424926902</c:v>
                </c:pt>
                <c:pt idx="19">
                  <c:v>300.71809032100299</c:v>
                </c:pt>
                <c:pt idx="20">
                  <c:v>313.96852637619497</c:v>
                </c:pt>
                <c:pt idx="21">
                  <c:v>326.83620769824603</c:v>
                </c:pt>
                <c:pt idx="22">
                  <c:v>334.154420016887</c:v>
                </c:pt>
                <c:pt idx="23">
                  <c:v>343.482731392407</c:v>
                </c:pt>
                <c:pt idx="24">
                  <c:v>352.33031860510499</c:v>
                </c:pt>
                <c:pt idx="25">
                  <c:v>363.70666167300402</c:v>
                </c:pt>
                <c:pt idx="26">
                  <c:v>372.56379735633101</c:v>
                </c:pt>
                <c:pt idx="27">
                  <c:v>381.85357083943899</c:v>
                </c:pt>
              </c:numCache>
            </c:numRef>
          </c:val>
          <c:extLst>
            <c:ext xmlns:c16="http://schemas.microsoft.com/office/drawing/2014/chart" uri="{C3380CC4-5D6E-409C-BE32-E72D297353CC}">
              <c16:uniqueId val="{00000005-02C5-413F-8230-06258D19008B}"/>
            </c:ext>
          </c:extLst>
        </c:ser>
        <c:ser>
          <c:idx val="6"/>
          <c:order val="6"/>
          <c:tx>
            <c:strRef>
              <c:f>'DE 2023 Chart'!$H$3:$H$4</c:f>
              <c:strCache>
                <c:ptCount val="1"/>
                <c:pt idx="0">
                  <c:v>Solar Pv</c:v>
                </c:pt>
              </c:strCache>
            </c:strRef>
          </c:tx>
          <c:spPr>
            <a:solidFill>
              <a:srgbClr val="F59E0B"/>
            </a:solidFill>
            <a:ln>
              <a:noFill/>
            </a:ln>
            <a:effectLst/>
          </c:spPr>
          <c:invertIfNegative val="0"/>
          <c:cat>
            <c:strRef>
              <c:f>'DE 2023 Chart'!$A$5:$A$33</c:f>
              <c:strCache>
                <c:ptCount val="28"/>
                <c:pt idx="0">
                  <c:v>"23</c:v>
                </c:pt>
                <c:pt idx="1">
                  <c:v>"24</c:v>
                </c:pt>
                <c:pt idx="2">
                  <c:v>"25</c:v>
                </c:pt>
                <c:pt idx="3">
                  <c:v>"26</c:v>
                </c:pt>
                <c:pt idx="4">
                  <c:v>"27</c:v>
                </c:pt>
                <c:pt idx="5">
                  <c:v>"28</c:v>
                </c:pt>
                <c:pt idx="6">
                  <c:v>"29</c:v>
                </c:pt>
                <c:pt idx="7">
                  <c:v>"30</c:v>
                </c:pt>
                <c:pt idx="8">
                  <c:v>"31</c:v>
                </c:pt>
                <c:pt idx="9">
                  <c:v>"32</c:v>
                </c:pt>
                <c:pt idx="10">
                  <c:v>"33</c:v>
                </c:pt>
                <c:pt idx="11">
                  <c:v>"34</c:v>
                </c:pt>
                <c:pt idx="12">
                  <c:v>"35</c:v>
                </c:pt>
                <c:pt idx="13">
                  <c:v>"36</c:v>
                </c:pt>
                <c:pt idx="14">
                  <c:v>"37</c:v>
                </c:pt>
                <c:pt idx="15">
                  <c:v>"38</c:v>
                </c:pt>
                <c:pt idx="16">
                  <c:v>"39</c:v>
                </c:pt>
                <c:pt idx="17">
                  <c:v>"40</c:v>
                </c:pt>
                <c:pt idx="18">
                  <c:v>"41</c:v>
                </c:pt>
                <c:pt idx="19">
                  <c:v>"42</c:v>
                </c:pt>
                <c:pt idx="20">
                  <c:v>"43</c:v>
                </c:pt>
                <c:pt idx="21">
                  <c:v>"44</c:v>
                </c:pt>
                <c:pt idx="22">
                  <c:v>"45</c:v>
                </c:pt>
                <c:pt idx="23">
                  <c:v>"46</c:v>
                </c:pt>
                <c:pt idx="24">
                  <c:v>"47</c:v>
                </c:pt>
                <c:pt idx="25">
                  <c:v>"48</c:v>
                </c:pt>
                <c:pt idx="26">
                  <c:v>"49</c:v>
                </c:pt>
                <c:pt idx="27">
                  <c:v>"50</c:v>
                </c:pt>
              </c:strCache>
            </c:strRef>
          </c:cat>
          <c:val>
            <c:numRef>
              <c:f>'DE 2023 Chart'!$H$5:$H$33</c:f>
              <c:numCache>
                <c:formatCode>General</c:formatCode>
                <c:ptCount val="28"/>
                <c:pt idx="0">
                  <c:v>68.041063974099302</c:v>
                </c:pt>
                <c:pt idx="1">
                  <c:v>75.608738999778495</c:v>
                </c:pt>
                <c:pt idx="2">
                  <c:v>85.963902361330696</c:v>
                </c:pt>
                <c:pt idx="3">
                  <c:v>99.332312291677397</c:v>
                </c:pt>
                <c:pt idx="4">
                  <c:v>113.518217920832</c:v>
                </c:pt>
                <c:pt idx="5">
                  <c:v>127.831741609771</c:v>
                </c:pt>
                <c:pt idx="6">
                  <c:v>141.110315862379</c:v>
                </c:pt>
                <c:pt idx="7">
                  <c:v>154.55339461849201</c:v>
                </c:pt>
                <c:pt idx="8">
                  <c:v>158.72782396769</c:v>
                </c:pt>
                <c:pt idx="9">
                  <c:v>163.70350141601699</c:v>
                </c:pt>
                <c:pt idx="10">
                  <c:v>167.31491471033101</c:v>
                </c:pt>
                <c:pt idx="11">
                  <c:v>171.72158066359501</c:v>
                </c:pt>
                <c:pt idx="12">
                  <c:v>176.90841218875201</c:v>
                </c:pt>
                <c:pt idx="13">
                  <c:v>183.75821088429501</c:v>
                </c:pt>
                <c:pt idx="14">
                  <c:v>190.22241696864199</c:v>
                </c:pt>
                <c:pt idx="15">
                  <c:v>196.91416795927401</c:v>
                </c:pt>
                <c:pt idx="16">
                  <c:v>202.09049262579401</c:v>
                </c:pt>
                <c:pt idx="17">
                  <c:v>207.73260699480301</c:v>
                </c:pt>
                <c:pt idx="18">
                  <c:v>213.11414459670499</c:v>
                </c:pt>
                <c:pt idx="19">
                  <c:v>218.56091992566101</c:v>
                </c:pt>
                <c:pt idx="20">
                  <c:v>223.68443016285701</c:v>
                </c:pt>
                <c:pt idx="21">
                  <c:v>228.485935194402</c:v>
                </c:pt>
                <c:pt idx="22">
                  <c:v>233.715157782067</c:v>
                </c:pt>
                <c:pt idx="23">
                  <c:v>237.712918883675</c:v>
                </c:pt>
                <c:pt idx="24">
                  <c:v>242.24256436246</c:v>
                </c:pt>
                <c:pt idx="25">
                  <c:v>247.58606588313401</c:v>
                </c:pt>
                <c:pt idx="26">
                  <c:v>250.85818260186099</c:v>
                </c:pt>
                <c:pt idx="27">
                  <c:v>254.29827478612901</c:v>
                </c:pt>
              </c:numCache>
            </c:numRef>
          </c:val>
          <c:extLst>
            <c:ext xmlns:c16="http://schemas.microsoft.com/office/drawing/2014/chart" uri="{C3380CC4-5D6E-409C-BE32-E72D297353CC}">
              <c16:uniqueId val="{00000006-02C5-413F-8230-06258D19008B}"/>
            </c:ext>
          </c:extLst>
        </c:ser>
        <c:dLbls>
          <c:showLegendKey val="0"/>
          <c:showVal val="0"/>
          <c:showCatName val="0"/>
          <c:showSerName val="0"/>
          <c:showPercent val="0"/>
          <c:showBubbleSize val="0"/>
        </c:dLbls>
        <c:gapWidth val="219"/>
        <c:overlap val="100"/>
        <c:axId val="1871472720"/>
        <c:axId val="1871479920"/>
      </c:barChart>
      <c:catAx>
        <c:axId val="18714727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mn-lt"/>
                <a:ea typeface="+mn-ea"/>
                <a:cs typeface="+mn-cs"/>
              </a:defRPr>
            </a:pPr>
            <a:endParaRPr lang="en-US"/>
          </a:p>
        </c:txPr>
        <c:crossAx val="1871479920"/>
        <c:crosses val="autoZero"/>
        <c:auto val="1"/>
        <c:lblAlgn val="ctr"/>
        <c:lblOffset val="100"/>
        <c:noMultiLvlLbl val="0"/>
      </c:catAx>
      <c:valAx>
        <c:axId val="187147992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mn-lt"/>
                <a:ea typeface="+mn-ea"/>
                <a:cs typeface="+mn-cs"/>
              </a:defRPr>
            </a:pPr>
            <a:endParaRPr lang="en-US"/>
          </a:p>
        </c:txPr>
        <c:crossAx val="1871472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bg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[Book2 (version 2).xlsb]Sheet13!PivotTable8</c:name>
    <c:fmtId val="16"/>
  </c:pivotSource>
  <c:chart>
    <c:autoTitleDeleted val="0"/>
    <c:pivotFmts>
      <c:pivotFmt>
        <c:idx val="0"/>
        <c:spPr>
          <a:solidFill>
            <a:schemeClr val="accent1"/>
          </a:solidFill>
          <a:ln w="28575" cap="rnd">
            <a:solidFill>
              <a:schemeClr val="accent1"/>
            </a:solidFill>
            <a:round/>
          </a:ln>
          <a:effectLst/>
        </c:spPr>
        <c:marker>
          <c:symbol val="circle"/>
          <c:size val="5"/>
          <c:spPr>
            <a:solidFill>
              <a:srgbClr val="00B0F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rgbClr val="FFC000"/>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rgbClr val="00B0F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circle"/>
          <c:size val="5"/>
          <c:spPr>
            <a:solidFill>
              <a:srgbClr val="FFC000"/>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circle"/>
          <c:size val="5"/>
          <c:spPr>
            <a:solidFill>
              <a:srgbClr val="00B0F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circle"/>
          <c:size val="5"/>
          <c:spPr>
            <a:solidFill>
              <a:srgbClr val="FFC000"/>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7.6691220049106765E-2"/>
          <c:y val="0.14937986111111112"/>
          <c:w val="0.86416899500465683"/>
          <c:h val="0.7776464646464647"/>
        </c:manualLayout>
      </c:layout>
      <c:lineChart>
        <c:grouping val="standard"/>
        <c:varyColors val="0"/>
        <c:ser>
          <c:idx val="0"/>
          <c:order val="0"/>
          <c:tx>
            <c:strRef>
              <c:f>Sheet13!$B$1</c:f>
              <c:strCache>
                <c:ptCount val="1"/>
                <c:pt idx="0">
                  <c:v>GB-Solar PV</c:v>
                </c:pt>
              </c:strCache>
            </c:strRef>
          </c:tx>
          <c:spPr>
            <a:ln w="28575" cap="rnd">
              <a:solidFill>
                <a:srgbClr val="00B0F0"/>
              </a:solidFill>
              <a:round/>
            </a:ln>
            <a:effectLst/>
          </c:spPr>
          <c:marker>
            <c:symbol val="circle"/>
            <c:size val="5"/>
            <c:spPr>
              <a:solidFill>
                <a:srgbClr val="00B0F0"/>
              </a:solidFill>
              <a:ln w="9525">
                <a:solidFill>
                  <a:schemeClr val="accent1"/>
                </a:solidFill>
              </a:ln>
              <a:effectLst/>
            </c:spPr>
          </c:marker>
          <c:cat>
            <c:strRef>
              <c:f>Sheet13!$A$2:$A$31</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Sheet13!$B$2:$B$31</c:f>
              <c:numCache>
                <c:formatCode>General</c:formatCode>
                <c:ptCount val="29"/>
                <c:pt idx="0">
                  <c:v>178.09200000000001</c:v>
                </c:pt>
                <c:pt idx="1">
                  <c:v>155.57400000000001</c:v>
                </c:pt>
                <c:pt idx="2">
                  <c:v>119.274</c:v>
                </c:pt>
                <c:pt idx="3">
                  <c:v>93.798000000000002</c:v>
                </c:pt>
                <c:pt idx="4">
                  <c:v>77.585999999999999</c:v>
                </c:pt>
                <c:pt idx="5">
                  <c:v>72.953999999999994</c:v>
                </c:pt>
                <c:pt idx="6">
                  <c:v>68.322000000000003</c:v>
                </c:pt>
                <c:pt idx="7">
                  <c:v>63.69</c:v>
                </c:pt>
                <c:pt idx="8">
                  <c:v>60.216000000000001</c:v>
                </c:pt>
                <c:pt idx="9">
                  <c:v>61.374000000000002</c:v>
                </c:pt>
                <c:pt idx="10">
                  <c:v>59.058</c:v>
                </c:pt>
                <c:pt idx="11">
                  <c:v>59.058</c:v>
                </c:pt>
                <c:pt idx="12">
                  <c:v>57.9</c:v>
                </c:pt>
                <c:pt idx="13">
                  <c:v>55.584000000000003</c:v>
                </c:pt>
                <c:pt idx="14">
                  <c:v>55.584000000000003</c:v>
                </c:pt>
                <c:pt idx="15">
                  <c:v>55.584000000000003</c:v>
                </c:pt>
                <c:pt idx="16">
                  <c:v>53.268000000000001</c:v>
                </c:pt>
                <c:pt idx="17">
                  <c:v>53.268000000000001</c:v>
                </c:pt>
                <c:pt idx="18">
                  <c:v>50.951999999999998</c:v>
                </c:pt>
                <c:pt idx="19">
                  <c:v>49.793999999999997</c:v>
                </c:pt>
                <c:pt idx="20">
                  <c:v>47.478000000000002</c:v>
                </c:pt>
                <c:pt idx="21">
                  <c:v>46.32</c:v>
                </c:pt>
                <c:pt idx="22">
                  <c:v>45.161999999999999</c:v>
                </c:pt>
                <c:pt idx="23">
                  <c:v>45.161999999999999</c:v>
                </c:pt>
                <c:pt idx="24">
                  <c:v>45.161999999999999</c:v>
                </c:pt>
                <c:pt idx="25">
                  <c:v>45.161999999999999</c:v>
                </c:pt>
                <c:pt idx="26">
                  <c:v>45.161999999999999</c:v>
                </c:pt>
                <c:pt idx="27">
                  <c:v>46.32</c:v>
                </c:pt>
                <c:pt idx="28">
                  <c:v>45.161999999999999</c:v>
                </c:pt>
              </c:numCache>
            </c:numRef>
          </c:val>
          <c:smooth val="0"/>
          <c:extLst>
            <c:ext xmlns:c16="http://schemas.microsoft.com/office/drawing/2014/chart" uri="{C3380CC4-5D6E-409C-BE32-E72D297353CC}">
              <c16:uniqueId val="{00000000-8953-4AFA-B3E6-A76DCC2581A7}"/>
            </c:ext>
          </c:extLst>
        </c:ser>
        <c:ser>
          <c:idx val="1"/>
          <c:order val="1"/>
          <c:tx>
            <c:strRef>
              <c:f>Sheet13!$C$1</c:f>
              <c:strCache>
                <c:ptCount val="1"/>
                <c:pt idx="0">
                  <c:v>DE-Onshore Wind</c:v>
                </c:pt>
              </c:strCache>
            </c:strRef>
          </c:tx>
          <c:spPr>
            <a:ln w="28575" cap="rnd">
              <a:solidFill>
                <a:srgbClr val="FFC000"/>
              </a:solidFill>
              <a:round/>
            </a:ln>
            <a:effectLst/>
          </c:spPr>
          <c:marker>
            <c:symbol val="circle"/>
            <c:size val="5"/>
            <c:spPr>
              <a:solidFill>
                <a:srgbClr val="FFC000"/>
              </a:solidFill>
              <a:ln w="9525">
                <a:solidFill>
                  <a:schemeClr val="accent2"/>
                </a:solidFill>
              </a:ln>
              <a:effectLst/>
            </c:spPr>
          </c:marker>
          <c:cat>
            <c:strRef>
              <c:f>Sheet13!$A$2:$A$31</c:f>
              <c:strCache>
                <c:ptCount val="29"/>
                <c:pt idx="0">
                  <c:v>"22</c:v>
                </c:pt>
                <c:pt idx="1">
                  <c:v>"23</c:v>
                </c:pt>
                <c:pt idx="2">
                  <c:v>"24</c:v>
                </c:pt>
                <c:pt idx="3">
                  <c:v>"25</c:v>
                </c:pt>
                <c:pt idx="4">
                  <c:v>"26</c:v>
                </c:pt>
                <c:pt idx="5">
                  <c:v>"27</c:v>
                </c:pt>
                <c:pt idx="6">
                  <c:v>"28</c:v>
                </c:pt>
                <c:pt idx="7">
                  <c:v>"29</c:v>
                </c:pt>
                <c:pt idx="8">
                  <c:v>"30</c:v>
                </c:pt>
                <c:pt idx="9">
                  <c:v>"31</c:v>
                </c:pt>
                <c:pt idx="10">
                  <c:v>"32</c:v>
                </c:pt>
                <c:pt idx="11">
                  <c:v>"33</c:v>
                </c:pt>
                <c:pt idx="12">
                  <c:v>"34</c:v>
                </c:pt>
                <c:pt idx="13">
                  <c:v>"35</c:v>
                </c:pt>
                <c:pt idx="14">
                  <c:v>"36</c:v>
                </c:pt>
                <c:pt idx="15">
                  <c:v>"37</c:v>
                </c:pt>
                <c:pt idx="16">
                  <c:v>"38</c:v>
                </c:pt>
                <c:pt idx="17">
                  <c:v>"39</c:v>
                </c:pt>
                <c:pt idx="18">
                  <c:v>"40</c:v>
                </c:pt>
                <c:pt idx="19">
                  <c:v>"41</c:v>
                </c:pt>
                <c:pt idx="20">
                  <c:v>"42</c:v>
                </c:pt>
                <c:pt idx="21">
                  <c:v>"43</c:v>
                </c:pt>
                <c:pt idx="22">
                  <c:v>"44</c:v>
                </c:pt>
                <c:pt idx="23">
                  <c:v>"45</c:v>
                </c:pt>
                <c:pt idx="24">
                  <c:v>"46</c:v>
                </c:pt>
                <c:pt idx="25">
                  <c:v>"47</c:v>
                </c:pt>
                <c:pt idx="26">
                  <c:v>"48</c:v>
                </c:pt>
                <c:pt idx="27">
                  <c:v>"49</c:v>
                </c:pt>
                <c:pt idx="28">
                  <c:v>"50</c:v>
                </c:pt>
              </c:strCache>
            </c:strRef>
          </c:cat>
          <c:val>
            <c:numRef>
              <c:f>Sheet13!$C$2:$C$31</c:f>
              <c:numCache>
                <c:formatCode>General</c:formatCode>
                <c:ptCount val="29"/>
                <c:pt idx="0">
                  <c:v>211.08610390819999</c:v>
                </c:pt>
                <c:pt idx="1">
                  <c:v>242.43237377439999</c:v>
                </c:pt>
                <c:pt idx="2">
                  <c:v>170.87637884669999</c:v>
                </c:pt>
                <c:pt idx="3">
                  <c:v>127.9632356584</c:v>
                </c:pt>
                <c:pt idx="4">
                  <c:v>105.6468321295</c:v>
                </c:pt>
                <c:pt idx="5">
                  <c:v>96.771593950099998</c:v>
                </c:pt>
                <c:pt idx="6">
                  <c:v>81.325727013299996</c:v>
                </c:pt>
                <c:pt idx="7">
                  <c:v>65.374893254599996</c:v>
                </c:pt>
                <c:pt idx="8">
                  <c:v>54.778769705999999</c:v>
                </c:pt>
                <c:pt idx="9">
                  <c:v>53.125377895900002</c:v>
                </c:pt>
                <c:pt idx="10">
                  <c:v>50.842479676899998</c:v>
                </c:pt>
                <c:pt idx="11">
                  <c:v>49.416983028200001</c:v>
                </c:pt>
                <c:pt idx="12">
                  <c:v>48.710264343399999</c:v>
                </c:pt>
                <c:pt idx="13">
                  <c:v>47.980685411400003</c:v>
                </c:pt>
                <c:pt idx="14">
                  <c:v>46.944037950800002</c:v>
                </c:pt>
                <c:pt idx="15">
                  <c:v>47.829977536800001</c:v>
                </c:pt>
                <c:pt idx="16">
                  <c:v>47.301419646600003</c:v>
                </c:pt>
                <c:pt idx="17">
                  <c:v>48.160559836300003</c:v>
                </c:pt>
                <c:pt idx="18">
                  <c:v>46.049227357299998</c:v>
                </c:pt>
                <c:pt idx="19">
                  <c:v>45.127374154800002</c:v>
                </c:pt>
                <c:pt idx="20">
                  <c:v>45.291128032000003</c:v>
                </c:pt>
                <c:pt idx="21">
                  <c:v>44.688477413999998</c:v>
                </c:pt>
                <c:pt idx="22">
                  <c:v>43.577739098899997</c:v>
                </c:pt>
                <c:pt idx="23">
                  <c:v>41.937179065899997</c:v>
                </c:pt>
                <c:pt idx="24">
                  <c:v>42.369228958500003</c:v>
                </c:pt>
                <c:pt idx="25">
                  <c:v>41.390989901399998</c:v>
                </c:pt>
                <c:pt idx="26">
                  <c:v>40.218109239500002</c:v>
                </c:pt>
                <c:pt idx="27">
                  <c:v>40.159657729300001</c:v>
                </c:pt>
                <c:pt idx="28">
                  <c:v>38.811583625799997</c:v>
                </c:pt>
              </c:numCache>
            </c:numRef>
          </c:val>
          <c:smooth val="0"/>
          <c:extLst>
            <c:ext xmlns:c16="http://schemas.microsoft.com/office/drawing/2014/chart" uri="{C3380CC4-5D6E-409C-BE32-E72D297353CC}">
              <c16:uniqueId val="{00000001-8953-4AFA-B3E6-A76DCC2581A7}"/>
            </c:ext>
          </c:extLst>
        </c:ser>
        <c:dLbls>
          <c:showLegendKey val="0"/>
          <c:showVal val="0"/>
          <c:showCatName val="0"/>
          <c:showSerName val="0"/>
          <c:showPercent val="0"/>
          <c:showBubbleSize val="0"/>
        </c:dLbls>
        <c:marker val="1"/>
        <c:smooth val="0"/>
        <c:axId val="2086759856"/>
        <c:axId val="2086763216"/>
      </c:lineChart>
      <c:catAx>
        <c:axId val="2086759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Inter  "/>
                <a:ea typeface="+mn-ea"/>
                <a:cs typeface="+mn-cs"/>
              </a:defRPr>
            </a:pPr>
            <a:endParaRPr lang="en-US"/>
          </a:p>
        </c:txPr>
        <c:crossAx val="2086763216"/>
        <c:crosses val="autoZero"/>
        <c:auto val="1"/>
        <c:lblAlgn val="ctr"/>
        <c:lblOffset val="100"/>
        <c:noMultiLvlLbl val="0"/>
      </c:catAx>
      <c:valAx>
        <c:axId val="208676321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Inter  "/>
                <a:ea typeface="+mn-ea"/>
                <a:cs typeface="+mn-cs"/>
              </a:defRPr>
            </a:pPr>
            <a:endParaRPr lang="en-US"/>
          </a:p>
        </c:txPr>
        <c:crossAx val="208675985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bg2"/>
              </a:solidFill>
              <a:latin typeface="Inter  "/>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[Book2 (version 2).xlsb]Sheet1!PivotTable1</c:name>
    <c:fmtId val="13"/>
  </c:pivotSource>
  <c:chart>
    <c:autoTitleDeleted val="0"/>
    <c:pivotFmts>
      <c:pivotFmt>
        <c:idx val="0"/>
        <c:spPr>
          <a:solidFill>
            <a:schemeClr val="accent1"/>
          </a:solidFill>
          <a:ln w="28575" cap="rnd">
            <a:solidFill>
              <a:schemeClr val="accent1"/>
            </a:solidFill>
            <a:round/>
          </a:ln>
          <a:effectLst/>
        </c:spPr>
        <c:marker>
          <c:symbol val="circle"/>
          <c:size val="5"/>
          <c:spPr>
            <a:solidFill>
              <a:srgbClr val="00B0F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rgbClr val="FFC000"/>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rgbClr val="00B0F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circle"/>
          <c:size val="5"/>
          <c:spPr>
            <a:solidFill>
              <a:srgbClr val="FFC000"/>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circle"/>
          <c:size val="5"/>
          <c:spPr>
            <a:solidFill>
              <a:srgbClr val="00B0F0"/>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circle"/>
          <c:size val="5"/>
          <c:spPr>
            <a:solidFill>
              <a:srgbClr val="FFC000"/>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454462659380692"/>
          <c:y val="2.4010763888888891E-2"/>
          <c:w val="0.87112841530054641"/>
          <c:h val="0.86096275252525267"/>
        </c:manualLayout>
      </c:layout>
      <c:lineChart>
        <c:grouping val="standard"/>
        <c:varyColors val="0"/>
        <c:ser>
          <c:idx val="0"/>
          <c:order val="0"/>
          <c:tx>
            <c:strRef>
              <c:f>Sheet1!$B$1</c:f>
              <c:strCache>
                <c:ptCount val="1"/>
                <c:pt idx="0">
                  <c:v>GB-Solar PV</c:v>
                </c:pt>
              </c:strCache>
            </c:strRef>
          </c:tx>
          <c:spPr>
            <a:ln w="28575" cap="rnd">
              <a:solidFill>
                <a:srgbClr val="00B0F0"/>
              </a:solidFill>
              <a:round/>
            </a:ln>
            <a:effectLst/>
          </c:spPr>
          <c:marker>
            <c:symbol val="circle"/>
            <c:size val="5"/>
            <c:spPr>
              <a:solidFill>
                <a:srgbClr val="00B0F0"/>
              </a:solidFill>
              <a:ln w="9525">
                <a:solidFill>
                  <a:schemeClr val="accent1"/>
                </a:solidFill>
              </a:ln>
              <a:effectLst/>
            </c:spPr>
          </c:marker>
          <c:cat>
            <c:strRef>
              <c:f>Sheet1!$A$2:$A$30</c:f>
              <c:strCache>
                <c:ptCount val="28"/>
                <c:pt idx="0">
                  <c:v>"23</c:v>
                </c:pt>
                <c:pt idx="1">
                  <c:v>"24</c:v>
                </c:pt>
                <c:pt idx="2">
                  <c:v>"25</c:v>
                </c:pt>
                <c:pt idx="3">
                  <c:v>"26</c:v>
                </c:pt>
                <c:pt idx="4">
                  <c:v>"27</c:v>
                </c:pt>
                <c:pt idx="5">
                  <c:v>"28</c:v>
                </c:pt>
                <c:pt idx="6">
                  <c:v>"29</c:v>
                </c:pt>
                <c:pt idx="7">
                  <c:v>"30</c:v>
                </c:pt>
                <c:pt idx="8">
                  <c:v>"31</c:v>
                </c:pt>
                <c:pt idx="9">
                  <c:v>"32</c:v>
                </c:pt>
                <c:pt idx="10">
                  <c:v>"33</c:v>
                </c:pt>
                <c:pt idx="11">
                  <c:v>"34</c:v>
                </c:pt>
                <c:pt idx="12">
                  <c:v>"35</c:v>
                </c:pt>
                <c:pt idx="13">
                  <c:v>"36</c:v>
                </c:pt>
                <c:pt idx="14">
                  <c:v>"37</c:v>
                </c:pt>
                <c:pt idx="15">
                  <c:v>"38</c:v>
                </c:pt>
                <c:pt idx="16">
                  <c:v>"39</c:v>
                </c:pt>
                <c:pt idx="17">
                  <c:v>"40</c:v>
                </c:pt>
                <c:pt idx="18">
                  <c:v>"41</c:v>
                </c:pt>
                <c:pt idx="19">
                  <c:v>"42</c:v>
                </c:pt>
                <c:pt idx="20">
                  <c:v>"43</c:v>
                </c:pt>
                <c:pt idx="21">
                  <c:v>"44</c:v>
                </c:pt>
                <c:pt idx="22">
                  <c:v>"45</c:v>
                </c:pt>
                <c:pt idx="23">
                  <c:v>"46</c:v>
                </c:pt>
                <c:pt idx="24">
                  <c:v>"47</c:v>
                </c:pt>
                <c:pt idx="25">
                  <c:v>"48</c:v>
                </c:pt>
                <c:pt idx="26">
                  <c:v>"49</c:v>
                </c:pt>
                <c:pt idx="27">
                  <c:v>"50</c:v>
                </c:pt>
              </c:strCache>
            </c:strRef>
          </c:cat>
          <c:val>
            <c:numRef>
              <c:f>Sheet1!$B$2:$B$30</c:f>
              <c:numCache>
                <c:formatCode>General</c:formatCode>
                <c:ptCount val="28"/>
                <c:pt idx="0">
                  <c:v>248.45400000000001</c:v>
                </c:pt>
                <c:pt idx="1">
                  <c:v>179.49</c:v>
                </c:pt>
                <c:pt idx="2">
                  <c:v>130.85400000000001</c:v>
                </c:pt>
                <c:pt idx="3">
                  <c:v>85.691999999999993</c:v>
                </c:pt>
                <c:pt idx="4">
                  <c:v>79.902000000000001</c:v>
                </c:pt>
                <c:pt idx="5">
                  <c:v>76.427999999999997</c:v>
                </c:pt>
                <c:pt idx="6">
                  <c:v>71.796000000000006</c:v>
                </c:pt>
                <c:pt idx="7">
                  <c:v>68.322000000000003</c:v>
                </c:pt>
                <c:pt idx="8">
                  <c:v>68.322000000000003</c:v>
                </c:pt>
                <c:pt idx="9">
                  <c:v>66.006</c:v>
                </c:pt>
                <c:pt idx="10">
                  <c:v>66.006</c:v>
                </c:pt>
                <c:pt idx="11">
                  <c:v>64.847999999999999</c:v>
                </c:pt>
                <c:pt idx="12">
                  <c:v>61.374000000000002</c:v>
                </c:pt>
                <c:pt idx="13">
                  <c:v>60.216000000000001</c:v>
                </c:pt>
                <c:pt idx="14">
                  <c:v>57.9</c:v>
                </c:pt>
                <c:pt idx="15">
                  <c:v>55.584000000000003</c:v>
                </c:pt>
                <c:pt idx="16">
                  <c:v>54.426000000000002</c:v>
                </c:pt>
                <c:pt idx="17">
                  <c:v>53.268000000000001</c:v>
                </c:pt>
                <c:pt idx="18">
                  <c:v>50.951999999999998</c:v>
                </c:pt>
                <c:pt idx="19">
                  <c:v>48.636000000000003</c:v>
                </c:pt>
                <c:pt idx="20">
                  <c:v>47.478000000000002</c:v>
                </c:pt>
                <c:pt idx="21">
                  <c:v>47.478000000000002</c:v>
                </c:pt>
                <c:pt idx="22">
                  <c:v>47.478000000000002</c:v>
                </c:pt>
                <c:pt idx="23">
                  <c:v>46.32</c:v>
                </c:pt>
                <c:pt idx="24">
                  <c:v>46.32</c:v>
                </c:pt>
                <c:pt idx="25">
                  <c:v>45.161999999999999</c:v>
                </c:pt>
                <c:pt idx="26">
                  <c:v>45.161999999999999</c:v>
                </c:pt>
                <c:pt idx="27">
                  <c:v>46.32</c:v>
                </c:pt>
              </c:numCache>
            </c:numRef>
          </c:val>
          <c:smooth val="0"/>
          <c:extLst>
            <c:ext xmlns:c16="http://schemas.microsoft.com/office/drawing/2014/chart" uri="{C3380CC4-5D6E-409C-BE32-E72D297353CC}">
              <c16:uniqueId val="{00000000-F4C3-4F04-BE7A-C668FEA5402B}"/>
            </c:ext>
          </c:extLst>
        </c:ser>
        <c:ser>
          <c:idx val="1"/>
          <c:order val="1"/>
          <c:tx>
            <c:strRef>
              <c:f>Sheet1!$C$1</c:f>
              <c:strCache>
                <c:ptCount val="1"/>
                <c:pt idx="0">
                  <c:v>DE-Onshore Wind</c:v>
                </c:pt>
              </c:strCache>
            </c:strRef>
          </c:tx>
          <c:spPr>
            <a:ln w="28575" cap="rnd">
              <a:solidFill>
                <a:srgbClr val="FFC000"/>
              </a:solidFill>
              <a:round/>
            </a:ln>
            <a:effectLst/>
          </c:spPr>
          <c:marker>
            <c:symbol val="circle"/>
            <c:size val="5"/>
            <c:spPr>
              <a:solidFill>
                <a:srgbClr val="FFC000"/>
              </a:solidFill>
              <a:ln w="9525">
                <a:solidFill>
                  <a:schemeClr val="accent2"/>
                </a:solidFill>
              </a:ln>
              <a:effectLst/>
            </c:spPr>
          </c:marker>
          <c:cat>
            <c:strRef>
              <c:f>Sheet1!$A$2:$A$30</c:f>
              <c:strCache>
                <c:ptCount val="28"/>
                <c:pt idx="0">
                  <c:v>"23</c:v>
                </c:pt>
                <c:pt idx="1">
                  <c:v>"24</c:v>
                </c:pt>
                <c:pt idx="2">
                  <c:v>"25</c:v>
                </c:pt>
                <c:pt idx="3">
                  <c:v>"26</c:v>
                </c:pt>
                <c:pt idx="4">
                  <c:v>"27</c:v>
                </c:pt>
                <c:pt idx="5">
                  <c:v>"28</c:v>
                </c:pt>
                <c:pt idx="6">
                  <c:v>"29</c:v>
                </c:pt>
                <c:pt idx="7">
                  <c:v>"30</c:v>
                </c:pt>
                <c:pt idx="8">
                  <c:v>"31</c:v>
                </c:pt>
                <c:pt idx="9">
                  <c:v>"32</c:v>
                </c:pt>
                <c:pt idx="10">
                  <c:v>"33</c:v>
                </c:pt>
                <c:pt idx="11">
                  <c:v>"34</c:v>
                </c:pt>
                <c:pt idx="12">
                  <c:v>"35</c:v>
                </c:pt>
                <c:pt idx="13">
                  <c:v>"36</c:v>
                </c:pt>
                <c:pt idx="14">
                  <c:v>"37</c:v>
                </c:pt>
                <c:pt idx="15">
                  <c:v>"38</c:v>
                </c:pt>
                <c:pt idx="16">
                  <c:v>"39</c:v>
                </c:pt>
                <c:pt idx="17">
                  <c:v>"40</c:v>
                </c:pt>
                <c:pt idx="18">
                  <c:v>"41</c:v>
                </c:pt>
                <c:pt idx="19">
                  <c:v>"42</c:v>
                </c:pt>
                <c:pt idx="20">
                  <c:v>"43</c:v>
                </c:pt>
                <c:pt idx="21">
                  <c:v>"44</c:v>
                </c:pt>
                <c:pt idx="22">
                  <c:v>"45</c:v>
                </c:pt>
                <c:pt idx="23">
                  <c:v>"46</c:v>
                </c:pt>
                <c:pt idx="24">
                  <c:v>"47</c:v>
                </c:pt>
                <c:pt idx="25">
                  <c:v>"48</c:v>
                </c:pt>
                <c:pt idx="26">
                  <c:v>"49</c:v>
                </c:pt>
                <c:pt idx="27">
                  <c:v>"50</c:v>
                </c:pt>
              </c:strCache>
            </c:strRef>
          </c:cat>
          <c:val>
            <c:numRef>
              <c:f>Sheet1!$C$2:$C$30</c:f>
              <c:numCache>
                <c:formatCode>General</c:formatCode>
                <c:ptCount val="28"/>
                <c:pt idx="0">
                  <c:v>106.44499399999999</c:v>
                </c:pt>
                <c:pt idx="1">
                  <c:v>105.418055</c:v>
                </c:pt>
                <c:pt idx="2">
                  <c:v>95.777507999999997</c:v>
                </c:pt>
                <c:pt idx="3">
                  <c:v>81.474036999999996</c:v>
                </c:pt>
                <c:pt idx="4">
                  <c:v>75.549957000000006</c:v>
                </c:pt>
                <c:pt idx="5">
                  <c:v>72.032155000000003</c:v>
                </c:pt>
                <c:pt idx="6">
                  <c:v>67.710065999999998</c:v>
                </c:pt>
                <c:pt idx="7">
                  <c:v>62.457540000000002</c:v>
                </c:pt>
                <c:pt idx="8">
                  <c:v>61.444045000000003</c:v>
                </c:pt>
                <c:pt idx="9">
                  <c:v>59.881157000000002</c:v>
                </c:pt>
                <c:pt idx="10">
                  <c:v>60.784483000000002</c:v>
                </c:pt>
                <c:pt idx="11">
                  <c:v>59.176468</c:v>
                </c:pt>
                <c:pt idx="12">
                  <c:v>59.363745999999999</c:v>
                </c:pt>
                <c:pt idx="13">
                  <c:v>59.347054</c:v>
                </c:pt>
                <c:pt idx="14">
                  <c:v>60.506532</c:v>
                </c:pt>
                <c:pt idx="15">
                  <c:v>60.734271999999997</c:v>
                </c:pt>
                <c:pt idx="16">
                  <c:v>60.596175000000002</c:v>
                </c:pt>
                <c:pt idx="17">
                  <c:v>58.292422999999999</c:v>
                </c:pt>
                <c:pt idx="18">
                  <c:v>57.437781000000001</c:v>
                </c:pt>
                <c:pt idx="19">
                  <c:v>56.928154999999997</c:v>
                </c:pt>
                <c:pt idx="20">
                  <c:v>54.072721999999999</c:v>
                </c:pt>
                <c:pt idx="21">
                  <c:v>52.721632</c:v>
                </c:pt>
                <c:pt idx="22">
                  <c:v>51.62623</c:v>
                </c:pt>
                <c:pt idx="23">
                  <c:v>49.486162999999998</c:v>
                </c:pt>
                <c:pt idx="24">
                  <c:v>48.872943999999997</c:v>
                </c:pt>
                <c:pt idx="25">
                  <c:v>47.647022999999997</c:v>
                </c:pt>
                <c:pt idx="26">
                  <c:v>46.706453000000003</c:v>
                </c:pt>
                <c:pt idx="27">
                  <c:v>45.227919</c:v>
                </c:pt>
              </c:numCache>
            </c:numRef>
          </c:val>
          <c:smooth val="0"/>
          <c:extLst>
            <c:ext xmlns:c16="http://schemas.microsoft.com/office/drawing/2014/chart" uri="{C3380CC4-5D6E-409C-BE32-E72D297353CC}">
              <c16:uniqueId val="{00000001-F4C3-4F04-BE7A-C668FEA5402B}"/>
            </c:ext>
          </c:extLst>
        </c:ser>
        <c:dLbls>
          <c:showLegendKey val="0"/>
          <c:showVal val="0"/>
          <c:showCatName val="0"/>
          <c:showSerName val="0"/>
          <c:showPercent val="0"/>
          <c:showBubbleSize val="0"/>
        </c:dLbls>
        <c:marker val="1"/>
        <c:smooth val="0"/>
        <c:axId val="589619696"/>
        <c:axId val="589620176"/>
      </c:lineChart>
      <c:catAx>
        <c:axId val="589619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Inter  "/>
                <a:ea typeface="+mn-ea"/>
                <a:cs typeface="+mn-cs"/>
              </a:defRPr>
            </a:pPr>
            <a:endParaRPr lang="en-US"/>
          </a:p>
        </c:txPr>
        <c:crossAx val="589620176"/>
        <c:crosses val="autoZero"/>
        <c:auto val="1"/>
        <c:lblAlgn val="ctr"/>
        <c:lblOffset val="100"/>
        <c:noMultiLvlLbl val="0"/>
      </c:catAx>
      <c:valAx>
        <c:axId val="58962017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Inter  "/>
                <a:ea typeface="+mn-ea"/>
                <a:cs typeface="+mn-cs"/>
              </a:defRPr>
            </a:pPr>
            <a:endParaRPr lang="en-US"/>
          </a:p>
        </c:txPr>
        <c:crossAx val="58961969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bg2"/>
              </a:solidFill>
              <a:latin typeface="Inter  "/>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scatterChart>
        <c:scatterStyle val="lineMarker"/>
        <c:varyColors val="0"/>
        <c:ser>
          <c:idx val="0"/>
          <c:order val="0"/>
          <c:tx>
            <c:strRef>
              <c:f>'Relationship 2023Q1'!$C$1</c:f>
              <c:strCache>
                <c:ptCount val="1"/>
                <c:pt idx="0">
                  <c:v>Capture_Price Solar PV</c:v>
                </c:pt>
              </c:strCache>
            </c:strRef>
          </c:tx>
          <c:spPr>
            <a:ln w="25400" cap="rnd">
              <a:noFill/>
              <a:round/>
            </a:ln>
            <a:effectLst/>
          </c:spPr>
          <c:marker>
            <c:symbol val="circle"/>
            <c:size val="5"/>
            <c:spPr>
              <a:solidFill>
                <a:schemeClr val="accent4"/>
              </a:solidFill>
              <a:ln w="9525">
                <a:solidFill>
                  <a:schemeClr val="accent4"/>
                </a:solidFill>
              </a:ln>
              <a:effectLst/>
            </c:spPr>
          </c:marker>
          <c:trendline>
            <c:spPr>
              <a:ln w="19050" cap="rnd">
                <a:solidFill>
                  <a:schemeClr val="accent4"/>
                </a:solidFill>
                <a:prstDash val="sysDot"/>
              </a:ln>
              <a:effectLst/>
            </c:spPr>
            <c:trendlineType val="linear"/>
            <c:dispRSqr val="0"/>
            <c:dispEq val="0"/>
          </c:trendline>
          <c:xVal>
            <c:numRef>
              <c:f>'Relationship 2023Q1'!$B$2:$B$30</c:f>
              <c:numCache>
                <c:formatCode>General</c:formatCode>
                <c:ptCount val="29"/>
                <c:pt idx="0">
                  <c:v>12.4</c:v>
                </c:pt>
                <c:pt idx="1">
                  <c:v>13.68</c:v>
                </c:pt>
                <c:pt idx="2">
                  <c:v>14.69</c:v>
                </c:pt>
                <c:pt idx="3">
                  <c:v>17.100000000000001</c:v>
                </c:pt>
                <c:pt idx="4">
                  <c:v>19.41</c:v>
                </c:pt>
                <c:pt idx="5">
                  <c:v>21.83</c:v>
                </c:pt>
                <c:pt idx="6">
                  <c:v>23.27</c:v>
                </c:pt>
                <c:pt idx="7">
                  <c:v>24.73</c:v>
                </c:pt>
                <c:pt idx="8">
                  <c:v>25.95</c:v>
                </c:pt>
                <c:pt idx="9">
                  <c:v>25.95</c:v>
                </c:pt>
                <c:pt idx="10">
                  <c:v>27.05</c:v>
                </c:pt>
                <c:pt idx="11">
                  <c:v>28.16</c:v>
                </c:pt>
                <c:pt idx="12">
                  <c:v>29.35</c:v>
                </c:pt>
                <c:pt idx="13">
                  <c:v>30.56</c:v>
                </c:pt>
                <c:pt idx="14">
                  <c:v>32.32</c:v>
                </c:pt>
                <c:pt idx="15">
                  <c:v>33.92</c:v>
                </c:pt>
                <c:pt idx="16">
                  <c:v>35.51</c:v>
                </c:pt>
                <c:pt idx="17">
                  <c:v>37.15</c:v>
                </c:pt>
                <c:pt idx="18">
                  <c:v>38.799999999999997</c:v>
                </c:pt>
                <c:pt idx="19">
                  <c:v>40.65</c:v>
                </c:pt>
                <c:pt idx="20">
                  <c:v>42.5</c:v>
                </c:pt>
                <c:pt idx="21">
                  <c:v>44.89</c:v>
                </c:pt>
                <c:pt idx="22">
                  <c:v>46.86</c:v>
                </c:pt>
                <c:pt idx="23">
                  <c:v>48.18</c:v>
                </c:pt>
                <c:pt idx="24">
                  <c:v>50.8</c:v>
                </c:pt>
                <c:pt idx="25">
                  <c:v>51.79</c:v>
                </c:pt>
                <c:pt idx="26">
                  <c:v>53.52</c:v>
                </c:pt>
                <c:pt idx="27">
                  <c:v>54.56</c:v>
                </c:pt>
                <c:pt idx="28">
                  <c:v>55.68</c:v>
                </c:pt>
              </c:numCache>
            </c:numRef>
          </c:xVal>
          <c:yVal>
            <c:numRef>
              <c:f>'Relationship 2023Q1'!$C$2:$C$30</c:f>
              <c:numCache>
                <c:formatCode>General</c:formatCode>
                <c:ptCount val="29"/>
                <c:pt idx="0">
                  <c:v>248.45400000000001</c:v>
                </c:pt>
                <c:pt idx="1">
                  <c:v>179.49</c:v>
                </c:pt>
                <c:pt idx="2">
                  <c:v>130.85400000000001</c:v>
                </c:pt>
                <c:pt idx="3">
                  <c:v>85.691999999999993</c:v>
                </c:pt>
                <c:pt idx="4">
                  <c:v>79.902000000000001</c:v>
                </c:pt>
                <c:pt idx="5">
                  <c:v>76.427999999999997</c:v>
                </c:pt>
                <c:pt idx="6">
                  <c:v>71.796000000000006</c:v>
                </c:pt>
                <c:pt idx="7">
                  <c:v>68.322000000000003</c:v>
                </c:pt>
                <c:pt idx="8">
                  <c:v>68.322000000000003</c:v>
                </c:pt>
                <c:pt idx="9">
                  <c:v>67.164000000000001</c:v>
                </c:pt>
                <c:pt idx="10">
                  <c:v>66.006</c:v>
                </c:pt>
                <c:pt idx="11">
                  <c:v>66.006</c:v>
                </c:pt>
                <c:pt idx="12">
                  <c:v>64.847999999999999</c:v>
                </c:pt>
                <c:pt idx="13">
                  <c:v>61.374000000000002</c:v>
                </c:pt>
                <c:pt idx="14">
                  <c:v>60.216000000000001</c:v>
                </c:pt>
                <c:pt idx="15">
                  <c:v>57.9</c:v>
                </c:pt>
                <c:pt idx="16">
                  <c:v>55.584000000000003</c:v>
                </c:pt>
                <c:pt idx="17">
                  <c:v>54.426000000000002</c:v>
                </c:pt>
                <c:pt idx="18">
                  <c:v>53.268000000000001</c:v>
                </c:pt>
                <c:pt idx="19">
                  <c:v>50.951999999999998</c:v>
                </c:pt>
                <c:pt idx="20">
                  <c:v>48.636000000000003</c:v>
                </c:pt>
                <c:pt idx="21">
                  <c:v>47.478000000000002</c:v>
                </c:pt>
                <c:pt idx="22">
                  <c:v>47.478000000000002</c:v>
                </c:pt>
                <c:pt idx="23">
                  <c:v>47.478000000000002</c:v>
                </c:pt>
                <c:pt idx="24">
                  <c:v>46.32</c:v>
                </c:pt>
                <c:pt idx="25">
                  <c:v>46.32</c:v>
                </c:pt>
                <c:pt idx="26">
                  <c:v>45.161999999999999</c:v>
                </c:pt>
                <c:pt idx="27">
                  <c:v>45.161999999999999</c:v>
                </c:pt>
                <c:pt idx="28">
                  <c:v>46.32</c:v>
                </c:pt>
              </c:numCache>
            </c:numRef>
          </c:yVal>
          <c:smooth val="0"/>
          <c:extLst>
            <c:ext xmlns:c16="http://schemas.microsoft.com/office/drawing/2014/chart" uri="{C3380CC4-5D6E-409C-BE32-E72D297353CC}">
              <c16:uniqueId val="{00000001-E04C-4F61-B33F-B81EEE8F692C}"/>
            </c:ext>
          </c:extLst>
        </c:ser>
        <c:dLbls>
          <c:showLegendKey val="0"/>
          <c:showVal val="0"/>
          <c:showCatName val="0"/>
          <c:showSerName val="0"/>
          <c:showPercent val="0"/>
          <c:showBubbleSize val="0"/>
        </c:dLbls>
        <c:axId val="1597918768"/>
        <c:axId val="1597933168"/>
      </c:scatterChart>
      <c:valAx>
        <c:axId val="159791876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mn-lt"/>
                    <a:ea typeface="+mn-ea"/>
                    <a:cs typeface="+mn-cs"/>
                  </a:defRPr>
                </a:pPr>
                <a:r>
                  <a:rPr lang="en-US" sz="1000" b="0" i="0" u="none" strike="noStrike" kern="1200" baseline="0" dirty="0">
                    <a:solidFill>
                      <a:schemeClr val="bg1"/>
                    </a:solidFill>
                  </a:rPr>
                  <a:t>Generation (TWh)</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597933168"/>
        <c:crosses val="autoZero"/>
        <c:crossBetween val="midCat"/>
      </c:valAx>
      <c:valAx>
        <c:axId val="159793316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bg1"/>
                    </a:solidFill>
                    <a:latin typeface="+mn-lt"/>
                    <a:ea typeface="+mn-ea"/>
                    <a:cs typeface="+mn-cs"/>
                  </a:defRPr>
                </a:pPr>
                <a:r>
                  <a:rPr lang="en-US" sz="1000" b="0" i="0" u="none" strike="noStrike" kern="1200" baseline="0" dirty="0">
                    <a:solidFill>
                      <a:schemeClr val="bg1"/>
                    </a:solidFill>
                  </a:rPr>
                  <a:t>Capture Price (€/MWh)</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59791876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scatterChart>
        <c:scatterStyle val="lineMarker"/>
        <c:varyColors val="0"/>
        <c:ser>
          <c:idx val="0"/>
          <c:order val="0"/>
          <c:tx>
            <c:strRef>
              <c:f>'Relationship 2022Q3'!$E$1</c:f>
              <c:strCache>
                <c:ptCount val="1"/>
                <c:pt idx="0">
                  <c:v>Capture_Price  Onshore Wind</c:v>
                </c:pt>
              </c:strCache>
            </c:strRef>
          </c:tx>
          <c:spPr>
            <a:ln w="25400" cap="rnd">
              <a:noFill/>
              <a:round/>
            </a:ln>
            <a:effectLst/>
          </c:spPr>
          <c:marker>
            <c:symbol val="circle"/>
            <c:size val="5"/>
            <c:spPr>
              <a:solidFill>
                <a:schemeClr val="accent5"/>
              </a:solidFill>
              <a:ln w="9525">
                <a:solidFill>
                  <a:schemeClr val="accent5"/>
                </a:solidFill>
              </a:ln>
              <a:effectLst/>
            </c:spPr>
          </c:marker>
          <c:trendline>
            <c:spPr>
              <a:ln w="19050" cap="rnd">
                <a:solidFill>
                  <a:schemeClr val="accent5"/>
                </a:solidFill>
                <a:prstDash val="sysDot"/>
              </a:ln>
              <a:effectLst/>
            </c:spPr>
            <c:trendlineType val="linear"/>
            <c:dispRSqr val="0"/>
            <c:dispEq val="0"/>
          </c:trendline>
          <c:xVal>
            <c:numRef>
              <c:f>'Relationship 2022Q3'!$D$2:$D$32</c:f>
              <c:numCache>
                <c:formatCode>General</c:formatCode>
                <c:ptCount val="31"/>
                <c:pt idx="0">
                  <c:v>97.361177923468404</c:v>
                </c:pt>
                <c:pt idx="1">
                  <c:v>102.53560080039701</c:v>
                </c:pt>
                <c:pt idx="2">
                  <c:v>108.094805843315</c:v>
                </c:pt>
                <c:pt idx="3">
                  <c:v>114.135544398044</c:v>
                </c:pt>
                <c:pt idx="4">
                  <c:v>120.33804308142599</c:v>
                </c:pt>
                <c:pt idx="5">
                  <c:v>124.19478506334499</c:v>
                </c:pt>
                <c:pt idx="6">
                  <c:v>129.42150510483799</c:v>
                </c:pt>
                <c:pt idx="7">
                  <c:v>134.711462570859</c:v>
                </c:pt>
                <c:pt idx="8">
                  <c:v>142.463170864098</c:v>
                </c:pt>
                <c:pt idx="9">
                  <c:v>147.77971279338399</c:v>
                </c:pt>
                <c:pt idx="10">
                  <c:v>154.22428552231901</c:v>
                </c:pt>
                <c:pt idx="11">
                  <c:v>158.36259266022799</c:v>
                </c:pt>
                <c:pt idx="12">
                  <c:v>163.56987627813001</c:v>
                </c:pt>
                <c:pt idx="13">
                  <c:v>169.66090109554301</c:v>
                </c:pt>
                <c:pt idx="14">
                  <c:v>171.36957830107801</c:v>
                </c:pt>
                <c:pt idx="15">
                  <c:v>175.23040123264599</c:v>
                </c:pt>
                <c:pt idx="16">
                  <c:v>179.87771719273999</c:v>
                </c:pt>
                <c:pt idx="17">
                  <c:v>185.18548941712299</c:v>
                </c:pt>
                <c:pt idx="18">
                  <c:v>192.19576368920701</c:v>
                </c:pt>
                <c:pt idx="19">
                  <c:v>200.06326738347701</c:v>
                </c:pt>
                <c:pt idx="20">
                  <c:v>209.01893592445199</c:v>
                </c:pt>
                <c:pt idx="21">
                  <c:v>218.019554994814</c:v>
                </c:pt>
                <c:pt idx="22">
                  <c:v>227.02345736335201</c:v>
                </c:pt>
                <c:pt idx="23">
                  <c:v>233.83521261996299</c:v>
                </c:pt>
                <c:pt idx="24">
                  <c:v>241.38459877090901</c:v>
                </c:pt>
                <c:pt idx="25">
                  <c:v>248.354717225602</c:v>
                </c:pt>
                <c:pt idx="26">
                  <c:v>257.49955126013202</c:v>
                </c:pt>
                <c:pt idx="27">
                  <c:v>264.51594595272798</c:v>
                </c:pt>
                <c:pt idx="28">
                  <c:v>270.96361320452502</c:v>
                </c:pt>
              </c:numCache>
            </c:numRef>
          </c:xVal>
          <c:yVal>
            <c:numRef>
              <c:f>'Relationship 2022Q3'!$E$2:$E$32</c:f>
              <c:numCache>
                <c:formatCode>General</c:formatCode>
                <c:ptCount val="31"/>
                <c:pt idx="0">
                  <c:v>211.08610390819999</c:v>
                </c:pt>
                <c:pt idx="1">
                  <c:v>242.43237377439999</c:v>
                </c:pt>
                <c:pt idx="2">
                  <c:v>170.87637884669999</c:v>
                </c:pt>
                <c:pt idx="3">
                  <c:v>127.9632356584</c:v>
                </c:pt>
                <c:pt idx="4">
                  <c:v>105.6468321295</c:v>
                </c:pt>
                <c:pt idx="5">
                  <c:v>96.771593950099998</c:v>
                </c:pt>
                <c:pt idx="6">
                  <c:v>81.325727013299996</c:v>
                </c:pt>
                <c:pt idx="7">
                  <c:v>65.374893254599996</c:v>
                </c:pt>
                <c:pt idx="8">
                  <c:v>54.778769705999999</c:v>
                </c:pt>
                <c:pt idx="9">
                  <c:v>53.125377895900002</c:v>
                </c:pt>
                <c:pt idx="10">
                  <c:v>50.842479676899998</c:v>
                </c:pt>
                <c:pt idx="11">
                  <c:v>49.416983028200001</c:v>
                </c:pt>
                <c:pt idx="12">
                  <c:v>48.710264343399999</c:v>
                </c:pt>
                <c:pt idx="13">
                  <c:v>47.980685411400003</c:v>
                </c:pt>
                <c:pt idx="14">
                  <c:v>46.944037950800002</c:v>
                </c:pt>
                <c:pt idx="15">
                  <c:v>47.829977536800001</c:v>
                </c:pt>
                <c:pt idx="16">
                  <c:v>47.301419646600003</c:v>
                </c:pt>
                <c:pt idx="17">
                  <c:v>48.160559836300003</c:v>
                </c:pt>
                <c:pt idx="18">
                  <c:v>46.049227357299998</c:v>
                </c:pt>
                <c:pt idx="19">
                  <c:v>45.127374154800002</c:v>
                </c:pt>
                <c:pt idx="20">
                  <c:v>45.291128032000003</c:v>
                </c:pt>
                <c:pt idx="21">
                  <c:v>44.688477413999998</c:v>
                </c:pt>
                <c:pt idx="22">
                  <c:v>43.577739098899997</c:v>
                </c:pt>
                <c:pt idx="23">
                  <c:v>41.937179065899997</c:v>
                </c:pt>
                <c:pt idx="24">
                  <c:v>42.369228958500003</c:v>
                </c:pt>
                <c:pt idx="25">
                  <c:v>41.390989901399998</c:v>
                </c:pt>
                <c:pt idx="26">
                  <c:v>40.218109239500002</c:v>
                </c:pt>
                <c:pt idx="27">
                  <c:v>40.159657729300001</c:v>
                </c:pt>
                <c:pt idx="28">
                  <c:v>38.811583625799997</c:v>
                </c:pt>
              </c:numCache>
            </c:numRef>
          </c:yVal>
          <c:smooth val="0"/>
          <c:extLst>
            <c:ext xmlns:c16="http://schemas.microsoft.com/office/drawing/2014/chart" uri="{C3380CC4-5D6E-409C-BE32-E72D297353CC}">
              <c16:uniqueId val="{00000001-B021-459F-A4A1-BBC051C50A28}"/>
            </c:ext>
          </c:extLst>
        </c:ser>
        <c:dLbls>
          <c:showLegendKey val="0"/>
          <c:showVal val="0"/>
          <c:showCatName val="0"/>
          <c:showSerName val="0"/>
          <c:showPercent val="0"/>
          <c:showBubbleSize val="0"/>
        </c:dLbls>
        <c:axId val="1597890928"/>
        <c:axId val="1597902448"/>
      </c:scatterChart>
      <c:valAx>
        <c:axId val="159789092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mn-lt"/>
                    <a:ea typeface="+mn-ea"/>
                    <a:cs typeface="+mn-cs"/>
                  </a:defRPr>
                </a:pPr>
                <a:r>
                  <a:rPr lang="en-US" sz="1000" b="0" i="0" u="none" strike="noStrike" kern="1200" baseline="0" dirty="0">
                    <a:solidFill>
                      <a:schemeClr val="bg1"/>
                    </a:solidFill>
                  </a:rPr>
                  <a:t>Generation (TWh)</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597902448"/>
        <c:crosses val="autoZero"/>
        <c:crossBetween val="midCat"/>
      </c:valAx>
      <c:valAx>
        <c:axId val="159790244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bg1"/>
                    </a:solidFill>
                    <a:latin typeface="+mn-lt"/>
                    <a:ea typeface="+mn-ea"/>
                    <a:cs typeface="+mn-cs"/>
                  </a:defRPr>
                </a:pPr>
                <a:r>
                  <a:rPr lang="en-US" sz="1000" b="0" i="0" u="none" strike="noStrike" kern="1200" baseline="0" dirty="0">
                    <a:solidFill>
                      <a:schemeClr val="bg1"/>
                    </a:solidFill>
                  </a:rPr>
                  <a:t>Capture Price (€/MWh)</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59789092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scatterChart>
        <c:scatterStyle val="lineMarker"/>
        <c:varyColors val="0"/>
        <c:ser>
          <c:idx val="0"/>
          <c:order val="0"/>
          <c:tx>
            <c:strRef>
              <c:f>'Relationship 2023Q1'!$C$1</c:f>
              <c:strCache>
                <c:ptCount val="1"/>
                <c:pt idx="0">
                  <c:v>Capture_Price Solar PV</c:v>
                </c:pt>
              </c:strCache>
            </c:strRef>
          </c:tx>
          <c:spPr>
            <a:ln w="25400" cap="rnd">
              <a:noFill/>
              <a:round/>
            </a:ln>
            <a:effectLst/>
          </c:spPr>
          <c:marker>
            <c:symbol val="circle"/>
            <c:size val="5"/>
            <c:spPr>
              <a:solidFill>
                <a:schemeClr val="accent4"/>
              </a:solidFill>
              <a:ln w="9525">
                <a:solidFill>
                  <a:schemeClr val="accent4"/>
                </a:solidFill>
              </a:ln>
              <a:effectLst/>
            </c:spPr>
          </c:marker>
          <c:trendline>
            <c:spPr>
              <a:ln w="19050" cap="rnd">
                <a:solidFill>
                  <a:schemeClr val="accent4"/>
                </a:solidFill>
                <a:prstDash val="sysDot"/>
              </a:ln>
              <a:effectLst/>
            </c:spPr>
            <c:trendlineType val="linear"/>
            <c:dispRSqr val="0"/>
            <c:dispEq val="0"/>
          </c:trendline>
          <c:xVal>
            <c:numRef>
              <c:f>'Relationship 2023Q1'!$B$2:$B$30</c:f>
              <c:numCache>
                <c:formatCode>General</c:formatCode>
                <c:ptCount val="29"/>
                <c:pt idx="0">
                  <c:v>12.4</c:v>
                </c:pt>
                <c:pt idx="1">
                  <c:v>13.68</c:v>
                </c:pt>
                <c:pt idx="2">
                  <c:v>14.69</c:v>
                </c:pt>
                <c:pt idx="3">
                  <c:v>17.100000000000001</c:v>
                </c:pt>
                <c:pt idx="4">
                  <c:v>19.41</c:v>
                </c:pt>
                <c:pt idx="5">
                  <c:v>21.83</c:v>
                </c:pt>
                <c:pt idx="6">
                  <c:v>23.27</c:v>
                </c:pt>
                <c:pt idx="7">
                  <c:v>24.73</c:v>
                </c:pt>
                <c:pt idx="8">
                  <c:v>25.95</c:v>
                </c:pt>
                <c:pt idx="9">
                  <c:v>25.95</c:v>
                </c:pt>
                <c:pt idx="10">
                  <c:v>27.05</c:v>
                </c:pt>
                <c:pt idx="11">
                  <c:v>28.16</c:v>
                </c:pt>
                <c:pt idx="12">
                  <c:v>29.35</c:v>
                </c:pt>
                <c:pt idx="13">
                  <c:v>30.56</c:v>
                </c:pt>
                <c:pt idx="14">
                  <c:v>32.32</c:v>
                </c:pt>
                <c:pt idx="15">
                  <c:v>33.92</c:v>
                </c:pt>
                <c:pt idx="16">
                  <c:v>35.51</c:v>
                </c:pt>
                <c:pt idx="17">
                  <c:v>37.15</c:v>
                </c:pt>
                <c:pt idx="18">
                  <c:v>38.799999999999997</c:v>
                </c:pt>
                <c:pt idx="19">
                  <c:v>40.65</c:v>
                </c:pt>
                <c:pt idx="20">
                  <c:v>42.5</c:v>
                </c:pt>
                <c:pt idx="21">
                  <c:v>44.89</c:v>
                </c:pt>
                <c:pt idx="22">
                  <c:v>46.86</c:v>
                </c:pt>
                <c:pt idx="23">
                  <c:v>48.18</c:v>
                </c:pt>
                <c:pt idx="24">
                  <c:v>50.8</c:v>
                </c:pt>
                <c:pt idx="25">
                  <c:v>51.79</c:v>
                </c:pt>
                <c:pt idx="26">
                  <c:v>53.52</c:v>
                </c:pt>
                <c:pt idx="27">
                  <c:v>54.56</c:v>
                </c:pt>
                <c:pt idx="28">
                  <c:v>55.68</c:v>
                </c:pt>
              </c:numCache>
            </c:numRef>
          </c:xVal>
          <c:yVal>
            <c:numRef>
              <c:f>'Relationship 2023Q1'!$C$2:$C$30</c:f>
              <c:numCache>
                <c:formatCode>General</c:formatCode>
                <c:ptCount val="29"/>
                <c:pt idx="0">
                  <c:v>248.45400000000001</c:v>
                </c:pt>
                <c:pt idx="1">
                  <c:v>179.49</c:v>
                </c:pt>
                <c:pt idx="2">
                  <c:v>130.85400000000001</c:v>
                </c:pt>
                <c:pt idx="3">
                  <c:v>85.691999999999993</c:v>
                </c:pt>
                <c:pt idx="4">
                  <c:v>79.902000000000001</c:v>
                </c:pt>
                <c:pt idx="5">
                  <c:v>76.427999999999997</c:v>
                </c:pt>
                <c:pt idx="6">
                  <c:v>71.796000000000006</c:v>
                </c:pt>
                <c:pt idx="7">
                  <c:v>68.322000000000003</c:v>
                </c:pt>
                <c:pt idx="8">
                  <c:v>68.322000000000003</c:v>
                </c:pt>
                <c:pt idx="9">
                  <c:v>67.164000000000001</c:v>
                </c:pt>
                <c:pt idx="10">
                  <c:v>66.006</c:v>
                </c:pt>
                <c:pt idx="11">
                  <c:v>66.006</c:v>
                </c:pt>
                <c:pt idx="12">
                  <c:v>64.847999999999999</c:v>
                </c:pt>
                <c:pt idx="13">
                  <c:v>61.374000000000002</c:v>
                </c:pt>
                <c:pt idx="14">
                  <c:v>60.216000000000001</c:v>
                </c:pt>
                <c:pt idx="15">
                  <c:v>57.9</c:v>
                </c:pt>
                <c:pt idx="16">
                  <c:v>55.584000000000003</c:v>
                </c:pt>
                <c:pt idx="17">
                  <c:v>54.426000000000002</c:v>
                </c:pt>
                <c:pt idx="18">
                  <c:v>53.268000000000001</c:v>
                </c:pt>
                <c:pt idx="19">
                  <c:v>50.951999999999998</c:v>
                </c:pt>
                <c:pt idx="20">
                  <c:v>48.636000000000003</c:v>
                </c:pt>
                <c:pt idx="21">
                  <c:v>47.478000000000002</c:v>
                </c:pt>
                <c:pt idx="22">
                  <c:v>47.478000000000002</c:v>
                </c:pt>
                <c:pt idx="23">
                  <c:v>47.478000000000002</c:v>
                </c:pt>
                <c:pt idx="24">
                  <c:v>46.32</c:v>
                </c:pt>
                <c:pt idx="25">
                  <c:v>46.32</c:v>
                </c:pt>
                <c:pt idx="26">
                  <c:v>45.161999999999999</c:v>
                </c:pt>
                <c:pt idx="27">
                  <c:v>45.161999999999999</c:v>
                </c:pt>
                <c:pt idx="28">
                  <c:v>46.32</c:v>
                </c:pt>
              </c:numCache>
            </c:numRef>
          </c:yVal>
          <c:smooth val="0"/>
          <c:extLst>
            <c:ext xmlns:c16="http://schemas.microsoft.com/office/drawing/2014/chart" uri="{C3380CC4-5D6E-409C-BE32-E72D297353CC}">
              <c16:uniqueId val="{00000001-BE9E-4A6F-98D2-9380C83C62CF}"/>
            </c:ext>
          </c:extLst>
        </c:ser>
        <c:dLbls>
          <c:showLegendKey val="0"/>
          <c:showVal val="0"/>
          <c:showCatName val="0"/>
          <c:showSerName val="0"/>
          <c:showPercent val="0"/>
          <c:showBubbleSize val="0"/>
        </c:dLbls>
        <c:axId val="1597918768"/>
        <c:axId val="1597933168"/>
      </c:scatterChart>
      <c:valAx>
        <c:axId val="159791876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bg1"/>
                    </a:solidFill>
                    <a:latin typeface="+mn-lt"/>
                    <a:ea typeface="+mn-ea"/>
                    <a:cs typeface="+mn-cs"/>
                  </a:defRPr>
                </a:pPr>
                <a:r>
                  <a:rPr lang="en-US" sz="1000" b="0" i="0" u="none" strike="noStrike" kern="1200" baseline="0">
                    <a:solidFill>
                      <a:schemeClr val="bg1"/>
                    </a:solidFill>
                  </a:rPr>
                  <a:t>Generation (TWh)</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597933168"/>
        <c:crosses val="autoZero"/>
        <c:crossBetween val="midCat"/>
      </c:valAx>
      <c:valAx>
        <c:axId val="159793316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bg1"/>
                    </a:solidFill>
                    <a:latin typeface="+mn-lt"/>
                    <a:ea typeface="+mn-ea"/>
                    <a:cs typeface="+mn-cs"/>
                  </a:defRPr>
                </a:pPr>
                <a:r>
                  <a:rPr lang="en-US" sz="1000" b="0" i="0" u="none" strike="noStrike" kern="1200" baseline="0">
                    <a:solidFill>
                      <a:schemeClr val="bg1"/>
                    </a:solidFill>
                  </a:rPr>
                  <a:t>Capture Price (€/MWh)</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59791876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scatterChart>
        <c:scatterStyle val="lineMarker"/>
        <c:varyColors val="0"/>
        <c:ser>
          <c:idx val="0"/>
          <c:order val="0"/>
          <c:tx>
            <c:strRef>
              <c:f>'Relationship 2023Q1'!$E$1</c:f>
              <c:strCache>
                <c:ptCount val="1"/>
                <c:pt idx="0">
                  <c:v>Capture_Price Onshore Wind</c:v>
                </c:pt>
              </c:strCache>
            </c:strRef>
          </c:tx>
          <c:spPr>
            <a:ln w="2540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xVal>
            <c:numRef>
              <c:f>'Relationship 2023Q1'!$D$2:$D$30</c:f>
              <c:numCache>
                <c:formatCode>General</c:formatCode>
                <c:ptCount val="29"/>
                <c:pt idx="0">
                  <c:v>104.711351127806</c:v>
                </c:pt>
                <c:pt idx="1">
                  <c:v>107.41787820215799</c:v>
                </c:pt>
                <c:pt idx="2">
                  <c:v>114.166242238355</c:v>
                </c:pt>
                <c:pt idx="3">
                  <c:v>124.46941377187601</c:v>
                </c:pt>
                <c:pt idx="4">
                  <c:v>131.16961615934301</c:v>
                </c:pt>
                <c:pt idx="5">
                  <c:v>138.86348106324601</c:v>
                </c:pt>
                <c:pt idx="6">
                  <c:v>145.51520895469099</c:v>
                </c:pt>
                <c:pt idx="7">
                  <c:v>153.82905043837101</c:v>
                </c:pt>
                <c:pt idx="8">
                  <c:v>165.43161754103301</c:v>
                </c:pt>
                <c:pt idx="9">
                  <c:v>178.544896787167</c:v>
                </c:pt>
                <c:pt idx="10">
                  <c:v>188.33961517956899</c:v>
                </c:pt>
                <c:pt idx="11">
                  <c:v>199.571276480222</c:v>
                </c:pt>
                <c:pt idx="12">
                  <c:v>211.958577169867</c:v>
                </c:pt>
                <c:pt idx="13">
                  <c:v>224.63593696793799</c:v>
                </c:pt>
                <c:pt idx="14">
                  <c:v>235.771068242756</c:v>
                </c:pt>
                <c:pt idx="15">
                  <c:v>248.49131448771601</c:v>
                </c:pt>
                <c:pt idx="16">
                  <c:v>261.45305552047199</c:v>
                </c:pt>
                <c:pt idx="17">
                  <c:v>276.83365103867698</c:v>
                </c:pt>
                <c:pt idx="18">
                  <c:v>287.98570424926902</c:v>
                </c:pt>
                <c:pt idx="19">
                  <c:v>300.71809032100299</c:v>
                </c:pt>
                <c:pt idx="20">
                  <c:v>313.96852637619497</c:v>
                </c:pt>
                <c:pt idx="21">
                  <c:v>326.83620769824603</c:v>
                </c:pt>
                <c:pt idx="22">
                  <c:v>334.154420016887</c:v>
                </c:pt>
                <c:pt idx="23">
                  <c:v>343.482731392407</c:v>
                </c:pt>
                <c:pt idx="24">
                  <c:v>352.33031860510499</c:v>
                </c:pt>
                <c:pt idx="25">
                  <c:v>363.70666167300402</c:v>
                </c:pt>
                <c:pt idx="26">
                  <c:v>372.56379735633101</c:v>
                </c:pt>
                <c:pt idx="27">
                  <c:v>381.85357083943899</c:v>
                </c:pt>
              </c:numCache>
            </c:numRef>
          </c:xVal>
          <c:yVal>
            <c:numRef>
              <c:f>'Relationship 2023Q1'!$E$2:$E$30</c:f>
              <c:numCache>
                <c:formatCode>General</c:formatCode>
                <c:ptCount val="29"/>
                <c:pt idx="0">
                  <c:v>106.44499399999999</c:v>
                </c:pt>
                <c:pt idx="1">
                  <c:v>105.418055</c:v>
                </c:pt>
                <c:pt idx="2">
                  <c:v>95.777507999999997</c:v>
                </c:pt>
                <c:pt idx="3">
                  <c:v>81.474036999999996</c:v>
                </c:pt>
                <c:pt idx="4">
                  <c:v>75.549957000000006</c:v>
                </c:pt>
                <c:pt idx="5">
                  <c:v>72.032155000000003</c:v>
                </c:pt>
                <c:pt idx="6">
                  <c:v>67.710065999999998</c:v>
                </c:pt>
                <c:pt idx="7">
                  <c:v>62.457540000000002</c:v>
                </c:pt>
                <c:pt idx="8">
                  <c:v>61.444045000000003</c:v>
                </c:pt>
                <c:pt idx="9">
                  <c:v>59.881157000000002</c:v>
                </c:pt>
                <c:pt idx="10">
                  <c:v>60.784483000000002</c:v>
                </c:pt>
                <c:pt idx="11">
                  <c:v>59.176468</c:v>
                </c:pt>
                <c:pt idx="12">
                  <c:v>59.363745999999999</c:v>
                </c:pt>
                <c:pt idx="13">
                  <c:v>59.347054</c:v>
                </c:pt>
                <c:pt idx="14">
                  <c:v>60.506532</c:v>
                </c:pt>
                <c:pt idx="15">
                  <c:v>60.734271999999997</c:v>
                </c:pt>
                <c:pt idx="16">
                  <c:v>60.596175000000002</c:v>
                </c:pt>
                <c:pt idx="17">
                  <c:v>58.292422999999999</c:v>
                </c:pt>
                <c:pt idx="18">
                  <c:v>57.437781000000001</c:v>
                </c:pt>
                <c:pt idx="19">
                  <c:v>56.928154999999997</c:v>
                </c:pt>
                <c:pt idx="20">
                  <c:v>54.072721999999999</c:v>
                </c:pt>
                <c:pt idx="21">
                  <c:v>52.721632</c:v>
                </c:pt>
                <c:pt idx="22">
                  <c:v>51.62623</c:v>
                </c:pt>
                <c:pt idx="23">
                  <c:v>49.486162999999998</c:v>
                </c:pt>
                <c:pt idx="24">
                  <c:v>48.872943999999997</c:v>
                </c:pt>
                <c:pt idx="25">
                  <c:v>47.647022999999997</c:v>
                </c:pt>
                <c:pt idx="26">
                  <c:v>46.706453000000003</c:v>
                </c:pt>
                <c:pt idx="27">
                  <c:v>45.227919</c:v>
                </c:pt>
              </c:numCache>
            </c:numRef>
          </c:yVal>
          <c:smooth val="0"/>
          <c:extLst>
            <c:ext xmlns:c16="http://schemas.microsoft.com/office/drawing/2014/chart" uri="{C3380CC4-5D6E-409C-BE32-E72D297353CC}">
              <c16:uniqueId val="{00000001-9CD3-4A85-B16E-1FF34127ED9E}"/>
            </c:ext>
          </c:extLst>
        </c:ser>
        <c:dLbls>
          <c:showLegendKey val="0"/>
          <c:showVal val="0"/>
          <c:showCatName val="0"/>
          <c:showSerName val="0"/>
          <c:showPercent val="0"/>
          <c:showBubbleSize val="0"/>
        </c:dLbls>
        <c:axId val="1597938448"/>
        <c:axId val="1597938928"/>
      </c:scatterChart>
      <c:valAx>
        <c:axId val="1597938448"/>
        <c:scaling>
          <c:orientation val="minMax"/>
          <c:max val="400"/>
        </c:scaling>
        <c:delete val="0"/>
        <c:axPos val="b"/>
        <c:title>
          <c:tx>
            <c:rich>
              <a:bodyPr rot="0" spcFirstLastPara="1" vertOverflow="ellipsis" vert="horz" wrap="square" anchor="ctr" anchorCtr="1"/>
              <a:lstStyle/>
              <a:p>
                <a:pPr>
                  <a:defRPr sz="1000" b="0" i="0" u="none" strike="noStrike" kern="1200" baseline="0">
                    <a:solidFill>
                      <a:schemeClr val="bg1"/>
                    </a:solidFill>
                    <a:latin typeface="+mn-lt"/>
                    <a:ea typeface="+mn-ea"/>
                    <a:cs typeface="+mn-cs"/>
                  </a:defRPr>
                </a:pPr>
                <a:r>
                  <a:rPr lang="en-US"/>
                  <a:t>Generation (TWh)</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597938928"/>
        <c:crosses val="autoZero"/>
        <c:crossBetween val="midCat"/>
      </c:valAx>
      <c:valAx>
        <c:axId val="159793892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bg1"/>
                    </a:solidFill>
                    <a:latin typeface="+mn-lt"/>
                    <a:ea typeface="+mn-ea"/>
                    <a:cs typeface="+mn-cs"/>
                  </a:defRPr>
                </a:pPr>
                <a:r>
                  <a:rPr lang="en-US"/>
                  <a:t>Capture Price (€/MWh)</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59793844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2">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withinLinear" id="17">
  <a:schemeClr val="accent4"/>
</cs:colorStyle>
</file>

<file path=ppt/charts/colors11.xml><?xml version="1.0" encoding="utf-8"?>
<cs:colorStyle xmlns:cs="http://schemas.microsoft.com/office/drawing/2012/chartStyle" xmlns:a="http://schemas.openxmlformats.org/drawingml/2006/main" meth="withinLinear" id="18">
  <a:schemeClr val="accent5"/>
</cs:colorStyle>
</file>

<file path=ppt/charts/colors12.xml><?xml version="1.0" encoding="utf-8"?>
<cs:colorStyle xmlns:cs="http://schemas.microsoft.com/office/drawing/2012/chartStyle" xmlns:a="http://schemas.openxmlformats.org/drawingml/2006/main" meth="withinLinear" id="17">
  <a:schemeClr val="accent4"/>
</cs:colorStyle>
</file>

<file path=ppt/charts/colors13.xml><?xml version="1.0" encoding="utf-8"?>
<cs:colorStyle xmlns:cs="http://schemas.microsoft.com/office/drawing/2012/chartStyle" xmlns:a="http://schemas.openxmlformats.org/drawingml/2006/main" meth="withinLinearReversed" id="21">
  <a:schemeClr val="accent1"/>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9109D8-C355-48B8-9275-05DC84CF2860}" type="datetimeFigureOut">
              <a:rPr lang="en-US" smtClean="0"/>
              <a:t>10/31/2025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E6B586-3E08-4E14-8E72-009A59EBB152}" type="slidenum">
              <a:rPr lang="en-US" smtClean="0"/>
              <a:t>‹#›</a:t>
            </a:fld>
            <a:endParaRPr lang="en-US"/>
          </a:p>
        </p:txBody>
      </p:sp>
    </p:spTree>
    <p:extLst>
      <p:ext uri="{BB962C8B-B14F-4D97-AF65-F5344CB8AC3E}">
        <p14:creationId xmlns:p14="http://schemas.microsoft.com/office/powerpoint/2010/main" val="508830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E6B586-3E08-4E14-8E72-009A59EBB152}" type="slidenum">
              <a:rPr lang="en-US" smtClean="0"/>
              <a:t>12</a:t>
            </a:fld>
            <a:endParaRPr lang="en-US"/>
          </a:p>
        </p:txBody>
      </p:sp>
    </p:spTree>
    <p:extLst>
      <p:ext uri="{BB962C8B-B14F-4D97-AF65-F5344CB8AC3E}">
        <p14:creationId xmlns:p14="http://schemas.microsoft.com/office/powerpoint/2010/main" val="3506833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95143-4902-0C05-ED69-BFCD7B4E3B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645789D-4B00-11EB-4CB2-CE5C979CD7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B38672B-C0EF-BEE6-3EE6-7441FCBC383D}"/>
              </a:ext>
            </a:extLst>
          </p:cNvPr>
          <p:cNvSpPr>
            <a:spLocks noGrp="1"/>
          </p:cNvSpPr>
          <p:nvPr>
            <p:ph type="dt" sz="half" idx="10"/>
          </p:nvPr>
        </p:nvSpPr>
        <p:spPr/>
        <p:txBody>
          <a:bodyPr/>
          <a:lstStyle/>
          <a:p>
            <a:fld id="{9B2F3726-B035-4048-8DB5-57ED6A112E60}" type="datetimeFigureOut">
              <a:rPr lang="en-US" smtClean="0"/>
              <a:t>10/31/2025</a:t>
            </a:fld>
            <a:endParaRPr lang="en-US"/>
          </a:p>
        </p:txBody>
      </p:sp>
      <p:sp>
        <p:nvSpPr>
          <p:cNvPr id="5" name="Footer Placeholder 4">
            <a:extLst>
              <a:ext uri="{FF2B5EF4-FFF2-40B4-BE49-F238E27FC236}">
                <a16:creationId xmlns:a16="http://schemas.microsoft.com/office/drawing/2014/main" id="{0E50EBD3-5088-A4C9-4BED-CB9CB4A77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765266-4076-C67E-5BD3-51297BCEFA92}"/>
              </a:ext>
            </a:extLst>
          </p:cNvPr>
          <p:cNvSpPr>
            <a:spLocks noGrp="1"/>
          </p:cNvSpPr>
          <p:nvPr>
            <p:ph type="sldNum" sz="quarter" idx="12"/>
          </p:nvPr>
        </p:nvSpPr>
        <p:spPr/>
        <p:txBody>
          <a:bodyPr/>
          <a:lstStyle/>
          <a:p>
            <a:fld id="{F02DFC31-2304-4AA6-ADB7-4F8EFDA7A315}" type="slidenum">
              <a:rPr lang="en-US" smtClean="0"/>
              <a:t>‹#›</a:t>
            </a:fld>
            <a:endParaRPr lang="en-US"/>
          </a:p>
        </p:txBody>
      </p:sp>
    </p:spTree>
    <p:extLst>
      <p:ext uri="{BB962C8B-B14F-4D97-AF65-F5344CB8AC3E}">
        <p14:creationId xmlns:p14="http://schemas.microsoft.com/office/powerpoint/2010/main" val="2967012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DBA18-FDE2-60C9-04BE-B603A5C33C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FAD06B-0B26-32D6-6045-C09FE35EB4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F1E71E-4AD2-E2E5-256B-33A6ED812DD1}"/>
              </a:ext>
            </a:extLst>
          </p:cNvPr>
          <p:cNvSpPr>
            <a:spLocks noGrp="1"/>
          </p:cNvSpPr>
          <p:nvPr>
            <p:ph type="dt" sz="half" idx="10"/>
          </p:nvPr>
        </p:nvSpPr>
        <p:spPr/>
        <p:txBody>
          <a:bodyPr/>
          <a:lstStyle/>
          <a:p>
            <a:fld id="{9B2F3726-B035-4048-8DB5-57ED6A112E60}" type="datetimeFigureOut">
              <a:rPr lang="en-US" smtClean="0"/>
              <a:t>10/31/2025</a:t>
            </a:fld>
            <a:endParaRPr lang="en-US"/>
          </a:p>
        </p:txBody>
      </p:sp>
      <p:sp>
        <p:nvSpPr>
          <p:cNvPr id="5" name="Footer Placeholder 4">
            <a:extLst>
              <a:ext uri="{FF2B5EF4-FFF2-40B4-BE49-F238E27FC236}">
                <a16:creationId xmlns:a16="http://schemas.microsoft.com/office/drawing/2014/main" id="{7BE7F377-6DB8-3B21-AF1E-D1B1A0B1D3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50E9CA-0279-64DA-E343-5ED86495F7E1}"/>
              </a:ext>
            </a:extLst>
          </p:cNvPr>
          <p:cNvSpPr>
            <a:spLocks noGrp="1"/>
          </p:cNvSpPr>
          <p:nvPr>
            <p:ph type="sldNum" sz="quarter" idx="12"/>
          </p:nvPr>
        </p:nvSpPr>
        <p:spPr/>
        <p:txBody>
          <a:bodyPr/>
          <a:lstStyle/>
          <a:p>
            <a:fld id="{F02DFC31-2304-4AA6-ADB7-4F8EFDA7A315}" type="slidenum">
              <a:rPr lang="en-US" smtClean="0"/>
              <a:t>‹#›</a:t>
            </a:fld>
            <a:endParaRPr lang="en-US"/>
          </a:p>
        </p:txBody>
      </p:sp>
    </p:spTree>
    <p:extLst>
      <p:ext uri="{BB962C8B-B14F-4D97-AF65-F5344CB8AC3E}">
        <p14:creationId xmlns:p14="http://schemas.microsoft.com/office/powerpoint/2010/main" val="1797330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147D-8265-7CA4-0B2C-7A4ECAFD54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0C1458-1301-586E-BD0B-45CADD9EA8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2850AD-B153-4CA7-A795-635D2141C74E}"/>
              </a:ext>
            </a:extLst>
          </p:cNvPr>
          <p:cNvSpPr>
            <a:spLocks noGrp="1"/>
          </p:cNvSpPr>
          <p:nvPr>
            <p:ph type="dt" sz="half" idx="10"/>
          </p:nvPr>
        </p:nvSpPr>
        <p:spPr/>
        <p:txBody>
          <a:bodyPr/>
          <a:lstStyle/>
          <a:p>
            <a:fld id="{9B2F3726-B035-4048-8DB5-57ED6A112E60}" type="datetimeFigureOut">
              <a:rPr lang="en-US" smtClean="0"/>
              <a:t>10/31/2025</a:t>
            </a:fld>
            <a:endParaRPr lang="en-US"/>
          </a:p>
        </p:txBody>
      </p:sp>
      <p:sp>
        <p:nvSpPr>
          <p:cNvPr id="5" name="Footer Placeholder 4">
            <a:extLst>
              <a:ext uri="{FF2B5EF4-FFF2-40B4-BE49-F238E27FC236}">
                <a16:creationId xmlns:a16="http://schemas.microsoft.com/office/drawing/2014/main" id="{956F7607-6346-B141-E3B4-78507E1F3B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A15504-E12C-AB4B-B2A3-4A069D5D8642}"/>
              </a:ext>
            </a:extLst>
          </p:cNvPr>
          <p:cNvSpPr>
            <a:spLocks noGrp="1"/>
          </p:cNvSpPr>
          <p:nvPr>
            <p:ph type="sldNum" sz="quarter" idx="12"/>
          </p:nvPr>
        </p:nvSpPr>
        <p:spPr/>
        <p:txBody>
          <a:bodyPr/>
          <a:lstStyle/>
          <a:p>
            <a:fld id="{F02DFC31-2304-4AA6-ADB7-4F8EFDA7A315}" type="slidenum">
              <a:rPr lang="en-US" smtClean="0"/>
              <a:t>‹#›</a:t>
            </a:fld>
            <a:endParaRPr lang="en-US"/>
          </a:p>
        </p:txBody>
      </p:sp>
    </p:spTree>
    <p:extLst>
      <p:ext uri="{BB962C8B-B14F-4D97-AF65-F5344CB8AC3E}">
        <p14:creationId xmlns:p14="http://schemas.microsoft.com/office/powerpoint/2010/main" val="1243160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F00C9-BF00-6F17-2596-4C856DD8D5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C2A132-31C4-ACEB-ED8C-30858111C3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6A080E-7068-913B-C60A-F629A31F6C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4668C0-D90F-0C8F-1A7F-7B1982EBD282}"/>
              </a:ext>
            </a:extLst>
          </p:cNvPr>
          <p:cNvSpPr>
            <a:spLocks noGrp="1"/>
          </p:cNvSpPr>
          <p:nvPr>
            <p:ph type="dt" sz="half" idx="10"/>
          </p:nvPr>
        </p:nvSpPr>
        <p:spPr/>
        <p:txBody>
          <a:bodyPr/>
          <a:lstStyle/>
          <a:p>
            <a:fld id="{9B2F3726-B035-4048-8DB5-57ED6A112E60}" type="datetimeFigureOut">
              <a:rPr lang="en-US" smtClean="0"/>
              <a:t>10/31/2025</a:t>
            </a:fld>
            <a:endParaRPr lang="en-US"/>
          </a:p>
        </p:txBody>
      </p:sp>
      <p:sp>
        <p:nvSpPr>
          <p:cNvPr id="6" name="Footer Placeholder 5">
            <a:extLst>
              <a:ext uri="{FF2B5EF4-FFF2-40B4-BE49-F238E27FC236}">
                <a16:creationId xmlns:a16="http://schemas.microsoft.com/office/drawing/2014/main" id="{D2D604FF-2A1E-EC6A-F41F-DAD799AC7E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FFCC63-862A-73C5-FD8B-97135FC098A1}"/>
              </a:ext>
            </a:extLst>
          </p:cNvPr>
          <p:cNvSpPr>
            <a:spLocks noGrp="1"/>
          </p:cNvSpPr>
          <p:nvPr>
            <p:ph type="sldNum" sz="quarter" idx="12"/>
          </p:nvPr>
        </p:nvSpPr>
        <p:spPr/>
        <p:txBody>
          <a:bodyPr/>
          <a:lstStyle/>
          <a:p>
            <a:fld id="{F02DFC31-2304-4AA6-ADB7-4F8EFDA7A315}" type="slidenum">
              <a:rPr lang="en-US" smtClean="0"/>
              <a:t>‹#›</a:t>
            </a:fld>
            <a:endParaRPr lang="en-US"/>
          </a:p>
        </p:txBody>
      </p:sp>
    </p:spTree>
    <p:extLst>
      <p:ext uri="{BB962C8B-B14F-4D97-AF65-F5344CB8AC3E}">
        <p14:creationId xmlns:p14="http://schemas.microsoft.com/office/powerpoint/2010/main" val="42520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F2160-E6CB-2AF0-97C2-3E2C8B84176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DBC9638-E2AE-F16C-E8D2-0F5601B89E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2D6D12-C5F1-B8F2-499A-F5249308AC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FB0F94-AC75-A872-F3AF-A2793449BE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8D9412-A16C-1EC4-563A-CD90971127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5CFF54D-FA34-3738-1226-2CA63CC0D95C}"/>
              </a:ext>
            </a:extLst>
          </p:cNvPr>
          <p:cNvSpPr>
            <a:spLocks noGrp="1"/>
          </p:cNvSpPr>
          <p:nvPr>
            <p:ph type="dt" sz="half" idx="10"/>
          </p:nvPr>
        </p:nvSpPr>
        <p:spPr/>
        <p:txBody>
          <a:bodyPr/>
          <a:lstStyle/>
          <a:p>
            <a:fld id="{9B2F3726-B035-4048-8DB5-57ED6A112E60}" type="datetimeFigureOut">
              <a:rPr lang="en-US" smtClean="0"/>
              <a:t>10/31/2025</a:t>
            </a:fld>
            <a:endParaRPr lang="en-US"/>
          </a:p>
        </p:txBody>
      </p:sp>
      <p:sp>
        <p:nvSpPr>
          <p:cNvPr id="8" name="Footer Placeholder 7">
            <a:extLst>
              <a:ext uri="{FF2B5EF4-FFF2-40B4-BE49-F238E27FC236}">
                <a16:creationId xmlns:a16="http://schemas.microsoft.com/office/drawing/2014/main" id="{20789984-2E1B-0609-7C0E-406878F8E3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56492F-EC36-798B-8D9A-327C0B85E8F4}"/>
              </a:ext>
            </a:extLst>
          </p:cNvPr>
          <p:cNvSpPr>
            <a:spLocks noGrp="1"/>
          </p:cNvSpPr>
          <p:nvPr>
            <p:ph type="sldNum" sz="quarter" idx="12"/>
          </p:nvPr>
        </p:nvSpPr>
        <p:spPr/>
        <p:txBody>
          <a:bodyPr/>
          <a:lstStyle/>
          <a:p>
            <a:fld id="{F02DFC31-2304-4AA6-ADB7-4F8EFDA7A315}" type="slidenum">
              <a:rPr lang="en-US" smtClean="0"/>
              <a:t>‹#›</a:t>
            </a:fld>
            <a:endParaRPr lang="en-US"/>
          </a:p>
        </p:txBody>
      </p:sp>
    </p:spTree>
    <p:extLst>
      <p:ext uri="{BB962C8B-B14F-4D97-AF65-F5344CB8AC3E}">
        <p14:creationId xmlns:p14="http://schemas.microsoft.com/office/powerpoint/2010/main" val="2407941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3B6C9-7F31-D65D-AFD8-77DA7E4244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C3E89A3-79A3-CD9B-0B24-06A561CF06C3}"/>
              </a:ext>
            </a:extLst>
          </p:cNvPr>
          <p:cNvSpPr>
            <a:spLocks noGrp="1"/>
          </p:cNvSpPr>
          <p:nvPr>
            <p:ph type="dt" sz="half" idx="10"/>
          </p:nvPr>
        </p:nvSpPr>
        <p:spPr/>
        <p:txBody>
          <a:bodyPr/>
          <a:lstStyle/>
          <a:p>
            <a:fld id="{9B2F3726-B035-4048-8DB5-57ED6A112E60}" type="datetimeFigureOut">
              <a:rPr lang="en-US" smtClean="0"/>
              <a:t>10/31/2025</a:t>
            </a:fld>
            <a:endParaRPr lang="en-US"/>
          </a:p>
        </p:txBody>
      </p:sp>
      <p:sp>
        <p:nvSpPr>
          <p:cNvPr id="4" name="Footer Placeholder 3">
            <a:extLst>
              <a:ext uri="{FF2B5EF4-FFF2-40B4-BE49-F238E27FC236}">
                <a16:creationId xmlns:a16="http://schemas.microsoft.com/office/drawing/2014/main" id="{9BA88CB6-FE6C-3078-4F5D-5C66C48899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2A3F9AE-A797-E2D1-F723-1678F55B1810}"/>
              </a:ext>
            </a:extLst>
          </p:cNvPr>
          <p:cNvSpPr>
            <a:spLocks noGrp="1"/>
          </p:cNvSpPr>
          <p:nvPr>
            <p:ph type="sldNum" sz="quarter" idx="12"/>
          </p:nvPr>
        </p:nvSpPr>
        <p:spPr/>
        <p:txBody>
          <a:bodyPr/>
          <a:lstStyle/>
          <a:p>
            <a:fld id="{F02DFC31-2304-4AA6-ADB7-4F8EFDA7A315}" type="slidenum">
              <a:rPr lang="en-US" smtClean="0"/>
              <a:t>‹#›</a:t>
            </a:fld>
            <a:endParaRPr lang="en-US"/>
          </a:p>
        </p:txBody>
      </p:sp>
    </p:spTree>
    <p:extLst>
      <p:ext uri="{BB962C8B-B14F-4D97-AF65-F5344CB8AC3E}">
        <p14:creationId xmlns:p14="http://schemas.microsoft.com/office/powerpoint/2010/main" val="3174215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BDBA57-5D6B-F2AD-70DC-C8BA0ACF84D2}"/>
              </a:ext>
            </a:extLst>
          </p:cNvPr>
          <p:cNvSpPr>
            <a:spLocks noGrp="1"/>
          </p:cNvSpPr>
          <p:nvPr>
            <p:ph type="dt" sz="half" idx="10"/>
          </p:nvPr>
        </p:nvSpPr>
        <p:spPr/>
        <p:txBody>
          <a:bodyPr/>
          <a:lstStyle/>
          <a:p>
            <a:fld id="{9B2F3726-B035-4048-8DB5-57ED6A112E60}" type="datetimeFigureOut">
              <a:rPr lang="en-US" smtClean="0"/>
              <a:t>10/31/2025</a:t>
            </a:fld>
            <a:endParaRPr lang="en-US"/>
          </a:p>
        </p:txBody>
      </p:sp>
      <p:sp>
        <p:nvSpPr>
          <p:cNvPr id="3" name="Footer Placeholder 2">
            <a:extLst>
              <a:ext uri="{FF2B5EF4-FFF2-40B4-BE49-F238E27FC236}">
                <a16:creationId xmlns:a16="http://schemas.microsoft.com/office/drawing/2014/main" id="{F94976CB-AA65-46B9-8C84-5F7F0CE531D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6A7992-F830-0B1C-4726-760C625163E5}"/>
              </a:ext>
            </a:extLst>
          </p:cNvPr>
          <p:cNvSpPr>
            <a:spLocks noGrp="1"/>
          </p:cNvSpPr>
          <p:nvPr>
            <p:ph type="sldNum" sz="quarter" idx="12"/>
          </p:nvPr>
        </p:nvSpPr>
        <p:spPr/>
        <p:txBody>
          <a:bodyPr/>
          <a:lstStyle/>
          <a:p>
            <a:fld id="{F02DFC31-2304-4AA6-ADB7-4F8EFDA7A315}" type="slidenum">
              <a:rPr lang="en-US" smtClean="0"/>
              <a:t>‹#›</a:t>
            </a:fld>
            <a:endParaRPr lang="en-US"/>
          </a:p>
        </p:txBody>
      </p:sp>
    </p:spTree>
    <p:extLst>
      <p:ext uri="{BB962C8B-B14F-4D97-AF65-F5344CB8AC3E}">
        <p14:creationId xmlns:p14="http://schemas.microsoft.com/office/powerpoint/2010/main" val="2094689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CD41B-46EE-4973-6792-0DAA6758C1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1E5B903-31CA-39A2-D200-C1E0D9413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7DBFDC-AB89-612C-69FD-948CFAD46F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BFB606-F9EE-096B-C917-CC8808C0FA9D}"/>
              </a:ext>
            </a:extLst>
          </p:cNvPr>
          <p:cNvSpPr>
            <a:spLocks noGrp="1"/>
          </p:cNvSpPr>
          <p:nvPr>
            <p:ph type="dt" sz="half" idx="10"/>
          </p:nvPr>
        </p:nvSpPr>
        <p:spPr/>
        <p:txBody>
          <a:bodyPr/>
          <a:lstStyle/>
          <a:p>
            <a:fld id="{9B2F3726-B035-4048-8DB5-57ED6A112E60}" type="datetimeFigureOut">
              <a:rPr lang="en-US" smtClean="0"/>
              <a:t>10/31/2025</a:t>
            </a:fld>
            <a:endParaRPr lang="en-US"/>
          </a:p>
        </p:txBody>
      </p:sp>
      <p:sp>
        <p:nvSpPr>
          <p:cNvPr id="6" name="Footer Placeholder 5">
            <a:extLst>
              <a:ext uri="{FF2B5EF4-FFF2-40B4-BE49-F238E27FC236}">
                <a16:creationId xmlns:a16="http://schemas.microsoft.com/office/drawing/2014/main" id="{7F876E83-1317-9CAB-1EBB-4E9E785A33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C3D6CA-6A18-A73A-2716-D2F969FCF959}"/>
              </a:ext>
            </a:extLst>
          </p:cNvPr>
          <p:cNvSpPr>
            <a:spLocks noGrp="1"/>
          </p:cNvSpPr>
          <p:nvPr>
            <p:ph type="sldNum" sz="quarter" idx="12"/>
          </p:nvPr>
        </p:nvSpPr>
        <p:spPr/>
        <p:txBody>
          <a:bodyPr/>
          <a:lstStyle/>
          <a:p>
            <a:fld id="{F02DFC31-2304-4AA6-ADB7-4F8EFDA7A315}" type="slidenum">
              <a:rPr lang="en-US" smtClean="0"/>
              <a:t>‹#›</a:t>
            </a:fld>
            <a:endParaRPr lang="en-US"/>
          </a:p>
        </p:txBody>
      </p:sp>
    </p:spTree>
    <p:extLst>
      <p:ext uri="{BB962C8B-B14F-4D97-AF65-F5344CB8AC3E}">
        <p14:creationId xmlns:p14="http://schemas.microsoft.com/office/powerpoint/2010/main" val="321429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94976-4C6C-575C-C1BA-90F0552390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A1CE0DB-3E3E-5DEF-460B-571DF7D3C9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7ABCFFE-7929-38CD-0236-5F5F47DE57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509932-C9D0-6CB3-9BEF-98EF25D32AAE}"/>
              </a:ext>
            </a:extLst>
          </p:cNvPr>
          <p:cNvSpPr>
            <a:spLocks noGrp="1"/>
          </p:cNvSpPr>
          <p:nvPr>
            <p:ph type="dt" sz="half" idx="10"/>
          </p:nvPr>
        </p:nvSpPr>
        <p:spPr/>
        <p:txBody>
          <a:bodyPr/>
          <a:lstStyle/>
          <a:p>
            <a:fld id="{9B2F3726-B035-4048-8DB5-57ED6A112E60}" type="datetimeFigureOut">
              <a:rPr lang="en-US" smtClean="0"/>
              <a:t>10/31/2025</a:t>
            </a:fld>
            <a:endParaRPr lang="en-US"/>
          </a:p>
        </p:txBody>
      </p:sp>
      <p:sp>
        <p:nvSpPr>
          <p:cNvPr id="6" name="Footer Placeholder 5">
            <a:extLst>
              <a:ext uri="{FF2B5EF4-FFF2-40B4-BE49-F238E27FC236}">
                <a16:creationId xmlns:a16="http://schemas.microsoft.com/office/drawing/2014/main" id="{962D5E03-70DB-4B59-3A76-19CB2FE41C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B8D657-C84C-A108-8F59-C8A0F1B6BFF9}"/>
              </a:ext>
            </a:extLst>
          </p:cNvPr>
          <p:cNvSpPr>
            <a:spLocks noGrp="1"/>
          </p:cNvSpPr>
          <p:nvPr>
            <p:ph type="sldNum" sz="quarter" idx="12"/>
          </p:nvPr>
        </p:nvSpPr>
        <p:spPr/>
        <p:txBody>
          <a:bodyPr/>
          <a:lstStyle/>
          <a:p>
            <a:fld id="{F02DFC31-2304-4AA6-ADB7-4F8EFDA7A315}" type="slidenum">
              <a:rPr lang="en-US" smtClean="0"/>
              <a:t>‹#›</a:t>
            </a:fld>
            <a:endParaRPr lang="en-US"/>
          </a:p>
        </p:txBody>
      </p:sp>
    </p:spTree>
    <p:extLst>
      <p:ext uri="{BB962C8B-B14F-4D97-AF65-F5344CB8AC3E}">
        <p14:creationId xmlns:p14="http://schemas.microsoft.com/office/powerpoint/2010/main" val="958799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A0901-44F4-9628-0364-321B216A37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FF05F0-1A63-9C45-E840-E966B287BB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B140F3-F2D9-7279-5D80-157F4534D352}"/>
              </a:ext>
            </a:extLst>
          </p:cNvPr>
          <p:cNvSpPr>
            <a:spLocks noGrp="1"/>
          </p:cNvSpPr>
          <p:nvPr>
            <p:ph type="dt" sz="half" idx="10"/>
          </p:nvPr>
        </p:nvSpPr>
        <p:spPr/>
        <p:txBody>
          <a:bodyPr/>
          <a:lstStyle/>
          <a:p>
            <a:fld id="{9B2F3726-B035-4048-8DB5-57ED6A112E60}" type="datetimeFigureOut">
              <a:rPr lang="en-US" smtClean="0"/>
              <a:t>10/31/2025</a:t>
            </a:fld>
            <a:endParaRPr lang="en-US"/>
          </a:p>
        </p:txBody>
      </p:sp>
      <p:sp>
        <p:nvSpPr>
          <p:cNvPr id="5" name="Footer Placeholder 4">
            <a:extLst>
              <a:ext uri="{FF2B5EF4-FFF2-40B4-BE49-F238E27FC236}">
                <a16:creationId xmlns:a16="http://schemas.microsoft.com/office/drawing/2014/main" id="{FCBD064E-B433-C798-3666-A7426CB97F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F780A1-88BE-D94A-7A90-8CAE6DA3218D}"/>
              </a:ext>
            </a:extLst>
          </p:cNvPr>
          <p:cNvSpPr>
            <a:spLocks noGrp="1"/>
          </p:cNvSpPr>
          <p:nvPr>
            <p:ph type="sldNum" sz="quarter" idx="12"/>
          </p:nvPr>
        </p:nvSpPr>
        <p:spPr/>
        <p:txBody>
          <a:bodyPr/>
          <a:lstStyle/>
          <a:p>
            <a:fld id="{F02DFC31-2304-4AA6-ADB7-4F8EFDA7A315}" type="slidenum">
              <a:rPr lang="en-US" smtClean="0"/>
              <a:t>‹#›</a:t>
            </a:fld>
            <a:endParaRPr lang="en-US"/>
          </a:p>
        </p:txBody>
      </p:sp>
    </p:spTree>
    <p:extLst>
      <p:ext uri="{BB962C8B-B14F-4D97-AF65-F5344CB8AC3E}">
        <p14:creationId xmlns:p14="http://schemas.microsoft.com/office/powerpoint/2010/main" val="1351937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CA3E4C-D348-E756-AEC9-C1A89E868C4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F4825A-9D4F-757E-2C50-0346ECF3D6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388F60-40BC-CDB3-5B07-7F701E245530}"/>
              </a:ext>
            </a:extLst>
          </p:cNvPr>
          <p:cNvSpPr>
            <a:spLocks noGrp="1"/>
          </p:cNvSpPr>
          <p:nvPr>
            <p:ph type="dt" sz="half" idx="10"/>
          </p:nvPr>
        </p:nvSpPr>
        <p:spPr/>
        <p:txBody>
          <a:bodyPr/>
          <a:lstStyle/>
          <a:p>
            <a:fld id="{9B2F3726-B035-4048-8DB5-57ED6A112E60}" type="datetimeFigureOut">
              <a:rPr lang="en-US" smtClean="0"/>
              <a:t>10/31/2025</a:t>
            </a:fld>
            <a:endParaRPr lang="en-US"/>
          </a:p>
        </p:txBody>
      </p:sp>
      <p:sp>
        <p:nvSpPr>
          <p:cNvPr id="5" name="Footer Placeholder 4">
            <a:extLst>
              <a:ext uri="{FF2B5EF4-FFF2-40B4-BE49-F238E27FC236}">
                <a16:creationId xmlns:a16="http://schemas.microsoft.com/office/drawing/2014/main" id="{5F7D462D-ABA9-AD8C-1BC2-254077FE46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5AA58E-1C3A-A78B-F4F8-B19928284172}"/>
              </a:ext>
            </a:extLst>
          </p:cNvPr>
          <p:cNvSpPr>
            <a:spLocks noGrp="1"/>
          </p:cNvSpPr>
          <p:nvPr>
            <p:ph type="sldNum" sz="quarter" idx="12"/>
          </p:nvPr>
        </p:nvSpPr>
        <p:spPr/>
        <p:txBody>
          <a:bodyPr/>
          <a:lstStyle/>
          <a:p>
            <a:fld id="{F02DFC31-2304-4AA6-ADB7-4F8EFDA7A315}" type="slidenum">
              <a:rPr lang="en-US" smtClean="0"/>
              <a:t>‹#›</a:t>
            </a:fld>
            <a:endParaRPr lang="en-US"/>
          </a:p>
        </p:txBody>
      </p:sp>
    </p:spTree>
    <p:extLst>
      <p:ext uri="{BB962C8B-B14F-4D97-AF65-F5344CB8AC3E}">
        <p14:creationId xmlns:p14="http://schemas.microsoft.com/office/powerpoint/2010/main" val="39795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23DFDF-25FB-78DC-4C10-2C38479FFA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0B659FD-4AB3-CC67-AA5D-34A22F344E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E4E959-00FB-7F22-7888-A07466348C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2F3726-B035-4048-8DB5-57ED6A112E60}" type="datetimeFigureOut">
              <a:rPr lang="en-US" smtClean="0"/>
              <a:t>10/31/2025</a:t>
            </a:fld>
            <a:endParaRPr lang="en-US"/>
          </a:p>
        </p:txBody>
      </p:sp>
      <p:sp>
        <p:nvSpPr>
          <p:cNvPr id="5" name="Footer Placeholder 4">
            <a:extLst>
              <a:ext uri="{FF2B5EF4-FFF2-40B4-BE49-F238E27FC236}">
                <a16:creationId xmlns:a16="http://schemas.microsoft.com/office/drawing/2014/main" id="{A4456E59-91DA-63A9-B3AF-DE14616827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051C51C-BC79-E31B-831C-759E061342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2DFC31-2304-4AA6-ADB7-4F8EFDA7A315}" type="slidenum">
              <a:rPr lang="en-US" smtClean="0"/>
              <a:t>‹#›</a:t>
            </a:fld>
            <a:endParaRPr lang="en-US"/>
          </a:p>
        </p:txBody>
      </p:sp>
    </p:spTree>
    <p:extLst>
      <p:ext uri="{BB962C8B-B14F-4D97-AF65-F5344CB8AC3E}">
        <p14:creationId xmlns:p14="http://schemas.microsoft.com/office/powerpoint/2010/main" val="1919572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p.freeimages.com/photo/uk-flag-1444045" TargetMode="External"/><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hyperlink" Target="https://en.wikipedia.org/wiki/Germany_men's_national_junior_handball_team"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1.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hyperlink" Target="https://en.wikipedia.org/wiki/Germany_men's_national_junior_handball_team" TargetMode="Externa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https://jp.freeimages.com/photo/uk-flag-1444045" TargetMode="External"/><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chart" Target="../charts/char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A2540"/>
            </a:gs>
            <a:gs pos="50000">
              <a:srgbClr val="1A4D6F">
                <a:alpha val="34902"/>
              </a:srgbClr>
            </a:gs>
            <a:gs pos="100000">
              <a:srgbClr val="0F3554">
                <a:alpha val="20000"/>
              </a:srgbClr>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B4C75-77ED-F825-39CC-5081B58ED375}"/>
              </a:ext>
            </a:extLst>
          </p:cNvPr>
          <p:cNvSpPr>
            <a:spLocks noGrp="1"/>
          </p:cNvSpPr>
          <p:nvPr>
            <p:ph type="ctrTitle"/>
          </p:nvPr>
        </p:nvSpPr>
        <p:spPr>
          <a:xfrm>
            <a:off x="1524000" y="1523172"/>
            <a:ext cx="9144000" cy="2387600"/>
          </a:xfrm>
        </p:spPr>
        <p:txBody>
          <a:bodyPr/>
          <a:lstStyle/>
          <a:p>
            <a:r>
              <a:rPr lang="en-GB" dirty="0">
                <a:solidFill>
                  <a:schemeClr val="bg1"/>
                </a:solidFill>
                <a:latin typeface="Inter ExtraBold" panose="02000503000000020004" pitchFamily="2" charset="0"/>
                <a:ea typeface="Inter ExtraBold" panose="02000503000000020004" pitchFamily="2" charset="0"/>
              </a:rPr>
              <a:t>EU</a:t>
            </a:r>
            <a:r>
              <a:rPr lang="en-GB" dirty="0">
                <a:latin typeface="Inter ExtraBold" panose="02000503000000020004" pitchFamily="2" charset="0"/>
                <a:ea typeface="Inter ExtraBold" panose="02000503000000020004" pitchFamily="2" charset="0"/>
              </a:rPr>
              <a:t> </a:t>
            </a:r>
            <a:r>
              <a:rPr lang="en-GB" dirty="0">
                <a:solidFill>
                  <a:srgbClr val="FFC000"/>
                </a:solidFill>
                <a:latin typeface="Inter ExtraBold" panose="02000503000000020004" pitchFamily="2" charset="0"/>
                <a:ea typeface="Inter ExtraBold" panose="02000503000000020004" pitchFamily="2" charset="0"/>
              </a:rPr>
              <a:t>POWER MARKET </a:t>
            </a:r>
            <a:br>
              <a:rPr lang="en-GB" dirty="0">
                <a:latin typeface="Inter ExtraBold" panose="02000503000000020004" pitchFamily="2" charset="0"/>
                <a:ea typeface="Inter ExtraBold" panose="02000503000000020004" pitchFamily="2" charset="0"/>
              </a:rPr>
            </a:br>
            <a:r>
              <a:rPr lang="en-GB" dirty="0">
                <a:solidFill>
                  <a:schemeClr val="bg1"/>
                </a:solidFill>
                <a:latin typeface="Inter ExtraBold" panose="02000503000000020004" pitchFamily="2" charset="0"/>
                <a:ea typeface="Inter ExtraBold" panose="02000503000000020004" pitchFamily="2" charset="0"/>
              </a:rPr>
              <a:t>INSIGHT</a:t>
            </a:r>
            <a:endParaRPr lang="en-US" dirty="0">
              <a:solidFill>
                <a:schemeClr val="bg1"/>
              </a:solidFill>
              <a:latin typeface="Inter ExtraBold" panose="02000503000000020004" pitchFamily="2" charset="0"/>
              <a:ea typeface="Inter ExtraBold" panose="02000503000000020004" pitchFamily="2" charset="0"/>
            </a:endParaRPr>
          </a:p>
        </p:txBody>
      </p:sp>
      <p:sp>
        <p:nvSpPr>
          <p:cNvPr id="3" name="Subtitle 2">
            <a:extLst>
              <a:ext uri="{FF2B5EF4-FFF2-40B4-BE49-F238E27FC236}">
                <a16:creationId xmlns:a16="http://schemas.microsoft.com/office/drawing/2014/main" id="{03A301C3-50FB-DF56-F127-3130E81293E6}"/>
              </a:ext>
            </a:extLst>
          </p:cNvPr>
          <p:cNvSpPr>
            <a:spLocks noGrp="1"/>
          </p:cNvSpPr>
          <p:nvPr>
            <p:ph type="subTitle" idx="1"/>
          </p:nvPr>
        </p:nvSpPr>
        <p:spPr>
          <a:xfrm>
            <a:off x="5591944" y="4384727"/>
            <a:ext cx="1008000" cy="720000"/>
          </a:xfrm>
        </p:spPr>
        <p:txBody>
          <a:bodyPr anchor="ctr"/>
          <a:lstStyle/>
          <a:p>
            <a:r>
              <a:rPr lang="en-GB" b="1" dirty="0">
                <a:solidFill>
                  <a:srgbClr val="FFC000"/>
                </a:solidFill>
                <a:latin typeface="Inter  "/>
              </a:rPr>
              <a:t>VS</a:t>
            </a:r>
            <a:endParaRPr lang="en-US" b="1" dirty="0">
              <a:solidFill>
                <a:srgbClr val="FFC000"/>
              </a:solidFill>
              <a:latin typeface="Inter  "/>
            </a:endParaRPr>
          </a:p>
        </p:txBody>
      </p:sp>
      <p:sp>
        <p:nvSpPr>
          <p:cNvPr id="4" name="Rectangle: Rounded Corners 3">
            <a:extLst>
              <a:ext uri="{FF2B5EF4-FFF2-40B4-BE49-F238E27FC236}">
                <a16:creationId xmlns:a16="http://schemas.microsoft.com/office/drawing/2014/main" id="{F29964F1-8FD3-5734-2ED5-387BA83FDB69}"/>
              </a:ext>
            </a:extLst>
          </p:cNvPr>
          <p:cNvSpPr/>
          <p:nvPr/>
        </p:nvSpPr>
        <p:spPr>
          <a:xfrm>
            <a:off x="4367808" y="1368720"/>
            <a:ext cx="3456384" cy="462960"/>
          </a:xfrm>
          <a:prstGeom prst="roundRect">
            <a:avLst>
              <a:gd name="adj" fmla="val 50000"/>
            </a:avLst>
          </a:prstGeom>
          <a:solidFill>
            <a:srgbClr val="FFC000">
              <a:alpha val="15000"/>
            </a:srgbClr>
          </a:solidFill>
          <a:ln w="25400">
            <a:solidFill>
              <a:srgbClr val="FFC000">
                <a:alpha val="35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Inter" panose="02000503000000020004" pitchFamily="2" charset="0"/>
                <a:ea typeface="Inter" panose="02000503000000020004" pitchFamily="2" charset="0"/>
              </a:rPr>
              <a:t>MARKET ANALYSIS 2022-2050</a:t>
            </a:r>
            <a:endParaRPr lang="en-US" sz="1400" dirty="0">
              <a:latin typeface="Inter" panose="02000503000000020004" pitchFamily="2" charset="0"/>
              <a:ea typeface="Inter" panose="02000503000000020004" pitchFamily="2" charset="0"/>
            </a:endParaRPr>
          </a:p>
        </p:txBody>
      </p:sp>
      <p:sp>
        <p:nvSpPr>
          <p:cNvPr id="6" name="Oval 5">
            <a:extLst>
              <a:ext uri="{FF2B5EF4-FFF2-40B4-BE49-F238E27FC236}">
                <a16:creationId xmlns:a16="http://schemas.microsoft.com/office/drawing/2014/main" id="{44631D55-0D6F-E735-FF76-AEADCDE3FC6C}"/>
              </a:ext>
            </a:extLst>
          </p:cNvPr>
          <p:cNvSpPr/>
          <p:nvPr/>
        </p:nvSpPr>
        <p:spPr>
          <a:xfrm>
            <a:off x="4889174" y="3910772"/>
            <a:ext cx="2232248" cy="45719"/>
          </a:xfrm>
          <a:prstGeom prst="ellipse">
            <a:avLst/>
          </a:prstGeom>
          <a:gradFill flip="none" rotWithShape="1">
            <a:gsLst>
              <a:gs pos="98851">
                <a:srgbClr val="FFC000">
                  <a:alpha val="15000"/>
                </a:srgbClr>
              </a:gs>
              <a:gs pos="6000">
                <a:srgbClr val="FFC000">
                  <a:alpha val="35000"/>
                </a:srgbClr>
              </a:gs>
              <a:gs pos="50000">
                <a:srgbClr val="FFC000">
                  <a:lumMod val="80000"/>
                  <a:lumOff val="20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A2B3157-B54D-30E0-7B9D-B3AA02E2DCB6}"/>
              </a:ext>
            </a:extLst>
          </p:cNvPr>
          <p:cNvGrpSpPr/>
          <p:nvPr/>
        </p:nvGrpSpPr>
        <p:grpSpPr>
          <a:xfrm>
            <a:off x="4295800" y="4291408"/>
            <a:ext cx="1321906" cy="720000"/>
            <a:chOff x="4223792" y="4437112"/>
            <a:chExt cx="1321906" cy="720000"/>
          </a:xfrm>
        </p:grpSpPr>
        <p:sp>
          <p:nvSpPr>
            <p:cNvPr id="7" name="Rectangle: Rounded Corners 6">
              <a:extLst>
                <a:ext uri="{FF2B5EF4-FFF2-40B4-BE49-F238E27FC236}">
                  <a16:creationId xmlns:a16="http://schemas.microsoft.com/office/drawing/2014/main" id="{78209F0F-E18B-5034-E1DC-5C027F28403A}"/>
                </a:ext>
              </a:extLst>
            </p:cNvPr>
            <p:cNvSpPr/>
            <p:nvPr/>
          </p:nvSpPr>
          <p:spPr>
            <a:xfrm>
              <a:off x="4223792" y="4437112"/>
              <a:ext cx="1321906" cy="720000"/>
            </a:xfrm>
            <a:prstGeom prst="roundRect">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GB" sz="2400" b="1" dirty="0">
                  <a:solidFill>
                    <a:schemeClr val="bg1"/>
                  </a:solidFill>
                  <a:latin typeface="Inter" panose="02000503000000020004" pitchFamily="2" charset="0"/>
                  <a:ea typeface="Inter" panose="02000503000000020004" pitchFamily="2" charset="0"/>
                </a:rPr>
                <a:t>     GB</a:t>
              </a:r>
              <a:endParaRPr lang="en-US" sz="2400" i="1" dirty="0">
                <a:solidFill>
                  <a:schemeClr val="bg2"/>
                </a:solidFill>
                <a:latin typeface="Inter" panose="02000503000000020004" pitchFamily="2" charset="0"/>
                <a:ea typeface="Inter" panose="02000503000000020004" pitchFamily="2" charset="0"/>
              </a:endParaRPr>
            </a:p>
          </p:txBody>
        </p:sp>
        <p:pic>
          <p:nvPicPr>
            <p:cNvPr id="9" name="Picture 8">
              <a:extLst>
                <a:ext uri="{FF2B5EF4-FFF2-40B4-BE49-F238E27FC236}">
                  <a16:creationId xmlns:a16="http://schemas.microsoft.com/office/drawing/2014/main" id="{F85A8E52-E9B3-11ED-CB81-6D228AA6C422}"/>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7824" r="17824"/>
            <a:stretch>
              <a:fillRect/>
            </a:stretch>
          </p:blipFill>
          <p:spPr>
            <a:xfrm>
              <a:off x="4517740" y="4725176"/>
              <a:ext cx="288000" cy="288000"/>
            </a:xfrm>
            <a:prstGeom prst="ellipse">
              <a:avLst/>
            </a:prstGeom>
          </p:spPr>
        </p:pic>
      </p:grpSp>
      <p:grpSp>
        <p:nvGrpSpPr>
          <p:cNvPr id="13" name="Group 12">
            <a:extLst>
              <a:ext uri="{FF2B5EF4-FFF2-40B4-BE49-F238E27FC236}">
                <a16:creationId xmlns:a16="http://schemas.microsoft.com/office/drawing/2014/main" id="{EFF26154-C573-A1A6-6CA9-A09B8E8D5EBF}"/>
              </a:ext>
            </a:extLst>
          </p:cNvPr>
          <p:cNvGrpSpPr/>
          <p:nvPr/>
        </p:nvGrpSpPr>
        <p:grpSpPr>
          <a:xfrm>
            <a:off x="6627608" y="4293096"/>
            <a:ext cx="1321906" cy="720000"/>
            <a:chOff x="6555600" y="4438800"/>
            <a:chExt cx="1321906" cy="720000"/>
          </a:xfrm>
        </p:grpSpPr>
        <p:pic>
          <p:nvPicPr>
            <p:cNvPr id="10" name="Picture 9">
              <a:extLst>
                <a:ext uri="{FF2B5EF4-FFF2-40B4-BE49-F238E27FC236}">
                  <a16:creationId xmlns:a16="http://schemas.microsoft.com/office/drawing/2014/main" id="{6368CE6B-9901-13FF-90E6-01D16ED8CAEE}"/>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20000" r="20000"/>
            <a:stretch>
              <a:fillRect/>
            </a:stretch>
          </p:blipFill>
          <p:spPr>
            <a:xfrm>
              <a:off x="6851714" y="4725144"/>
              <a:ext cx="288032" cy="288032"/>
            </a:xfrm>
            <a:prstGeom prst="ellipse">
              <a:avLst/>
            </a:prstGeom>
          </p:spPr>
        </p:pic>
        <p:sp>
          <p:nvSpPr>
            <p:cNvPr id="11" name="Rectangle: Rounded Corners 10">
              <a:extLst>
                <a:ext uri="{FF2B5EF4-FFF2-40B4-BE49-F238E27FC236}">
                  <a16:creationId xmlns:a16="http://schemas.microsoft.com/office/drawing/2014/main" id="{05563639-B3BC-FF2F-1914-51471D3310AD}"/>
                </a:ext>
              </a:extLst>
            </p:cNvPr>
            <p:cNvSpPr/>
            <p:nvPr/>
          </p:nvSpPr>
          <p:spPr>
            <a:xfrm>
              <a:off x="6555600" y="4438800"/>
              <a:ext cx="1321906" cy="720000"/>
            </a:xfrm>
            <a:prstGeom prst="roundRect">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GB" sz="2400" b="1" dirty="0">
                  <a:solidFill>
                    <a:schemeClr val="bg1"/>
                  </a:solidFill>
                  <a:latin typeface="Inter" panose="02000503000000020004" pitchFamily="2" charset="0"/>
                  <a:ea typeface="Inter" panose="02000503000000020004" pitchFamily="2" charset="0"/>
                </a:rPr>
                <a:t>     DE</a:t>
              </a:r>
              <a:endParaRPr lang="en-US" sz="2400" i="1" dirty="0">
                <a:solidFill>
                  <a:schemeClr val="bg2"/>
                </a:solidFill>
                <a:latin typeface="Inter" panose="02000503000000020004" pitchFamily="2" charset="0"/>
                <a:ea typeface="Inter" panose="02000503000000020004" pitchFamily="2" charset="0"/>
              </a:endParaRPr>
            </a:p>
          </p:txBody>
        </p:sp>
      </p:grpSp>
    </p:spTree>
    <p:extLst>
      <p:ext uri="{BB962C8B-B14F-4D97-AF65-F5344CB8AC3E}">
        <p14:creationId xmlns:p14="http://schemas.microsoft.com/office/powerpoint/2010/main" val="4057890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F4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169E7-B866-456B-224C-2CE4EB403BE9}"/>
              </a:ext>
            </a:extLst>
          </p:cNvPr>
          <p:cNvSpPr>
            <a:spLocks noGrp="1"/>
          </p:cNvSpPr>
          <p:nvPr>
            <p:ph type="title"/>
          </p:nvPr>
        </p:nvSpPr>
        <p:spPr>
          <a:xfrm>
            <a:off x="838200" y="365126"/>
            <a:ext cx="10515600" cy="863174"/>
          </a:xfrm>
        </p:spPr>
        <p:txBody>
          <a:bodyPr>
            <a:normAutofit fontScale="90000"/>
          </a:bodyPr>
          <a:lstStyle/>
          <a:p>
            <a:pPr algn="ctr">
              <a:lnSpc>
                <a:spcPct val="150000"/>
              </a:lnSpc>
            </a:pPr>
            <a:r>
              <a:rPr lang="en-GB" sz="2800" b="1" dirty="0">
                <a:solidFill>
                  <a:schemeClr val="bg1"/>
                </a:solidFill>
                <a:latin typeface="Inter" panose="02000503000000020004" pitchFamily="2" charset="0"/>
                <a:ea typeface="Inter" panose="02000503000000020004" pitchFamily="2" charset="0"/>
              </a:rPr>
              <a:t>Table of Content</a:t>
            </a:r>
            <a:br>
              <a:rPr lang="en-GB" sz="2800" b="1" dirty="0">
                <a:solidFill>
                  <a:schemeClr val="bg1"/>
                </a:solidFill>
                <a:latin typeface="Inter" panose="02000503000000020004" pitchFamily="2" charset="0"/>
                <a:ea typeface="Inter" panose="02000503000000020004" pitchFamily="2" charset="0"/>
              </a:rPr>
            </a:br>
            <a:r>
              <a:rPr lang="en-US" sz="1800" i="1" dirty="0">
                <a:solidFill>
                  <a:schemeClr val="bg2"/>
                </a:solidFill>
                <a:latin typeface="Inter" panose="02000503000000020004" pitchFamily="2" charset="0"/>
                <a:ea typeface="Inter" panose="02000503000000020004" pitchFamily="2" charset="0"/>
              </a:rPr>
              <a:t>EU Power Market Insight: GB vs DE Analysis (2022-2050)</a:t>
            </a:r>
            <a:endParaRPr lang="en-US" sz="1800" b="1" i="1" dirty="0">
              <a:solidFill>
                <a:schemeClr val="bg2"/>
              </a:solidFill>
              <a:latin typeface="Inter" panose="02000503000000020004" pitchFamily="2" charset="0"/>
              <a:ea typeface="Inter" panose="02000503000000020004" pitchFamily="2" charset="0"/>
            </a:endParaRPr>
          </a:p>
        </p:txBody>
      </p:sp>
      <p:grpSp>
        <p:nvGrpSpPr>
          <p:cNvPr id="113" name="Group 112">
            <a:extLst>
              <a:ext uri="{FF2B5EF4-FFF2-40B4-BE49-F238E27FC236}">
                <a16:creationId xmlns:a16="http://schemas.microsoft.com/office/drawing/2014/main" id="{354082C3-8CAB-199B-29A8-B17FDD9796E1}"/>
              </a:ext>
            </a:extLst>
          </p:cNvPr>
          <p:cNvGrpSpPr/>
          <p:nvPr/>
        </p:nvGrpSpPr>
        <p:grpSpPr>
          <a:xfrm>
            <a:off x="1545855" y="1699570"/>
            <a:ext cx="2113213" cy="1920498"/>
            <a:chOff x="1545855" y="1699570"/>
            <a:chExt cx="2113213" cy="1920498"/>
          </a:xfrm>
        </p:grpSpPr>
        <p:grpSp>
          <p:nvGrpSpPr>
            <p:cNvPr id="4" name="Group 3">
              <a:extLst>
                <a:ext uri="{FF2B5EF4-FFF2-40B4-BE49-F238E27FC236}">
                  <a16:creationId xmlns:a16="http://schemas.microsoft.com/office/drawing/2014/main" id="{ADCBA6E6-D51F-AFD4-A35E-91D6230AA8E7}"/>
                </a:ext>
              </a:extLst>
            </p:cNvPr>
            <p:cNvGrpSpPr/>
            <p:nvPr/>
          </p:nvGrpSpPr>
          <p:grpSpPr>
            <a:xfrm>
              <a:off x="1545855" y="1699570"/>
              <a:ext cx="2113213" cy="1920498"/>
              <a:chOff x="695400" y="1466443"/>
              <a:chExt cx="3960440" cy="2970669"/>
            </a:xfrm>
          </p:grpSpPr>
          <p:sp>
            <p:nvSpPr>
              <p:cNvPr id="5" name="Rectangle: Rounded Corners 4">
                <a:extLst>
                  <a:ext uri="{FF2B5EF4-FFF2-40B4-BE49-F238E27FC236}">
                    <a16:creationId xmlns:a16="http://schemas.microsoft.com/office/drawing/2014/main" id="{067CED8B-CF90-63D5-7800-AEA16DEC70D9}"/>
                  </a:ext>
                </a:extLst>
              </p:cNvPr>
              <p:cNvSpPr/>
              <p:nvPr/>
            </p:nvSpPr>
            <p:spPr>
              <a:xfrm>
                <a:off x="695400" y="1556790"/>
                <a:ext cx="3960440" cy="2793551"/>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6" name="Group 5">
                <a:extLst>
                  <a:ext uri="{FF2B5EF4-FFF2-40B4-BE49-F238E27FC236}">
                    <a16:creationId xmlns:a16="http://schemas.microsoft.com/office/drawing/2014/main" id="{161B7E48-C82E-8108-9A08-09A607586C58}"/>
                  </a:ext>
                </a:extLst>
              </p:cNvPr>
              <p:cNvGrpSpPr/>
              <p:nvPr/>
            </p:nvGrpSpPr>
            <p:grpSpPr>
              <a:xfrm>
                <a:off x="696556" y="1466443"/>
                <a:ext cx="457200" cy="2970669"/>
                <a:chOff x="4878000" y="1468232"/>
                <a:chExt cx="457200" cy="2970669"/>
              </a:xfrm>
            </p:grpSpPr>
            <p:sp>
              <p:nvSpPr>
                <p:cNvPr id="7" name="Arc 29">
                  <a:extLst>
                    <a:ext uri="{FF2B5EF4-FFF2-40B4-BE49-F238E27FC236}">
                      <a16:creationId xmlns:a16="http://schemas.microsoft.com/office/drawing/2014/main" id="{90F2DC71-DA0C-9ED4-CF21-E14685384B69}"/>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8" name="Group 7">
                  <a:extLst>
                    <a:ext uri="{FF2B5EF4-FFF2-40B4-BE49-F238E27FC236}">
                      <a16:creationId xmlns:a16="http://schemas.microsoft.com/office/drawing/2014/main" id="{D03E422D-9C57-48E5-83A7-CED4B34ADAF9}"/>
                    </a:ext>
                  </a:extLst>
                </p:cNvPr>
                <p:cNvGrpSpPr/>
                <p:nvPr/>
              </p:nvGrpSpPr>
              <p:grpSpPr>
                <a:xfrm>
                  <a:off x="4878000" y="1917596"/>
                  <a:ext cx="457200" cy="2521305"/>
                  <a:chOff x="4871440" y="1917596"/>
                  <a:chExt cx="457200" cy="2521305"/>
                </a:xfrm>
              </p:grpSpPr>
              <p:cxnSp>
                <p:nvCxnSpPr>
                  <p:cNvPr id="9" name="Straight Connector 8">
                    <a:extLst>
                      <a:ext uri="{FF2B5EF4-FFF2-40B4-BE49-F238E27FC236}">
                        <a16:creationId xmlns:a16="http://schemas.microsoft.com/office/drawing/2014/main" id="{DFEA1BC8-7F33-EF7F-8C5B-F460364BDA4D}"/>
                      </a:ext>
                    </a:extLst>
                  </p:cNvPr>
                  <p:cNvCxnSpPr>
                    <a:cxnSpLocks/>
                  </p:cNvCxnSpPr>
                  <p:nvPr/>
                </p:nvCxnSpPr>
                <p:spPr>
                  <a:xfrm>
                    <a:off x="4871440" y="1917596"/>
                    <a:ext cx="0" cy="2106015"/>
                  </a:xfrm>
                  <a:prstGeom prst="line">
                    <a:avLst/>
                  </a:prstGeom>
                  <a:ln w="25400">
                    <a:gradFill flip="none" rotWithShape="1">
                      <a:gsLst>
                        <a:gs pos="0">
                          <a:srgbClr val="8B5CF6"/>
                        </a:gs>
                        <a:gs pos="100000">
                          <a:srgbClr val="10B981"/>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10" name="Arc 29">
                    <a:extLst>
                      <a:ext uri="{FF2B5EF4-FFF2-40B4-BE49-F238E27FC236}">
                        <a16:creationId xmlns:a16="http://schemas.microsoft.com/office/drawing/2014/main" id="{31C0DAA6-FC2C-08DD-2982-CCEBBB559B94}"/>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10B981"/>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sp>
          <p:nvSpPr>
            <p:cNvPr id="14" name="Rectangle: Rounded Corners 13">
              <a:extLst>
                <a:ext uri="{FF2B5EF4-FFF2-40B4-BE49-F238E27FC236}">
                  <a16:creationId xmlns:a16="http://schemas.microsoft.com/office/drawing/2014/main" id="{2752E8E5-2F5B-43D9-E790-012D09CFCBB2}"/>
                </a:ext>
              </a:extLst>
            </p:cNvPr>
            <p:cNvSpPr/>
            <p:nvPr/>
          </p:nvSpPr>
          <p:spPr>
            <a:xfrm>
              <a:off x="1634671" y="1802014"/>
              <a:ext cx="346510" cy="308009"/>
            </a:xfrm>
            <a:prstGeom prst="roundRect">
              <a:avLst/>
            </a:prstGeom>
            <a:gradFill flip="none" rotWithShape="1">
              <a:gsLst>
                <a:gs pos="0">
                  <a:srgbClr val="8B5CF6"/>
                </a:gs>
                <a:gs pos="100000">
                  <a:srgbClr val="10B981"/>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latin typeface="Inter" panose="02000503000000020004" pitchFamily="2" charset="0"/>
                  <a:ea typeface="Inter" panose="02000503000000020004" pitchFamily="2" charset="0"/>
                </a:rPr>
                <a:t>1</a:t>
              </a:r>
              <a:endParaRPr lang="en-US" sz="1000" dirty="0">
                <a:latin typeface="Inter" panose="02000503000000020004" pitchFamily="2" charset="0"/>
                <a:ea typeface="Inter" panose="02000503000000020004" pitchFamily="2" charset="0"/>
              </a:endParaRPr>
            </a:p>
          </p:txBody>
        </p:sp>
        <p:sp>
          <p:nvSpPr>
            <p:cNvPr id="16" name="TextBox 15">
              <a:extLst>
                <a:ext uri="{FF2B5EF4-FFF2-40B4-BE49-F238E27FC236}">
                  <a16:creationId xmlns:a16="http://schemas.microsoft.com/office/drawing/2014/main" id="{5B60F66F-394B-53AD-F3DD-5F4AE5592E3D}"/>
                </a:ext>
              </a:extLst>
            </p:cNvPr>
            <p:cNvSpPr txBox="1"/>
            <p:nvPr/>
          </p:nvSpPr>
          <p:spPr>
            <a:xfrm>
              <a:off x="1929257" y="2265961"/>
              <a:ext cx="1346408" cy="787716"/>
            </a:xfrm>
            <a:prstGeom prst="rect">
              <a:avLst/>
            </a:prstGeom>
            <a:noFill/>
          </p:spPr>
          <p:txBody>
            <a:bodyPr wrap="square">
              <a:spAutoFit/>
            </a:bodyPr>
            <a:lstStyle/>
            <a:p>
              <a:pPr>
                <a:lnSpc>
                  <a:spcPct val="150000"/>
                </a:lnSpc>
              </a:pPr>
              <a:r>
                <a:rPr lang="en-US" sz="1600" dirty="0">
                  <a:solidFill>
                    <a:schemeClr val="bg1"/>
                  </a:solidFill>
                  <a:latin typeface="Inter" panose="02000503000000020004" pitchFamily="2" charset="0"/>
                  <a:ea typeface="Inter" panose="02000503000000020004" pitchFamily="2" charset="0"/>
                </a:rPr>
                <a:t>Executive Summary</a:t>
              </a:r>
            </a:p>
          </p:txBody>
        </p:sp>
        <p:sp>
          <p:nvSpPr>
            <p:cNvPr id="18" name="TextBox 17">
              <a:extLst>
                <a:ext uri="{FF2B5EF4-FFF2-40B4-BE49-F238E27FC236}">
                  <a16:creationId xmlns:a16="http://schemas.microsoft.com/office/drawing/2014/main" id="{FA04380C-44E1-B9C6-95BD-1CAF44C940DF}"/>
                </a:ext>
              </a:extLst>
            </p:cNvPr>
            <p:cNvSpPr txBox="1"/>
            <p:nvPr/>
          </p:nvSpPr>
          <p:spPr>
            <a:xfrm>
              <a:off x="3171161" y="1757978"/>
              <a:ext cx="487907" cy="369332"/>
            </a:xfrm>
            <a:prstGeom prst="rect">
              <a:avLst/>
            </a:prstGeom>
            <a:noFill/>
          </p:spPr>
          <p:txBody>
            <a:bodyPr wrap="square">
              <a:spAutoFit/>
            </a:bodyPr>
            <a:lstStyle/>
            <a:p>
              <a:r>
                <a:rPr lang="en-US" sz="1800" dirty="0"/>
                <a:t>📊</a:t>
              </a:r>
            </a:p>
          </p:txBody>
        </p:sp>
      </p:grpSp>
      <p:grpSp>
        <p:nvGrpSpPr>
          <p:cNvPr id="114" name="Group 113">
            <a:extLst>
              <a:ext uri="{FF2B5EF4-FFF2-40B4-BE49-F238E27FC236}">
                <a16:creationId xmlns:a16="http://schemas.microsoft.com/office/drawing/2014/main" id="{7C1BD6FA-C9AC-A6BC-7A43-4E4A4156F268}"/>
              </a:ext>
            </a:extLst>
          </p:cNvPr>
          <p:cNvGrpSpPr/>
          <p:nvPr/>
        </p:nvGrpSpPr>
        <p:grpSpPr>
          <a:xfrm>
            <a:off x="5038984" y="1643474"/>
            <a:ext cx="2113213" cy="1920498"/>
            <a:chOff x="5038984" y="1643474"/>
            <a:chExt cx="2113213" cy="1920498"/>
          </a:xfrm>
        </p:grpSpPr>
        <p:grpSp>
          <p:nvGrpSpPr>
            <p:cNvPr id="39" name="Group 38">
              <a:extLst>
                <a:ext uri="{FF2B5EF4-FFF2-40B4-BE49-F238E27FC236}">
                  <a16:creationId xmlns:a16="http://schemas.microsoft.com/office/drawing/2014/main" id="{B2656F89-E54D-F837-EDB2-367FE2B02C0B}"/>
                </a:ext>
              </a:extLst>
            </p:cNvPr>
            <p:cNvGrpSpPr/>
            <p:nvPr/>
          </p:nvGrpSpPr>
          <p:grpSpPr>
            <a:xfrm>
              <a:off x="5038984" y="1643474"/>
              <a:ext cx="2113213" cy="1920498"/>
              <a:chOff x="695400" y="1466443"/>
              <a:chExt cx="3960440" cy="2970669"/>
            </a:xfrm>
          </p:grpSpPr>
          <p:sp>
            <p:nvSpPr>
              <p:cNvPr id="40" name="Rectangle: Rounded Corners 39">
                <a:extLst>
                  <a:ext uri="{FF2B5EF4-FFF2-40B4-BE49-F238E27FC236}">
                    <a16:creationId xmlns:a16="http://schemas.microsoft.com/office/drawing/2014/main" id="{1F0F9014-8A0A-2EE5-4048-10BF94717E43}"/>
                  </a:ext>
                </a:extLst>
              </p:cNvPr>
              <p:cNvSpPr/>
              <p:nvPr/>
            </p:nvSpPr>
            <p:spPr>
              <a:xfrm>
                <a:off x="695400" y="1556790"/>
                <a:ext cx="3960440" cy="2793551"/>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41" name="Group 40">
                <a:extLst>
                  <a:ext uri="{FF2B5EF4-FFF2-40B4-BE49-F238E27FC236}">
                    <a16:creationId xmlns:a16="http://schemas.microsoft.com/office/drawing/2014/main" id="{9A8318AF-67ED-4227-2A6C-80577D89AC71}"/>
                  </a:ext>
                </a:extLst>
              </p:cNvPr>
              <p:cNvGrpSpPr/>
              <p:nvPr/>
            </p:nvGrpSpPr>
            <p:grpSpPr>
              <a:xfrm>
                <a:off x="696556" y="1466443"/>
                <a:ext cx="457200" cy="2970669"/>
                <a:chOff x="4878000" y="1468232"/>
                <a:chExt cx="457200" cy="2970669"/>
              </a:xfrm>
            </p:grpSpPr>
            <p:sp>
              <p:nvSpPr>
                <p:cNvPr id="42" name="Arc 29">
                  <a:extLst>
                    <a:ext uri="{FF2B5EF4-FFF2-40B4-BE49-F238E27FC236}">
                      <a16:creationId xmlns:a16="http://schemas.microsoft.com/office/drawing/2014/main" id="{1050DB1F-AEE9-E911-EC68-BF14A7E24FD4}"/>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43" name="Group 42">
                  <a:extLst>
                    <a:ext uri="{FF2B5EF4-FFF2-40B4-BE49-F238E27FC236}">
                      <a16:creationId xmlns:a16="http://schemas.microsoft.com/office/drawing/2014/main" id="{A5909994-81A2-33D7-7555-4D2EFE623617}"/>
                    </a:ext>
                  </a:extLst>
                </p:cNvPr>
                <p:cNvGrpSpPr/>
                <p:nvPr/>
              </p:nvGrpSpPr>
              <p:grpSpPr>
                <a:xfrm>
                  <a:off x="4878000" y="1917596"/>
                  <a:ext cx="457200" cy="2521305"/>
                  <a:chOff x="4871440" y="1917596"/>
                  <a:chExt cx="457200" cy="2521305"/>
                </a:xfrm>
              </p:grpSpPr>
              <p:cxnSp>
                <p:nvCxnSpPr>
                  <p:cNvPr id="44" name="Straight Connector 43">
                    <a:extLst>
                      <a:ext uri="{FF2B5EF4-FFF2-40B4-BE49-F238E27FC236}">
                        <a16:creationId xmlns:a16="http://schemas.microsoft.com/office/drawing/2014/main" id="{BF9A2DA7-DFC0-6D3B-6BF2-F8250C2E2E52}"/>
                      </a:ext>
                    </a:extLst>
                  </p:cNvPr>
                  <p:cNvCxnSpPr>
                    <a:cxnSpLocks/>
                  </p:cNvCxnSpPr>
                  <p:nvPr/>
                </p:nvCxnSpPr>
                <p:spPr>
                  <a:xfrm>
                    <a:off x="4871440" y="1917596"/>
                    <a:ext cx="0" cy="2106015"/>
                  </a:xfrm>
                  <a:prstGeom prst="line">
                    <a:avLst/>
                  </a:prstGeom>
                  <a:ln w="25400">
                    <a:gradFill flip="none" rotWithShape="1">
                      <a:gsLst>
                        <a:gs pos="0">
                          <a:srgbClr val="8B5CF6"/>
                        </a:gs>
                        <a:gs pos="100000">
                          <a:srgbClr val="10B981"/>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45" name="Arc 29">
                    <a:extLst>
                      <a:ext uri="{FF2B5EF4-FFF2-40B4-BE49-F238E27FC236}">
                        <a16:creationId xmlns:a16="http://schemas.microsoft.com/office/drawing/2014/main" id="{556E171D-8AF5-A115-5B14-F098616D7DA4}"/>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10B981"/>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sp>
          <p:nvSpPr>
            <p:cNvPr id="46" name="Rectangle: Rounded Corners 45">
              <a:extLst>
                <a:ext uri="{FF2B5EF4-FFF2-40B4-BE49-F238E27FC236}">
                  <a16:creationId xmlns:a16="http://schemas.microsoft.com/office/drawing/2014/main" id="{D6CC9581-8B0F-DD98-0665-182DA9E93334}"/>
                </a:ext>
              </a:extLst>
            </p:cNvPr>
            <p:cNvSpPr/>
            <p:nvPr/>
          </p:nvSpPr>
          <p:spPr>
            <a:xfrm>
              <a:off x="5127800" y="1745918"/>
              <a:ext cx="346510" cy="308009"/>
            </a:xfrm>
            <a:prstGeom prst="roundRect">
              <a:avLst/>
            </a:prstGeom>
            <a:gradFill flip="none" rotWithShape="1">
              <a:gsLst>
                <a:gs pos="0">
                  <a:srgbClr val="8B5CF6"/>
                </a:gs>
                <a:gs pos="100000">
                  <a:srgbClr val="10B981"/>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latin typeface="Inter" panose="02000503000000020004" pitchFamily="2" charset="0"/>
                  <a:ea typeface="Inter" panose="02000503000000020004" pitchFamily="2" charset="0"/>
                </a:rPr>
                <a:t>2</a:t>
              </a:r>
              <a:endParaRPr lang="en-US" sz="1000" dirty="0">
                <a:latin typeface="Inter" panose="02000503000000020004" pitchFamily="2" charset="0"/>
                <a:ea typeface="Inter" panose="02000503000000020004" pitchFamily="2" charset="0"/>
              </a:endParaRPr>
            </a:p>
          </p:txBody>
        </p:sp>
        <p:sp>
          <p:nvSpPr>
            <p:cNvPr id="47" name="TextBox 46">
              <a:extLst>
                <a:ext uri="{FF2B5EF4-FFF2-40B4-BE49-F238E27FC236}">
                  <a16:creationId xmlns:a16="http://schemas.microsoft.com/office/drawing/2014/main" id="{541167DC-7BF8-7435-932E-10566D10B7CB}"/>
                </a:ext>
              </a:extLst>
            </p:cNvPr>
            <p:cNvSpPr txBox="1"/>
            <p:nvPr/>
          </p:nvSpPr>
          <p:spPr>
            <a:xfrm>
              <a:off x="5422386" y="2025199"/>
              <a:ext cx="1346408" cy="1157048"/>
            </a:xfrm>
            <a:prstGeom prst="rect">
              <a:avLst/>
            </a:prstGeom>
            <a:noFill/>
          </p:spPr>
          <p:txBody>
            <a:bodyPr wrap="square">
              <a:spAutoFit/>
            </a:bodyPr>
            <a:lstStyle/>
            <a:p>
              <a:pPr>
                <a:lnSpc>
                  <a:spcPct val="150000"/>
                </a:lnSpc>
              </a:pPr>
              <a:r>
                <a:rPr lang="en-US" sz="1600" dirty="0">
                  <a:solidFill>
                    <a:schemeClr val="bg1"/>
                  </a:solidFill>
                  <a:latin typeface="Inter" panose="02000503000000020004" pitchFamily="2" charset="0"/>
                  <a:ea typeface="Inter" panose="02000503000000020004" pitchFamily="2" charset="0"/>
                </a:rPr>
                <a:t>Baseload Price Analysis</a:t>
              </a:r>
            </a:p>
          </p:txBody>
        </p:sp>
        <p:sp>
          <p:nvSpPr>
            <p:cNvPr id="48" name="TextBox 47">
              <a:extLst>
                <a:ext uri="{FF2B5EF4-FFF2-40B4-BE49-F238E27FC236}">
                  <a16:creationId xmlns:a16="http://schemas.microsoft.com/office/drawing/2014/main" id="{29CA96A2-3AB6-D636-504A-2F31CA2B325E}"/>
                </a:ext>
              </a:extLst>
            </p:cNvPr>
            <p:cNvSpPr txBox="1"/>
            <p:nvPr/>
          </p:nvSpPr>
          <p:spPr>
            <a:xfrm>
              <a:off x="6664290" y="1701882"/>
              <a:ext cx="487907" cy="369332"/>
            </a:xfrm>
            <a:prstGeom prst="rect">
              <a:avLst/>
            </a:prstGeom>
            <a:noFill/>
          </p:spPr>
          <p:txBody>
            <a:bodyPr wrap="square">
              <a:spAutoFit/>
            </a:bodyPr>
            <a:lstStyle/>
            <a:p>
              <a:r>
                <a:rPr lang="en-US" dirty="0"/>
                <a:t>⚡</a:t>
              </a:r>
            </a:p>
          </p:txBody>
        </p:sp>
      </p:grpSp>
      <p:grpSp>
        <p:nvGrpSpPr>
          <p:cNvPr id="115" name="Group 114">
            <a:extLst>
              <a:ext uri="{FF2B5EF4-FFF2-40B4-BE49-F238E27FC236}">
                <a16:creationId xmlns:a16="http://schemas.microsoft.com/office/drawing/2014/main" id="{8BE08E92-F680-E720-D2CD-76B4844E42B1}"/>
              </a:ext>
            </a:extLst>
          </p:cNvPr>
          <p:cNvGrpSpPr/>
          <p:nvPr/>
        </p:nvGrpSpPr>
        <p:grpSpPr>
          <a:xfrm>
            <a:off x="8532932" y="1587378"/>
            <a:ext cx="2113213" cy="1920498"/>
            <a:chOff x="8532932" y="1587378"/>
            <a:chExt cx="2113213" cy="1920498"/>
          </a:xfrm>
        </p:grpSpPr>
        <p:grpSp>
          <p:nvGrpSpPr>
            <p:cNvPr id="59" name="Group 58">
              <a:extLst>
                <a:ext uri="{FF2B5EF4-FFF2-40B4-BE49-F238E27FC236}">
                  <a16:creationId xmlns:a16="http://schemas.microsoft.com/office/drawing/2014/main" id="{3915B497-4822-F03D-0D18-F19C78CE4AEE}"/>
                </a:ext>
              </a:extLst>
            </p:cNvPr>
            <p:cNvGrpSpPr/>
            <p:nvPr/>
          </p:nvGrpSpPr>
          <p:grpSpPr>
            <a:xfrm>
              <a:off x="8532932" y="1587378"/>
              <a:ext cx="2113213" cy="1920498"/>
              <a:chOff x="695400" y="1466443"/>
              <a:chExt cx="3960440" cy="2970669"/>
            </a:xfrm>
          </p:grpSpPr>
          <p:sp>
            <p:nvSpPr>
              <p:cNvPr id="60" name="Rectangle: Rounded Corners 59">
                <a:extLst>
                  <a:ext uri="{FF2B5EF4-FFF2-40B4-BE49-F238E27FC236}">
                    <a16:creationId xmlns:a16="http://schemas.microsoft.com/office/drawing/2014/main" id="{512766D9-E043-73BB-6CFF-9299D30030EB}"/>
                  </a:ext>
                </a:extLst>
              </p:cNvPr>
              <p:cNvSpPr/>
              <p:nvPr/>
            </p:nvSpPr>
            <p:spPr>
              <a:xfrm>
                <a:off x="695400" y="1556790"/>
                <a:ext cx="3960440" cy="2793551"/>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61" name="Group 60">
                <a:extLst>
                  <a:ext uri="{FF2B5EF4-FFF2-40B4-BE49-F238E27FC236}">
                    <a16:creationId xmlns:a16="http://schemas.microsoft.com/office/drawing/2014/main" id="{8367233E-7DB4-9132-B958-CE3E9B896864}"/>
                  </a:ext>
                </a:extLst>
              </p:cNvPr>
              <p:cNvGrpSpPr/>
              <p:nvPr/>
            </p:nvGrpSpPr>
            <p:grpSpPr>
              <a:xfrm>
                <a:off x="696556" y="1466443"/>
                <a:ext cx="457200" cy="2970669"/>
                <a:chOff x="4878000" y="1468232"/>
                <a:chExt cx="457200" cy="2970669"/>
              </a:xfrm>
            </p:grpSpPr>
            <p:sp>
              <p:nvSpPr>
                <p:cNvPr id="62" name="Arc 29">
                  <a:extLst>
                    <a:ext uri="{FF2B5EF4-FFF2-40B4-BE49-F238E27FC236}">
                      <a16:creationId xmlns:a16="http://schemas.microsoft.com/office/drawing/2014/main" id="{D5C5E243-AEFC-D7D1-09A4-CC1FBEE4067A}"/>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63" name="Group 62">
                  <a:extLst>
                    <a:ext uri="{FF2B5EF4-FFF2-40B4-BE49-F238E27FC236}">
                      <a16:creationId xmlns:a16="http://schemas.microsoft.com/office/drawing/2014/main" id="{3CEECD48-D56F-9193-DDD6-897589A52236}"/>
                    </a:ext>
                  </a:extLst>
                </p:cNvPr>
                <p:cNvGrpSpPr/>
                <p:nvPr/>
              </p:nvGrpSpPr>
              <p:grpSpPr>
                <a:xfrm>
                  <a:off x="4878000" y="1917596"/>
                  <a:ext cx="457200" cy="2521305"/>
                  <a:chOff x="4871440" y="1917596"/>
                  <a:chExt cx="457200" cy="2521305"/>
                </a:xfrm>
              </p:grpSpPr>
              <p:cxnSp>
                <p:nvCxnSpPr>
                  <p:cNvPr id="64" name="Straight Connector 63">
                    <a:extLst>
                      <a:ext uri="{FF2B5EF4-FFF2-40B4-BE49-F238E27FC236}">
                        <a16:creationId xmlns:a16="http://schemas.microsoft.com/office/drawing/2014/main" id="{993ABE33-1DB2-61B7-5543-341EC4DF10B9}"/>
                      </a:ext>
                    </a:extLst>
                  </p:cNvPr>
                  <p:cNvCxnSpPr>
                    <a:cxnSpLocks/>
                  </p:cNvCxnSpPr>
                  <p:nvPr/>
                </p:nvCxnSpPr>
                <p:spPr>
                  <a:xfrm>
                    <a:off x="4871440" y="1917596"/>
                    <a:ext cx="0" cy="2106015"/>
                  </a:xfrm>
                  <a:prstGeom prst="line">
                    <a:avLst/>
                  </a:prstGeom>
                  <a:ln w="25400">
                    <a:gradFill flip="none" rotWithShape="1">
                      <a:gsLst>
                        <a:gs pos="0">
                          <a:srgbClr val="8B5CF6"/>
                        </a:gs>
                        <a:gs pos="100000">
                          <a:srgbClr val="10B981"/>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65" name="Arc 29">
                    <a:extLst>
                      <a:ext uri="{FF2B5EF4-FFF2-40B4-BE49-F238E27FC236}">
                        <a16:creationId xmlns:a16="http://schemas.microsoft.com/office/drawing/2014/main" id="{487D621C-295C-B745-1C72-368BABF04BA6}"/>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10B981"/>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sp>
          <p:nvSpPr>
            <p:cNvPr id="66" name="Rectangle: Rounded Corners 65">
              <a:extLst>
                <a:ext uri="{FF2B5EF4-FFF2-40B4-BE49-F238E27FC236}">
                  <a16:creationId xmlns:a16="http://schemas.microsoft.com/office/drawing/2014/main" id="{29CCFBB8-78A9-5E1B-41D8-31C5C3B93FB3}"/>
                </a:ext>
              </a:extLst>
            </p:cNvPr>
            <p:cNvSpPr/>
            <p:nvPr/>
          </p:nvSpPr>
          <p:spPr>
            <a:xfrm>
              <a:off x="8621748" y="1689822"/>
              <a:ext cx="346510" cy="308009"/>
            </a:xfrm>
            <a:prstGeom prst="roundRect">
              <a:avLst/>
            </a:prstGeom>
            <a:gradFill flip="none" rotWithShape="1">
              <a:gsLst>
                <a:gs pos="0">
                  <a:srgbClr val="8B5CF6"/>
                </a:gs>
                <a:gs pos="100000">
                  <a:srgbClr val="10B981"/>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latin typeface="Inter" panose="02000503000000020004" pitchFamily="2" charset="0"/>
                  <a:ea typeface="Inter" panose="02000503000000020004" pitchFamily="2" charset="0"/>
                </a:rPr>
                <a:t>3</a:t>
              </a:r>
              <a:endParaRPr lang="en-US" sz="1000" dirty="0">
                <a:latin typeface="Inter" panose="02000503000000020004" pitchFamily="2" charset="0"/>
                <a:ea typeface="Inter" panose="02000503000000020004" pitchFamily="2" charset="0"/>
              </a:endParaRPr>
            </a:p>
          </p:txBody>
        </p:sp>
        <p:sp>
          <p:nvSpPr>
            <p:cNvPr id="67" name="TextBox 66">
              <a:extLst>
                <a:ext uri="{FF2B5EF4-FFF2-40B4-BE49-F238E27FC236}">
                  <a16:creationId xmlns:a16="http://schemas.microsoft.com/office/drawing/2014/main" id="{2E5FE000-9158-B381-45EC-42659D9CB21F}"/>
                </a:ext>
              </a:extLst>
            </p:cNvPr>
            <p:cNvSpPr txBox="1"/>
            <p:nvPr/>
          </p:nvSpPr>
          <p:spPr>
            <a:xfrm>
              <a:off x="8916334" y="2153769"/>
              <a:ext cx="1346408" cy="787716"/>
            </a:xfrm>
            <a:prstGeom prst="rect">
              <a:avLst/>
            </a:prstGeom>
            <a:noFill/>
          </p:spPr>
          <p:txBody>
            <a:bodyPr wrap="square">
              <a:spAutoFit/>
            </a:bodyPr>
            <a:lstStyle/>
            <a:p>
              <a:pPr>
                <a:lnSpc>
                  <a:spcPct val="150000"/>
                </a:lnSpc>
              </a:pPr>
              <a:r>
                <a:rPr lang="en-US" sz="1600" dirty="0">
                  <a:solidFill>
                    <a:schemeClr val="bg1"/>
                  </a:solidFill>
                  <a:latin typeface="Inter" panose="02000503000000020004" pitchFamily="2" charset="0"/>
                  <a:ea typeface="Inter" panose="02000503000000020004" pitchFamily="2" charset="0"/>
                </a:rPr>
                <a:t>Generation Mix Impact</a:t>
              </a:r>
            </a:p>
          </p:txBody>
        </p:sp>
        <p:sp>
          <p:nvSpPr>
            <p:cNvPr id="68" name="TextBox 67">
              <a:extLst>
                <a:ext uri="{FF2B5EF4-FFF2-40B4-BE49-F238E27FC236}">
                  <a16:creationId xmlns:a16="http://schemas.microsoft.com/office/drawing/2014/main" id="{22FEB5B7-8C1A-FB61-7799-F9A027AC596E}"/>
                </a:ext>
              </a:extLst>
            </p:cNvPr>
            <p:cNvSpPr txBox="1"/>
            <p:nvPr/>
          </p:nvSpPr>
          <p:spPr>
            <a:xfrm>
              <a:off x="10158238" y="1645786"/>
              <a:ext cx="487907" cy="369332"/>
            </a:xfrm>
            <a:prstGeom prst="rect">
              <a:avLst/>
            </a:prstGeom>
            <a:noFill/>
          </p:spPr>
          <p:txBody>
            <a:bodyPr wrap="square">
              <a:spAutoFit/>
            </a:bodyPr>
            <a:lstStyle/>
            <a:p>
              <a:r>
                <a:rPr lang="en-US" dirty="0"/>
                <a:t>🔋</a:t>
              </a:r>
            </a:p>
          </p:txBody>
        </p:sp>
      </p:grpSp>
      <p:grpSp>
        <p:nvGrpSpPr>
          <p:cNvPr id="116" name="Group 115">
            <a:extLst>
              <a:ext uri="{FF2B5EF4-FFF2-40B4-BE49-F238E27FC236}">
                <a16:creationId xmlns:a16="http://schemas.microsoft.com/office/drawing/2014/main" id="{8E4E1EA4-9176-3920-49B7-B61EFDCB058F}"/>
              </a:ext>
            </a:extLst>
          </p:cNvPr>
          <p:cNvGrpSpPr/>
          <p:nvPr/>
        </p:nvGrpSpPr>
        <p:grpSpPr>
          <a:xfrm>
            <a:off x="1545855" y="4198182"/>
            <a:ext cx="2113213" cy="1920498"/>
            <a:chOff x="1545855" y="4198182"/>
            <a:chExt cx="2113213" cy="1920498"/>
          </a:xfrm>
        </p:grpSpPr>
        <p:grpSp>
          <p:nvGrpSpPr>
            <p:cNvPr id="69" name="Group 68">
              <a:extLst>
                <a:ext uri="{FF2B5EF4-FFF2-40B4-BE49-F238E27FC236}">
                  <a16:creationId xmlns:a16="http://schemas.microsoft.com/office/drawing/2014/main" id="{D73A17E6-147B-563F-B923-A213D259622D}"/>
                </a:ext>
              </a:extLst>
            </p:cNvPr>
            <p:cNvGrpSpPr/>
            <p:nvPr/>
          </p:nvGrpSpPr>
          <p:grpSpPr>
            <a:xfrm>
              <a:off x="1545855" y="4198182"/>
              <a:ext cx="2113213" cy="1920498"/>
              <a:chOff x="695400" y="1466443"/>
              <a:chExt cx="3960440" cy="2970669"/>
            </a:xfrm>
          </p:grpSpPr>
          <p:sp>
            <p:nvSpPr>
              <p:cNvPr id="70" name="Rectangle: Rounded Corners 69">
                <a:extLst>
                  <a:ext uri="{FF2B5EF4-FFF2-40B4-BE49-F238E27FC236}">
                    <a16:creationId xmlns:a16="http://schemas.microsoft.com/office/drawing/2014/main" id="{BB2D2958-3A9F-D522-7B6F-21D0516F5328}"/>
                  </a:ext>
                </a:extLst>
              </p:cNvPr>
              <p:cNvSpPr/>
              <p:nvPr/>
            </p:nvSpPr>
            <p:spPr>
              <a:xfrm>
                <a:off x="695400" y="1556790"/>
                <a:ext cx="3960440" cy="2793551"/>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71" name="Group 70">
                <a:extLst>
                  <a:ext uri="{FF2B5EF4-FFF2-40B4-BE49-F238E27FC236}">
                    <a16:creationId xmlns:a16="http://schemas.microsoft.com/office/drawing/2014/main" id="{3FBC2BD9-DA72-D290-84F1-22BD1E4939EA}"/>
                  </a:ext>
                </a:extLst>
              </p:cNvPr>
              <p:cNvGrpSpPr/>
              <p:nvPr/>
            </p:nvGrpSpPr>
            <p:grpSpPr>
              <a:xfrm>
                <a:off x="696556" y="1466443"/>
                <a:ext cx="457200" cy="2970669"/>
                <a:chOff x="4878000" y="1468232"/>
                <a:chExt cx="457200" cy="2970669"/>
              </a:xfrm>
            </p:grpSpPr>
            <p:sp>
              <p:nvSpPr>
                <p:cNvPr id="72" name="Arc 29">
                  <a:extLst>
                    <a:ext uri="{FF2B5EF4-FFF2-40B4-BE49-F238E27FC236}">
                      <a16:creationId xmlns:a16="http://schemas.microsoft.com/office/drawing/2014/main" id="{576CD442-482D-07F1-4F2F-E5EE7ECE7474}"/>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73" name="Group 72">
                  <a:extLst>
                    <a:ext uri="{FF2B5EF4-FFF2-40B4-BE49-F238E27FC236}">
                      <a16:creationId xmlns:a16="http://schemas.microsoft.com/office/drawing/2014/main" id="{A9697609-FDE3-D958-5432-89860BFE9C73}"/>
                    </a:ext>
                  </a:extLst>
                </p:cNvPr>
                <p:cNvGrpSpPr/>
                <p:nvPr/>
              </p:nvGrpSpPr>
              <p:grpSpPr>
                <a:xfrm>
                  <a:off x="4878000" y="1917596"/>
                  <a:ext cx="457200" cy="2521305"/>
                  <a:chOff x="4871440" y="1917596"/>
                  <a:chExt cx="457200" cy="2521305"/>
                </a:xfrm>
              </p:grpSpPr>
              <p:cxnSp>
                <p:nvCxnSpPr>
                  <p:cNvPr id="74" name="Straight Connector 73">
                    <a:extLst>
                      <a:ext uri="{FF2B5EF4-FFF2-40B4-BE49-F238E27FC236}">
                        <a16:creationId xmlns:a16="http://schemas.microsoft.com/office/drawing/2014/main" id="{12A9791D-788D-4F8B-B9A0-E1E83BB05CF3}"/>
                      </a:ext>
                    </a:extLst>
                  </p:cNvPr>
                  <p:cNvCxnSpPr>
                    <a:cxnSpLocks/>
                  </p:cNvCxnSpPr>
                  <p:nvPr/>
                </p:nvCxnSpPr>
                <p:spPr>
                  <a:xfrm>
                    <a:off x="4871440" y="1917596"/>
                    <a:ext cx="0" cy="2106015"/>
                  </a:xfrm>
                  <a:prstGeom prst="line">
                    <a:avLst/>
                  </a:prstGeom>
                  <a:ln w="25400">
                    <a:gradFill flip="none" rotWithShape="1">
                      <a:gsLst>
                        <a:gs pos="0">
                          <a:srgbClr val="8B5CF6"/>
                        </a:gs>
                        <a:gs pos="100000">
                          <a:srgbClr val="10B981"/>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75" name="Arc 29">
                    <a:extLst>
                      <a:ext uri="{FF2B5EF4-FFF2-40B4-BE49-F238E27FC236}">
                        <a16:creationId xmlns:a16="http://schemas.microsoft.com/office/drawing/2014/main" id="{4B4FB96F-517E-DE50-D917-19CEE570FAF0}"/>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10B981"/>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sp>
          <p:nvSpPr>
            <p:cNvPr id="76" name="Rectangle: Rounded Corners 75">
              <a:extLst>
                <a:ext uri="{FF2B5EF4-FFF2-40B4-BE49-F238E27FC236}">
                  <a16:creationId xmlns:a16="http://schemas.microsoft.com/office/drawing/2014/main" id="{999C0A43-D84D-9C47-2F4E-EEF4E10644B1}"/>
                </a:ext>
              </a:extLst>
            </p:cNvPr>
            <p:cNvSpPr/>
            <p:nvPr/>
          </p:nvSpPr>
          <p:spPr>
            <a:xfrm>
              <a:off x="1634671" y="4300626"/>
              <a:ext cx="346510" cy="308009"/>
            </a:xfrm>
            <a:prstGeom prst="roundRect">
              <a:avLst/>
            </a:prstGeom>
            <a:gradFill flip="none" rotWithShape="1">
              <a:gsLst>
                <a:gs pos="0">
                  <a:srgbClr val="8B5CF6"/>
                </a:gs>
                <a:gs pos="100000">
                  <a:srgbClr val="10B981"/>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latin typeface="Inter" panose="02000503000000020004" pitchFamily="2" charset="0"/>
                  <a:ea typeface="Inter" panose="02000503000000020004" pitchFamily="2" charset="0"/>
                </a:rPr>
                <a:t>4</a:t>
              </a:r>
              <a:endParaRPr lang="en-US" sz="1000" dirty="0">
                <a:latin typeface="Inter" panose="02000503000000020004" pitchFamily="2" charset="0"/>
                <a:ea typeface="Inter" panose="02000503000000020004" pitchFamily="2" charset="0"/>
              </a:endParaRPr>
            </a:p>
          </p:txBody>
        </p:sp>
        <p:sp>
          <p:nvSpPr>
            <p:cNvPr id="77" name="TextBox 76">
              <a:extLst>
                <a:ext uri="{FF2B5EF4-FFF2-40B4-BE49-F238E27FC236}">
                  <a16:creationId xmlns:a16="http://schemas.microsoft.com/office/drawing/2014/main" id="{3E364ECC-9CDF-7BA3-38DD-2A3B21283695}"/>
                </a:ext>
              </a:extLst>
            </p:cNvPr>
            <p:cNvSpPr txBox="1"/>
            <p:nvPr/>
          </p:nvSpPr>
          <p:spPr>
            <a:xfrm>
              <a:off x="1929256" y="4579907"/>
              <a:ext cx="1453355" cy="1157048"/>
            </a:xfrm>
            <a:prstGeom prst="rect">
              <a:avLst/>
            </a:prstGeom>
            <a:noFill/>
          </p:spPr>
          <p:txBody>
            <a:bodyPr wrap="square">
              <a:spAutoFit/>
            </a:bodyPr>
            <a:lstStyle/>
            <a:p>
              <a:pPr>
                <a:lnSpc>
                  <a:spcPct val="150000"/>
                </a:lnSpc>
              </a:pPr>
              <a:r>
                <a:rPr lang="en-US" sz="1600" dirty="0">
                  <a:solidFill>
                    <a:schemeClr val="bg1"/>
                  </a:solidFill>
                  <a:latin typeface="Inter" panose="02000503000000020004" pitchFamily="2" charset="0"/>
                  <a:ea typeface="Inter" panose="02000503000000020004" pitchFamily="2" charset="0"/>
                </a:rPr>
                <a:t>Capture Price Comparison</a:t>
              </a:r>
            </a:p>
          </p:txBody>
        </p:sp>
        <p:sp>
          <p:nvSpPr>
            <p:cNvPr id="78" name="TextBox 77">
              <a:extLst>
                <a:ext uri="{FF2B5EF4-FFF2-40B4-BE49-F238E27FC236}">
                  <a16:creationId xmlns:a16="http://schemas.microsoft.com/office/drawing/2014/main" id="{2D121D7A-FFD0-B26B-A684-979620B767BF}"/>
                </a:ext>
              </a:extLst>
            </p:cNvPr>
            <p:cNvSpPr txBox="1"/>
            <p:nvPr/>
          </p:nvSpPr>
          <p:spPr>
            <a:xfrm>
              <a:off x="3171161" y="4256590"/>
              <a:ext cx="487907" cy="369332"/>
            </a:xfrm>
            <a:prstGeom prst="rect">
              <a:avLst/>
            </a:prstGeom>
            <a:noFill/>
          </p:spPr>
          <p:txBody>
            <a:bodyPr wrap="square">
              <a:spAutoFit/>
            </a:bodyPr>
            <a:lstStyle/>
            <a:p>
              <a:r>
                <a:rPr lang="en-US" dirty="0"/>
                <a:t>💰</a:t>
              </a:r>
            </a:p>
          </p:txBody>
        </p:sp>
      </p:grpSp>
      <p:grpSp>
        <p:nvGrpSpPr>
          <p:cNvPr id="117" name="Group 116">
            <a:extLst>
              <a:ext uri="{FF2B5EF4-FFF2-40B4-BE49-F238E27FC236}">
                <a16:creationId xmlns:a16="http://schemas.microsoft.com/office/drawing/2014/main" id="{DA760E35-BC1E-67DB-9BC0-2B55CE2CE9A9}"/>
              </a:ext>
            </a:extLst>
          </p:cNvPr>
          <p:cNvGrpSpPr/>
          <p:nvPr/>
        </p:nvGrpSpPr>
        <p:grpSpPr>
          <a:xfrm>
            <a:off x="5038984" y="4147546"/>
            <a:ext cx="2113213" cy="1920498"/>
            <a:chOff x="5038984" y="4147546"/>
            <a:chExt cx="2113213" cy="1920498"/>
          </a:xfrm>
        </p:grpSpPr>
        <p:grpSp>
          <p:nvGrpSpPr>
            <p:cNvPr id="82" name="Group 81">
              <a:extLst>
                <a:ext uri="{FF2B5EF4-FFF2-40B4-BE49-F238E27FC236}">
                  <a16:creationId xmlns:a16="http://schemas.microsoft.com/office/drawing/2014/main" id="{5FAF7F9F-8D5F-25EB-3ACC-287C30F577C7}"/>
                </a:ext>
              </a:extLst>
            </p:cNvPr>
            <p:cNvGrpSpPr/>
            <p:nvPr/>
          </p:nvGrpSpPr>
          <p:grpSpPr>
            <a:xfrm>
              <a:off x="5038984" y="4147546"/>
              <a:ext cx="2113213" cy="1920498"/>
              <a:chOff x="695400" y="1466443"/>
              <a:chExt cx="3960440" cy="2970669"/>
            </a:xfrm>
          </p:grpSpPr>
          <p:sp>
            <p:nvSpPr>
              <p:cNvPr id="83" name="Rectangle: Rounded Corners 82">
                <a:extLst>
                  <a:ext uri="{FF2B5EF4-FFF2-40B4-BE49-F238E27FC236}">
                    <a16:creationId xmlns:a16="http://schemas.microsoft.com/office/drawing/2014/main" id="{D3561965-C4AF-6FC6-E6D4-7A5A32A01AF7}"/>
                  </a:ext>
                </a:extLst>
              </p:cNvPr>
              <p:cNvSpPr/>
              <p:nvPr/>
            </p:nvSpPr>
            <p:spPr>
              <a:xfrm>
                <a:off x="695400" y="1556790"/>
                <a:ext cx="3960440" cy="2793551"/>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84" name="Group 83">
                <a:extLst>
                  <a:ext uri="{FF2B5EF4-FFF2-40B4-BE49-F238E27FC236}">
                    <a16:creationId xmlns:a16="http://schemas.microsoft.com/office/drawing/2014/main" id="{26C14D66-68B8-A5A0-DCD4-1CAF3C9F7562}"/>
                  </a:ext>
                </a:extLst>
              </p:cNvPr>
              <p:cNvGrpSpPr/>
              <p:nvPr/>
            </p:nvGrpSpPr>
            <p:grpSpPr>
              <a:xfrm>
                <a:off x="696556" y="1466443"/>
                <a:ext cx="457200" cy="2970669"/>
                <a:chOff x="4878000" y="1468232"/>
                <a:chExt cx="457200" cy="2970669"/>
              </a:xfrm>
            </p:grpSpPr>
            <p:sp>
              <p:nvSpPr>
                <p:cNvPr id="85" name="Arc 29">
                  <a:extLst>
                    <a:ext uri="{FF2B5EF4-FFF2-40B4-BE49-F238E27FC236}">
                      <a16:creationId xmlns:a16="http://schemas.microsoft.com/office/drawing/2014/main" id="{895464B7-131F-DEFE-B927-5845451CF746}"/>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86" name="Group 85">
                  <a:extLst>
                    <a:ext uri="{FF2B5EF4-FFF2-40B4-BE49-F238E27FC236}">
                      <a16:creationId xmlns:a16="http://schemas.microsoft.com/office/drawing/2014/main" id="{65009803-968B-A968-CE66-A214B3B675C6}"/>
                    </a:ext>
                  </a:extLst>
                </p:cNvPr>
                <p:cNvGrpSpPr/>
                <p:nvPr/>
              </p:nvGrpSpPr>
              <p:grpSpPr>
                <a:xfrm>
                  <a:off x="4878000" y="1917596"/>
                  <a:ext cx="457200" cy="2521305"/>
                  <a:chOff x="4871440" y="1917596"/>
                  <a:chExt cx="457200" cy="2521305"/>
                </a:xfrm>
              </p:grpSpPr>
              <p:cxnSp>
                <p:nvCxnSpPr>
                  <p:cNvPr id="87" name="Straight Connector 86">
                    <a:extLst>
                      <a:ext uri="{FF2B5EF4-FFF2-40B4-BE49-F238E27FC236}">
                        <a16:creationId xmlns:a16="http://schemas.microsoft.com/office/drawing/2014/main" id="{4B9C769C-D56E-15E1-F990-166E0808E6E6}"/>
                      </a:ext>
                    </a:extLst>
                  </p:cNvPr>
                  <p:cNvCxnSpPr>
                    <a:cxnSpLocks/>
                  </p:cNvCxnSpPr>
                  <p:nvPr/>
                </p:nvCxnSpPr>
                <p:spPr>
                  <a:xfrm>
                    <a:off x="4871440" y="1917596"/>
                    <a:ext cx="0" cy="2106015"/>
                  </a:xfrm>
                  <a:prstGeom prst="line">
                    <a:avLst/>
                  </a:prstGeom>
                  <a:ln w="25400">
                    <a:gradFill flip="none" rotWithShape="1">
                      <a:gsLst>
                        <a:gs pos="0">
                          <a:srgbClr val="8B5CF6"/>
                        </a:gs>
                        <a:gs pos="100000">
                          <a:srgbClr val="10B981"/>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88" name="Arc 29">
                    <a:extLst>
                      <a:ext uri="{FF2B5EF4-FFF2-40B4-BE49-F238E27FC236}">
                        <a16:creationId xmlns:a16="http://schemas.microsoft.com/office/drawing/2014/main" id="{54F940D1-BEE9-99D3-1094-5E94277721C2}"/>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10B981"/>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sp>
          <p:nvSpPr>
            <p:cNvPr id="89" name="Rectangle: Rounded Corners 88">
              <a:extLst>
                <a:ext uri="{FF2B5EF4-FFF2-40B4-BE49-F238E27FC236}">
                  <a16:creationId xmlns:a16="http://schemas.microsoft.com/office/drawing/2014/main" id="{86A919C2-3452-66F3-FA00-FC6EDBEF6EA9}"/>
                </a:ext>
              </a:extLst>
            </p:cNvPr>
            <p:cNvSpPr/>
            <p:nvPr/>
          </p:nvSpPr>
          <p:spPr>
            <a:xfrm>
              <a:off x="5127800" y="4249990"/>
              <a:ext cx="346510" cy="308009"/>
            </a:xfrm>
            <a:prstGeom prst="roundRect">
              <a:avLst/>
            </a:prstGeom>
            <a:gradFill flip="none" rotWithShape="1">
              <a:gsLst>
                <a:gs pos="0">
                  <a:srgbClr val="8B5CF6"/>
                </a:gs>
                <a:gs pos="100000">
                  <a:srgbClr val="10B981"/>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latin typeface="Inter" panose="02000503000000020004" pitchFamily="2" charset="0"/>
                  <a:ea typeface="Inter" panose="02000503000000020004" pitchFamily="2" charset="0"/>
                </a:rPr>
                <a:t>5</a:t>
              </a:r>
              <a:endParaRPr lang="en-US" sz="1000" dirty="0">
                <a:latin typeface="Inter" panose="02000503000000020004" pitchFamily="2" charset="0"/>
                <a:ea typeface="Inter" panose="02000503000000020004" pitchFamily="2" charset="0"/>
              </a:endParaRPr>
            </a:p>
          </p:txBody>
        </p:sp>
        <p:sp>
          <p:nvSpPr>
            <p:cNvPr id="90" name="TextBox 89">
              <a:extLst>
                <a:ext uri="{FF2B5EF4-FFF2-40B4-BE49-F238E27FC236}">
                  <a16:creationId xmlns:a16="http://schemas.microsoft.com/office/drawing/2014/main" id="{99460117-C89A-8FB6-4228-7A2091895F1D}"/>
                </a:ext>
              </a:extLst>
            </p:cNvPr>
            <p:cNvSpPr txBox="1"/>
            <p:nvPr/>
          </p:nvSpPr>
          <p:spPr>
            <a:xfrm>
              <a:off x="5422385" y="4713937"/>
              <a:ext cx="1453355" cy="787716"/>
            </a:xfrm>
            <a:prstGeom prst="rect">
              <a:avLst/>
            </a:prstGeom>
            <a:noFill/>
          </p:spPr>
          <p:txBody>
            <a:bodyPr wrap="square">
              <a:spAutoFit/>
            </a:bodyPr>
            <a:lstStyle/>
            <a:p>
              <a:pPr>
                <a:lnSpc>
                  <a:spcPct val="150000"/>
                </a:lnSpc>
              </a:pPr>
              <a:r>
                <a:rPr lang="en-US" sz="1600" dirty="0">
                  <a:solidFill>
                    <a:schemeClr val="bg1"/>
                  </a:solidFill>
                  <a:latin typeface="Inter" panose="02000503000000020004" pitchFamily="2" charset="0"/>
                  <a:ea typeface="Inter" panose="02000503000000020004" pitchFamily="2" charset="0"/>
                </a:rPr>
                <a:t>Correlation Analysis</a:t>
              </a:r>
            </a:p>
          </p:txBody>
        </p:sp>
        <p:sp>
          <p:nvSpPr>
            <p:cNvPr id="91" name="TextBox 90">
              <a:extLst>
                <a:ext uri="{FF2B5EF4-FFF2-40B4-BE49-F238E27FC236}">
                  <a16:creationId xmlns:a16="http://schemas.microsoft.com/office/drawing/2014/main" id="{601E22F5-F973-9763-F69E-EAF416076699}"/>
                </a:ext>
              </a:extLst>
            </p:cNvPr>
            <p:cNvSpPr txBox="1"/>
            <p:nvPr/>
          </p:nvSpPr>
          <p:spPr>
            <a:xfrm>
              <a:off x="6664290" y="4205954"/>
              <a:ext cx="487907" cy="369332"/>
            </a:xfrm>
            <a:prstGeom prst="rect">
              <a:avLst/>
            </a:prstGeom>
            <a:noFill/>
          </p:spPr>
          <p:txBody>
            <a:bodyPr wrap="square">
              <a:spAutoFit/>
            </a:bodyPr>
            <a:lstStyle/>
            <a:p>
              <a:r>
                <a:rPr lang="en-US" dirty="0"/>
                <a:t>📈</a:t>
              </a:r>
            </a:p>
          </p:txBody>
        </p:sp>
      </p:grpSp>
      <p:grpSp>
        <p:nvGrpSpPr>
          <p:cNvPr id="118" name="Group 117">
            <a:extLst>
              <a:ext uri="{FF2B5EF4-FFF2-40B4-BE49-F238E27FC236}">
                <a16:creationId xmlns:a16="http://schemas.microsoft.com/office/drawing/2014/main" id="{A58095D1-AA5B-D5BE-03BB-BBF4CC587E15}"/>
              </a:ext>
            </a:extLst>
          </p:cNvPr>
          <p:cNvGrpSpPr/>
          <p:nvPr/>
        </p:nvGrpSpPr>
        <p:grpSpPr>
          <a:xfrm>
            <a:off x="8532932" y="4207929"/>
            <a:ext cx="2113213" cy="1920498"/>
            <a:chOff x="8532932" y="4207929"/>
            <a:chExt cx="2113213" cy="1920498"/>
          </a:xfrm>
        </p:grpSpPr>
        <p:grpSp>
          <p:nvGrpSpPr>
            <p:cNvPr id="92" name="Group 91">
              <a:extLst>
                <a:ext uri="{FF2B5EF4-FFF2-40B4-BE49-F238E27FC236}">
                  <a16:creationId xmlns:a16="http://schemas.microsoft.com/office/drawing/2014/main" id="{E06318CB-9FD4-7F63-67E9-26DE70679173}"/>
                </a:ext>
              </a:extLst>
            </p:cNvPr>
            <p:cNvGrpSpPr/>
            <p:nvPr/>
          </p:nvGrpSpPr>
          <p:grpSpPr>
            <a:xfrm>
              <a:off x="8532932" y="4207929"/>
              <a:ext cx="2113213" cy="1920498"/>
              <a:chOff x="695400" y="1466443"/>
              <a:chExt cx="3960440" cy="2970669"/>
            </a:xfrm>
          </p:grpSpPr>
          <p:sp>
            <p:nvSpPr>
              <p:cNvPr id="93" name="Rectangle: Rounded Corners 92">
                <a:extLst>
                  <a:ext uri="{FF2B5EF4-FFF2-40B4-BE49-F238E27FC236}">
                    <a16:creationId xmlns:a16="http://schemas.microsoft.com/office/drawing/2014/main" id="{5D80F1C7-6508-DF44-36C9-FB5D71890ACE}"/>
                  </a:ext>
                </a:extLst>
              </p:cNvPr>
              <p:cNvSpPr/>
              <p:nvPr/>
            </p:nvSpPr>
            <p:spPr>
              <a:xfrm>
                <a:off x="695400" y="1556790"/>
                <a:ext cx="3960440" cy="2793551"/>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94" name="Group 93">
                <a:extLst>
                  <a:ext uri="{FF2B5EF4-FFF2-40B4-BE49-F238E27FC236}">
                    <a16:creationId xmlns:a16="http://schemas.microsoft.com/office/drawing/2014/main" id="{C8AD92E9-4333-ED34-8B20-D8C5D7F09BEA}"/>
                  </a:ext>
                </a:extLst>
              </p:cNvPr>
              <p:cNvGrpSpPr/>
              <p:nvPr/>
            </p:nvGrpSpPr>
            <p:grpSpPr>
              <a:xfrm>
                <a:off x="696556" y="1466443"/>
                <a:ext cx="457200" cy="2970669"/>
                <a:chOff x="4878000" y="1468232"/>
                <a:chExt cx="457200" cy="2970669"/>
              </a:xfrm>
            </p:grpSpPr>
            <p:sp>
              <p:nvSpPr>
                <p:cNvPr id="95" name="Arc 29">
                  <a:extLst>
                    <a:ext uri="{FF2B5EF4-FFF2-40B4-BE49-F238E27FC236}">
                      <a16:creationId xmlns:a16="http://schemas.microsoft.com/office/drawing/2014/main" id="{D2EBE0A4-F820-0404-FAF9-ECC0ABB869EB}"/>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96" name="Group 95">
                  <a:extLst>
                    <a:ext uri="{FF2B5EF4-FFF2-40B4-BE49-F238E27FC236}">
                      <a16:creationId xmlns:a16="http://schemas.microsoft.com/office/drawing/2014/main" id="{41B08624-7AAE-CB5A-29A9-132F7297E23D}"/>
                    </a:ext>
                  </a:extLst>
                </p:cNvPr>
                <p:cNvGrpSpPr/>
                <p:nvPr/>
              </p:nvGrpSpPr>
              <p:grpSpPr>
                <a:xfrm>
                  <a:off x="4878000" y="1917596"/>
                  <a:ext cx="457200" cy="2521305"/>
                  <a:chOff x="4871440" y="1917596"/>
                  <a:chExt cx="457200" cy="2521305"/>
                </a:xfrm>
              </p:grpSpPr>
              <p:cxnSp>
                <p:nvCxnSpPr>
                  <p:cNvPr id="97" name="Straight Connector 96">
                    <a:extLst>
                      <a:ext uri="{FF2B5EF4-FFF2-40B4-BE49-F238E27FC236}">
                        <a16:creationId xmlns:a16="http://schemas.microsoft.com/office/drawing/2014/main" id="{6D7BC7BF-F597-9518-D321-61B434E17560}"/>
                      </a:ext>
                    </a:extLst>
                  </p:cNvPr>
                  <p:cNvCxnSpPr>
                    <a:cxnSpLocks/>
                  </p:cNvCxnSpPr>
                  <p:nvPr/>
                </p:nvCxnSpPr>
                <p:spPr>
                  <a:xfrm>
                    <a:off x="4871440" y="1917596"/>
                    <a:ext cx="0" cy="2106015"/>
                  </a:xfrm>
                  <a:prstGeom prst="line">
                    <a:avLst/>
                  </a:prstGeom>
                  <a:ln w="25400">
                    <a:gradFill flip="none" rotWithShape="1">
                      <a:gsLst>
                        <a:gs pos="0">
                          <a:srgbClr val="8B5CF6"/>
                        </a:gs>
                        <a:gs pos="100000">
                          <a:srgbClr val="10B981"/>
                        </a:gs>
                      </a:gsLst>
                      <a:lin ang="5400000" scaled="1"/>
                      <a:tileRect/>
                    </a:gradFill>
                  </a:ln>
                </p:spPr>
                <p:style>
                  <a:lnRef idx="1">
                    <a:schemeClr val="accent1"/>
                  </a:lnRef>
                  <a:fillRef idx="0">
                    <a:schemeClr val="accent1"/>
                  </a:fillRef>
                  <a:effectRef idx="0">
                    <a:schemeClr val="accent1"/>
                  </a:effectRef>
                  <a:fontRef idx="minor">
                    <a:schemeClr val="tx1"/>
                  </a:fontRef>
                </p:style>
              </p:cxnSp>
              <p:sp>
                <p:nvSpPr>
                  <p:cNvPr id="98" name="Arc 29">
                    <a:extLst>
                      <a:ext uri="{FF2B5EF4-FFF2-40B4-BE49-F238E27FC236}">
                        <a16:creationId xmlns:a16="http://schemas.microsoft.com/office/drawing/2014/main" id="{4D0C0489-3B39-5E30-BD49-56615A649D06}"/>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10B981"/>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sp>
          <p:nvSpPr>
            <p:cNvPr id="99" name="Rectangle: Rounded Corners 98">
              <a:extLst>
                <a:ext uri="{FF2B5EF4-FFF2-40B4-BE49-F238E27FC236}">
                  <a16:creationId xmlns:a16="http://schemas.microsoft.com/office/drawing/2014/main" id="{7C2F4DA1-F671-C02C-EBD4-25A79DF8AEB7}"/>
                </a:ext>
              </a:extLst>
            </p:cNvPr>
            <p:cNvSpPr/>
            <p:nvPr/>
          </p:nvSpPr>
          <p:spPr>
            <a:xfrm>
              <a:off x="8621748" y="4310373"/>
              <a:ext cx="346510" cy="308009"/>
            </a:xfrm>
            <a:prstGeom prst="roundRect">
              <a:avLst/>
            </a:prstGeom>
            <a:gradFill flip="none" rotWithShape="1">
              <a:gsLst>
                <a:gs pos="0">
                  <a:srgbClr val="8B5CF6"/>
                </a:gs>
                <a:gs pos="100000">
                  <a:srgbClr val="10B981"/>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latin typeface="Inter" panose="02000503000000020004" pitchFamily="2" charset="0"/>
                  <a:ea typeface="Inter" panose="02000503000000020004" pitchFamily="2" charset="0"/>
                </a:rPr>
                <a:t>6</a:t>
              </a:r>
              <a:endParaRPr lang="en-US" sz="1000" dirty="0">
                <a:latin typeface="Inter" panose="02000503000000020004" pitchFamily="2" charset="0"/>
                <a:ea typeface="Inter" panose="02000503000000020004" pitchFamily="2" charset="0"/>
              </a:endParaRPr>
            </a:p>
          </p:txBody>
        </p:sp>
        <p:sp>
          <p:nvSpPr>
            <p:cNvPr id="100" name="TextBox 99">
              <a:extLst>
                <a:ext uri="{FF2B5EF4-FFF2-40B4-BE49-F238E27FC236}">
                  <a16:creationId xmlns:a16="http://schemas.microsoft.com/office/drawing/2014/main" id="{5B82DAD7-9AB5-9566-DB82-007E8B1DDE3B}"/>
                </a:ext>
              </a:extLst>
            </p:cNvPr>
            <p:cNvSpPr txBox="1"/>
            <p:nvPr/>
          </p:nvSpPr>
          <p:spPr>
            <a:xfrm>
              <a:off x="8916333" y="4774320"/>
              <a:ext cx="1453355" cy="787716"/>
            </a:xfrm>
            <a:prstGeom prst="rect">
              <a:avLst/>
            </a:prstGeom>
            <a:noFill/>
          </p:spPr>
          <p:txBody>
            <a:bodyPr wrap="square">
              <a:spAutoFit/>
            </a:bodyPr>
            <a:lstStyle/>
            <a:p>
              <a:pPr>
                <a:lnSpc>
                  <a:spcPct val="150000"/>
                </a:lnSpc>
              </a:pPr>
              <a:r>
                <a:rPr lang="en-US" sz="1600" dirty="0">
                  <a:solidFill>
                    <a:schemeClr val="bg1"/>
                  </a:solidFill>
                  <a:latin typeface="Inter" panose="02000503000000020004" pitchFamily="2" charset="0"/>
                  <a:ea typeface="Inter" panose="02000503000000020004" pitchFamily="2" charset="0"/>
                </a:rPr>
                <a:t>Forecast Changes</a:t>
              </a:r>
            </a:p>
          </p:txBody>
        </p:sp>
        <p:sp>
          <p:nvSpPr>
            <p:cNvPr id="101" name="TextBox 100">
              <a:extLst>
                <a:ext uri="{FF2B5EF4-FFF2-40B4-BE49-F238E27FC236}">
                  <a16:creationId xmlns:a16="http://schemas.microsoft.com/office/drawing/2014/main" id="{57CAE67B-9928-0279-065B-7D5C432FA389}"/>
                </a:ext>
              </a:extLst>
            </p:cNvPr>
            <p:cNvSpPr txBox="1"/>
            <p:nvPr/>
          </p:nvSpPr>
          <p:spPr>
            <a:xfrm>
              <a:off x="10158238" y="4266337"/>
              <a:ext cx="487907" cy="369332"/>
            </a:xfrm>
            <a:prstGeom prst="rect">
              <a:avLst/>
            </a:prstGeom>
            <a:noFill/>
          </p:spPr>
          <p:txBody>
            <a:bodyPr wrap="square">
              <a:spAutoFit/>
            </a:bodyPr>
            <a:lstStyle/>
            <a:p>
              <a:r>
                <a:rPr lang="en-US" dirty="0"/>
                <a:t>🔄</a:t>
              </a:r>
            </a:p>
          </p:txBody>
        </p:sp>
      </p:grpSp>
    </p:spTree>
    <p:extLst>
      <p:ext uri="{BB962C8B-B14F-4D97-AF65-F5344CB8AC3E}">
        <p14:creationId xmlns:p14="http://schemas.microsoft.com/office/powerpoint/2010/main" val="2770590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2F4C"/>
        </a:solidFill>
        <a:effectLst/>
      </p:bgPr>
    </p:bg>
    <p:spTree>
      <p:nvGrpSpPr>
        <p:cNvPr id="1" name=""/>
        <p:cNvGrpSpPr/>
        <p:nvPr/>
      </p:nvGrpSpPr>
      <p:grpSpPr>
        <a:xfrm>
          <a:off x="0" y="0"/>
          <a:ext cx="0" cy="0"/>
          <a:chOff x="0" y="0"/>
          <a:chExt cx="0" cy="0"/>
        </a:xfrm>
      </p:grpSpPr>
      <p:grpSp>
        <p:nvGrpSpPr>
          <p:cNvPr id="87" name="Group 86">
            <a:extLst>
              <a:ext uri="{FF2B5EF4-FFF2-40B4-BE49-F238E27FC236}">
                <a16:creationId xmlns:a16="http://schemas.microsoft.com/office/drawing/2014/main" id="{C8586B3C-EDA2-7F0E-944B-8D0D3D02E950}"/>
              </a:ext>
            </a:extLst>
          </p:cNvPr>
          <p:cNvGrpSpPr/>
          <p:nvPr/>
        </p:nvGrpSpPr>
        <p:grpSpPr>
          <a:xfrm>
            <a:off x="911504" y="2995773"/>
            <a:ext cx="1440000" cy="1440000"/>
            <a:chOff x="911504" y="2995773"/>
            <a:chExt cx="1440000" cy="1440000"/>
          </a:xfrm>
          <a:effectLst>
            <a:glow rad="228600">
              <a:srgbClr val="7F46EA">
                <a:alpha val="70000"/>
              </a:srgbClr>
            </a:glow>
          </a:effectLst>
        </p:grpSpPr>
        <p:sp>
          <p:nvSpPr>
            <p:cNvPr id="32" name="Oval 31">
              <a:extLst>
                <a:ext uri="{FF2B5EF4-FFF2-40B4-BE49-F238E27FC236}">
                  <a16:creationId xmlns:a16="http://schemas.microsoft.com/office/drawing/2014/main" id="{C887BE4B-0024-48DD-1B14-60A02FFB71A2}"/>
                </a:ext>
              </a:extLst>
            </p:cNvPr>
            <p:cNvSpPr/>
            <p:nvPr/>
          </p:nvSpPr>
          <p:spPr>
            <a:xfrm>
              <a:off x="911504" y="2995773"/>
              <a:ext cx="1440000" cy="1440000"/>
            </a:xfrm>
            <a:prstGeom prst="ellipse">
              <a:avLst/>
            </a:prstGeom>
            <a:solidFill>
              <a:srgbClr val="7F46EA"/>
            </a:solidFill>
            <a:ln w="190500">
              <a:solidFill>
                <a:srgbClr val="7F46EA">
                  <a:alpha val="7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Chart 32">
              <a:extLst>
                <a:ext uri="{FF2B5EF4-FFF2-40B4-BE49-F238E27FC236}">
                  <a16:creationId xmlns:a16="http://schemas.microsoft.com/office/drawing/2014/main" id="{FCC03B7A-7CC4-836E-E7B2-7D4BFA234849}"/>
                </a:ext>
              </a:extLst>
            </p:cNvPr>
            <p:cNvGraphicFramePr/>
            <p:nvPr/>
          </p:nvGraphicFramePr>
          <p:xfrm>
            <a:off x="1205587" y="3290505"/>
            <a:ext cx="851834" cy="567889"/>
          </p:xfrm>
          <a:graphic>
            <a:graphicData uri="http://schemas.openxmlformats.org/drawingml/2006/chart">
              <c:chart xmlns:c="http://schemas.openxmlformats.org/drawingml/2006/chart" xmlns:r="http://schemas.openxmlformats.org/officeDocument/2006/relationships" r:id="rId2"/>
            </a:graphicData>
          </a:graphic>
        </p:graphicFrame>
        <p:sp>
          <p:nvSpPr>
            <p:cNvPr id="35" name="Rectangle: Rounded Corners 34">
              <a:extLst>
                <a:ext uri="{FF2B5EF4-FFF2-40B4-BE49-F238E27FC236}">
                  <a16:creationId xmlns:a16="http://schemas.microsoft.com/office/drawing/2014/main" id="{6703CFC6-938B-8ED1-EDF5-FE9E4C1D38C9}"/>
                </a:ext>
              </a:extLst>
            </p:cNvPr>
            <p:cNvSpPr/>
            <p:nvPr/>
          </p:nvSpPr>
          <p:spPr>
            <a:xfrm>
              <a:off x="1343472" y="4010585"/>
              <a:ext cx="576064" cy="216024"/>
            </a:xfrm>
            <a:prstGeom prst="roundRect">
              <a:avLst>
                <a:gd name="adj" fmla="val 50000"/>
              </a:avLst>
            </a:prstGeom>
            <a:solidFill>
              <a:srgbClr val="7F46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Start</a:t>
              </a:r>
              <a:endParaRPr lang="en-US" sz="1200" dirty="0"/>
            </a:p>
          </p:txBody>
        </p:sp>
      </p:grpSp>
      <p:grpSp>
        <p:nvGrpSpPr>
          <p:cNvPr id="88" name="Group 87">
            <a:extLst>
              <a:ext uri="{FF2B5EF4-FFF2-40B4-BE49-F238E27FC236}">
                <a16:creationId xmlns:a16="http://schemas.microsoft.com/office/drawing/2014/main" id="{5234A398-6D5E-4623-D2A0-4988FD38B5AE}"/>
              </a:ext>
            </a:extLst>
          </p:cNvPr>
          <p:cNvGrpSpPr/>
          <p:nvPr/>
        </p:nvGrpSpPr>
        <p:grpSpPr>
          <a:xfrm>
            <a:off x="6672064" y="2995773"/>
            <a:ext cx="1440000" cy="1440000"/>
            <a:chOff x="6738544" y="3154545"/>
            <a:chExt cx="1440000" cy="1440000"/>
          </a:xfrm>
          <a:effectLst>
            <a:glow rad="228600">
              <a:srgbClr val="09A472">
                <a:alpha val="70000"/>
              </a:srgbClr>
            </a:glow>
          </a:effectLst>
        </p:grpSpPr>
        <p:sp>
          <p:nvSpPr>
            <p:cNvPr id="36" name="Oval 35">
              <a:extLst>
                <a:ext uri="{FF2B5EF4-FFF2-40B4-BE49-F238E27FC236}">
                  <a16:creationId xmlns:a16="http://schemas.microsoft.com/office/drawing/2014/main" id="{E90276A5-CC5D-5693-2AE3-D256DEA973FC}"/>
                </a:ext>
              </a:extLst>
            </p:cNvPr>
            <p:cNvSpPr/>
            <p:nvPr/>
          </p:nvSpPr>
          <p:spPr>
            <a:xfrm>
              <a:off x="6738544" y="3154545"/>
              <a:ext cx="1440000" cy="1440000"/>
            </a:xfrm>
            <a:prstGeom prst="ellipse">
              <a:avLst/>
            </a:prstGeom>
            <a:solidFill>
              <a:srgbClr val="09A472"/>
            </a:solidFill>
            <a:ln w="190500">
              <a:solidFill>
                <a:srgbClr val="09A472">
                  <a:alpha val="7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986008C5-89D2-6073-D341-1CCE236F19AC}"/>
                </a:ext>
              </a:extLst>
            </p:cNvPr>
            <p:cNvSpPr/>
            <p:nvPr/>
          </p:nvSpPr>
          <p:spPr>
            <a:xfrm>
              <a:off x="7170512" y="4169357"/>
              <a:ext cx="576064" cy="216024"/>
            </a:xfrm>
            <a:prstGeom prst="roundRect">
              <a:avLst>
                <a:gd name="adj" fmla="val 50000"/>
              </a:avLst>
            </a:prstGeom>
            <a:solidFill>
              <a:srgbClr val="7F46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2050</a:t>
              </a:r>
              <a:endParaRPr lang="en-US" sz="1200" dirty="0"/>
            </a:p>
          </p:txBody>
        </p:sp>
      </p:grpSp>
      <p:grpSp>
        <p:nvGrpSpPr>
          <p:cNvPr id="48" name="Group 47">
            <a:extLst>
              <a:ext uri="{FF2B5EF4-FFF2-40B4-BE49-F238E27FC236}">
                <a16:creationId xmlns:a16="http://schemas.microsoft.com/office/drawing/2014/main" id="{79D20F7E-82F7-D969-677F-AB873DFF824E}"/>
              </a:ext>
            </a:extLst>
          </p:cNvPr>
          <p:cNvGrpSpPr/>
          <p:nvPr/>
        </p:nvGrpSpPr>
        <p:grpSpPr>
          <a:xfrm>
            <a:off x="2367831" y="2856903"/>
            <a:ext cx="4324449" cy="2052401"/>
            <a:chOff x="4023935" y="1993986"/>
            <a:chExt cx="4324449" cy="2052401"/>
          </a:xfrm>
        </p:grpSpPr>
        <p:sp>
          <p:nvSpPr>
            <p:cNvPr id="40" name="Freeform: Shape 39">
              <a:extLst>
                <a:ext uri="{FF2B5EF4-FFF2-40B4-BE49-F238E27FC236}">
                  <a16:creationId xmlns:a16="http://schemas.microsoft.com/office/drawing/2014/main" id="{65FDACAB-2F3A-B3F4-9412-3654509FD095}"/>
                </a:ext>
              </a:extLst>
            </p:cNvPr>
            <p:cNvSpPr/>
            <p:nvPr/>
          </p:nvSpPr>
          <p:spPr>
            <a:xfrm flipV="1">
              <a:off x="4023935" y="3092391"/>
              <a:ext cx="4272741" cy="947063"/>
            </a:xfrm>
            <a:custGeom>
              <a:avLst/>
              <a:gdLst>
                <a:gd name="connsiteX0" fmla="*/ 0 w 4212771"/>
                <a:gd name="connsiteY0" fmla="*/ 772892 h 783777"/>
                <a:gd name="connsiteX1" fmla="*/ 2111829 w 4212771"/>
                <a:gd name="connsiteY1" fmla="*/ 6 h 783777"/>
                <a:gd name="connsiteX2" fmla="*/ 4212771 w 4212771"/>
                <a:gd name="connsiteY2" fmla="*/ 783777 h 783777"/>
                <a:gd name="connsiteX0" fmla="*/ 0 w 4130473"/>
                <a:gd name="connsiteY0" fmla="*/ 947063 h 947063"/>
                <a:gd name="connsiteX1" fmla="*/ 2029531 w 4130473"/>
                <a:gd name="connsiteY1" fmla="*/ 5 h 947063"/>
                <a:gd name="connsiteX2" fmla="*/ 4130473 w 4130473"/>
                <a:gd name="connsiteY2" fmla="*/ 783776 h 947063"/>
                <a:gd name="connsiteX0" fmla="*/ 0 w 4037886"/>
                <a:gd name="connsiteY0" fmla="*/ 947063 h 947063"/>
                <a:gd name="connsiteX1" fmla="*/ 2029531 w 4037886"/>
                <a:gd name="connsiteY1" fmla="*/ 5 h 947063"/>
                <a:gd name="connsiteX2" fmla="*/ 4037886 w 4037886"/>
                <a:gd name="connsiteY2" fmla="*/ 947062 h 947063"/>
              </a:gdLst>
              <a:ahLst/>
              <a:cxnLst>
                <a:cxn ang="0">
                  <a:pos x="connsiteX0" y="connsiteY0"/>
                </a:cxn>
                <a:cxn ang="0">
                  <a:pos x="connsiteX1" y="connsiteY1"/>
                </a:cxn>
                <a:cxn ang="0">
                  <a:pos x="connsiteX2" y="connsiteY2"/>
                </a:cxn>
              </a:cxnLst>
              <a:rect l="l" t="t" r="r" b="b"/>
              <a:pathLst>
                <a:path w="4037886" h="947063">
                  <a:moveTo>
                    <a:pt x="0" y="947063"/>
                  </a:moveTo>
                  <a:cubicBezTo>
                    <a:pt x="704850" y="559713"/>
                    <a:pt x="1327403" y="-1809"/>
                    <a:pt x="2029531" y="5"/>
                  </a:cubicBezTo>
                  <a:cubicBezTo>
                    <a:pt x="2731659" y="1819"/>
                    <a:pt x="3798400" y="624119"/>
                    <a:pt x="4037886" y="947062"/>
                  </a:cubicBezTo>
                </a:path>
              </a:pathLst>
            </a:custGeom>
            <a:noFill/>
            <a:ln w="190500">
              <a:solidFill>
                <a:srgbClr val="FFC000">
                  <a:alpha val="40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EA22A3D8-DB1A-4B9A-1EC8-E0DC34440BD5}"/>
                </a:ext>
              </a:extLst>
            </p:cNvPr>
            <p:cNvSpPr/>
            <p:nvPr/>
          </p:nvSpPr>
          <p:spPr>
            <a:xfrm>
              <a:off x="4035194" y="2000747"/>
              <a:ext cx="4294513" cy="1001491"/>
            </a:xfrm>
            <a:custGeom>
              <a:avLst/>
              <a:gdLst>
                <a:gd name="connsiteX0" fmla="*/ 0 w 4212771"/>
                <a:gd name="connsiteY0" fmla="*/ 772892 h 783777"/>
                <a:gd name="connsiteX1" fmla="*/ 2111829 w 4212771"/>
                <a:gd name="connsiteY1" fmla="*/ 6 h 783777"/>
                <a:gd name="connsiteX2" fmla="*/ 4212771 w 4212771"/>
                <a:gd name="connsiteY2" fmla="*/ 783777 h 783777"/>
                <a:gd name="connsiteX0" fmla="*/ 0 w 4130473"/>
                <a:gd name="connsiteY0" fmla="*/ 947063 h 947063"/>
                <a:gd name="connsiteX1" fmla="*/ 2029531 w 4130473"/>
                <a:gd name="connsiteY1" fmla="*/ 5 h 947063"/>
                <a:gd name="connsiteX2" fmla="*/ 4130473 w 4130473"/>
                <a:gd name="connsiteY2" fmla="*/ 783776 h 947063"/>
                <a:gd name="connsiteX0" fmla="*/ 0 w 4037886"/>
                <a:gd name="connsiteY0" fmla="*/ 947063 h 947063"/>
                <a:gd name="connsiteX1" fmla="*/ 2029531 w 4037886"/>
                <a:gd name="connsiteY1" fmla="*/ 5 h 947063"/>
                <a:gd name="connsiteX2" fmla="*/ 4037886 w 4037886"/>
                <a:gd name="connsiteY2" fmla="*/ 947062 h 947063"/>
                <a:gd name="connsiteX0" fmla="*/ 0 w 4058461"/>
                <a:gd name="connsiteY0" fmla="*/ 947063 h 1001491"/>
                <a:gd name="connsiteX1" fmla="*/ 2029531 w 4058461"/>
                <a:gd name="connsiteY1" fmla="*/ 5 h 1001491"/>
                <a:gd name="connsiteX2" fmla="*/ 4058461 w 4058461"/>
                <a:gd name="connsiteY2" fmla="*/ 1001491 h 1001491"/>
              </a:gdLst>
              <a:ahLst/>
              <a:cxnLst>
                <a:cxn ang="0">
                  <a:pos x="connsiteX0" y="connsiteY0"/>
                </a:cxn>
                <a:cxn ang="0">
                  <a:pos x="connsiteX1" y="connsiteY1"/>
                </a:cxn>
                <a:cxn ang="0">
                  <a:pos x="connsiteX2" y="connsiteY2"/>
                </a:cxn>
              </a:cxnLst>
              <a:rect l="l" t="t" r="r" b="b"/>
              <a:pathLst>
                <a:path w="4058461" h="1001491">
                  <a:moveTo>
                    <a:pt x="0" y="947063"/>
                  </a:moveTo>
                  <a:cubicBezTo>
                    <a:pt x="704850" y="559713"/>
                    <a:pt x="1327403" y="-1809"/>
                    <a:pt x="2029531" y="5"/>
                  </a:cubicBezTo>
                  <a:cubicBezTo>
                    <a:pt x="2731659" y="1819"/>
                    <a:pt x="3818975" y="678548"/>
                    <a:pt x="4058461" y="1001491"/>
                  </a:cubicBezTo>
                </a:path>
              </a:pathLst>
            </a:custGeom>
            <a:noFill/>
            <a:ln w="190500">
              <a:solidFill>
                <a:srgbClr val="FFC000">
                  <a:alpha val="40000"/>
                </a:srgb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63BE3509-951D-5DB0-D7DA-62184C521037}"/>
                </a:ext>
              </a:extLst>
            </p:cNvPr>
            <p:cNvSpPr/>
            <p:nvPr/>
          </p:nvSpPr>
          <p:spPr>
            <a:xfrm>
              <a:off x="4053871" y="1993986"/>
              <a:ext cx="4294513" cy="1001491"/>
            </a:xfrm>
            <a:custGeom>
              <a:avLst/>
              <a:gdLst>
                <a:gd name="connsiteX0" fmla="*/ 0 w 4212771"/>
                <a:gd name="connsiteY0" fmla="*/ 772892 h 783777"/>
                <a:gd name="connsiteX1" fmla="*/ 2111829 w 4212771"/>
                <a:gd name="connsiteY1" fmla="*/ 6 h 783777"/>
                <a:gd name="connsiteX2" fmla="*/ 4212771 w 4212771"/>
                <a:gd name="connsiteY2" fmla="*/ 783777 h 783777"/>
                <a:gd name="connsiteX0" fmla="*/ 0 w 4130473"/>
                <a:gd name="connsiteY0" fmla="*/ 947063 h 947063"/>
                <a:gd name="connsiteX1" fmla="*/ 2029531 w 4130473"/>
                <a:gd name="connsiteY1" fmla="*/ 5 h 947063"/>
                <a:gd name="connsiteX2" fmla="*/ 4130473 w 4130473"/>
                <a:gd name="connsiteY2" fmla="*/ 783776 h 947063"/>
                <a:gd name="connsiteX0" fmla="*/ 0 w 4037886"/>
                <a:gd name="connsiteY0" fmla="*/ 947063 h 947063"/>
                <a:gd name="connsiteX1" fmla="*/ 2029531 w 4037886"/>
                <a:gd name="connsiteY1" fmla="*/ 5 h 947063"/>
                <a:gd name="connsiteX2" fmla="*/ 4037886 w 4037886"/>
                <a:gd name="connsiteY2" fmla="*/ 947062 h 947063"/>
                <a:gd name="connsiteX0" fmla="*/ 0 w 4058461"/>
                <a:gd name="connsiteY0" fmla="*/ 947063 h 1001491"/>
                <a:gd name="connsiteX1" fmla="*/ 2029531 w 4058461"/>
                <a:gd name="connsiteY1" fmla="*/ 5 h 1001491"/>
                <a:gd name="connsiteX2" fmla="*/ 4058461 w 4058461"/>
                <a:gd name="connsiteY2" fmla="*/ 1001491 h 1001491"/>
              </a:gdLst>
              <a:ahLst/>
              <a:cxnLst>
                <a:cxn ang="0">
                  <a:pos x="connsiteX0" y="connsiteY0"/>
                </a:cxn>
                <a:cxn ang="0">
                  <a:pos x="connsiteX1" y="connsiteY1"/>
                </a:cxn>
                <a:cxn ang="0">
                  <a:pos x="connsiteX2" y="connsiteY2"/>
                </a:cxn>
              </a:cxnLst>
              <a:rect l="l" t="t" r="r" b="b"/>
              <a:pathLst>
                <a:path w="4058461" h="1001491">
                  <a:moveTo>
                    <a:pt x="0" y="947063"/>
                  </a:moveTo>
                  <a:cubicBezTo>
                    <a:pt x="704850" y="559713"/>
                    <a:pt x="1327403" y="-1809"/>
                    <a:pt x="2029531" y="5"/>
                  </a:cubicBezTo>
                  <a:cubicBezTo>
                    <a:pt x="2731659" y="1819"/>
                    <a:pt x="3818975" y="678548"/>
                    <a:pt x="4058461" y="1001491"/>
                  </a:cubicBezTo>
                </a:path>
              </a:pathLst>
            </a:custGeom>
            <a:noFill/>
            <a:ln w="25400">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699D8642-7F60-6266-B240-F5385DDFDBC4}"/>
                </a:ext>
              </a:extLst>
            </p:cNvPr>
            <p:cNvSpPr/>
            <p:nvPr/>
          </p:nvSpPr>
          <p:spPr>
            <a:xfrm flipV="1">
              <a:off x="4056966" y="3099324"/>
              <a:ext cx="4272741" cy="947063"/>
            </a:xfrm>
            <a:custGeom>
              <a:avLst/>
              <a:gdLst>
                <a:gd name="connsiteX0" fmla="*/ 0 w 4212771"/>
                <a:gd name="connsiteY0" fmla="*/ 772892 h 783777"/>
                <a:gd name="connsiteX1" fmla="*/ 2111829 w 4212771"/>
                <a:gd name="connsiteY1" fmla="*/ 6 h 783777"/>
                <a:gd name="connsiteX2" fmla="*/ 4212771 w 4212771"/>
                <a:gd name="connsiteY2" fmla="*/ 783777 h 783777"/>
                <a:gd name="connsiteX0" fmla="*/ 0 w 4130473"/>
                <a:gd name="connsiteY0" fmla="*/ 947063 h 947063"/>
                <a:gd name="connsiteX1" fmla="*/ 2029531 w 4130473"/>
                <a:gd name="connsiteY1" fmla="*/ 5 h 947063"/>
                <a:gd name="connsiteX2" fmla="*/ 4130473 w 4130473"/>
                <a:gd name="connsiteY2" fmla="*/ 783776 h 947063"/>
                <a:gd name="connsiteX0" fmla="*/ 0 w 4037886"/>
                <a:gd name="connsiteY0" fmla="*/ 947063 h 947063"/>
                <a:gd name="connsiteX1" fmla="*/ 2029531 w 4037886"/>
                <a:gd name="connsiteY1" fmla="*/ 5 h 947063"/>
                <a:gd name="connsiteX2" fmla="*/ 4037886 w 4037886"/>
                <a:gd name="connsiteY2" fmla="*/ 947062 h 947063"/>
              </a:gdLst>
              <a:ahLst/>
              <a:cxnLst>
                <a:cxn ang="0">
                  <a:pos x="connsiteX0" y="connsiteY0"/>
                </a:cxn>
                <a:cxn ang="0">
                  <a:pos x="connsiteX1" y="connsiteY1"/>
                </a:cxn>
                <a:cxn ang="0">
                  <a:pos x="connsiteX2" y="connsiteY2"/>
                </a:cxn>
              </a:cxnLst>
              <a:rect l="l" t="t" r="r" b="b"/>
              <a:pathLst>
                <a:path w="4037886" h="947063">
                  <a:moveTo>
                    <a:pt x="0" y="947063"/>
                  </a:moveTo>
                  <a:cubicBezTo>
                    <a:pt x="704850" y="559713"/>
                    <a:pt x="1327403" y="-1809"/>
                    <a:pt x="2029531" y="5"/>
                  </a:cubicBezTo>
                  <a:cubicBezTo>
                    <a:pt x="2731659" y="1819"/>
                    <a:pt x="3798400" y="624119"/>
                    <a:pt x="4037886" y="947062"/>
                  </a:cubicBezTo>
                </a:path>
              </a:pathLst>
            </a:custGeom>
            <a:noFill/>
            <a:ln w="25400">
              <a:solidFill>
                <a:srgbClr val="FFC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Rectangle: Rounded Corners 48">
            <a:extLst>
              <a:ext uri="{FF2B5EF4-FFF2-40B4-BE49-F238E27FC236}">
                <a16:creationId xmlns:a16="http://schemas.microsoft.com/office/drawing/2014/main" id="{4687712C-DF1A-CFAA-0261-019C7C008B26}"/>
              </a:ext>
            </a:extLst>
          </p:cNvPr>
          <p:cNvSpPr/>
          <p:nvPr/>
        </p:nvSpPr>
        <p:spPr>
          <a:xfrm>
            <a:off x="839416" y="4665451"/>
            <a:ext cx="1584176" cy="792088"/>
          </a:xfrm>
          <a:prstGeom prst="roundRect">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GB" sz="1400" b="1" dirty="0">
                <a:solidFill>
                  <a:schemeClr val="bg1"/>
                </a:solidFill>
                <a:latin typeface="Inter" panose="02000503000000020004" pitchFamily="2" charset="0"/>
                <a:ea typeface="Inter" panose="02000503000000020004" pitchFamily="2" charset="0"/>
              </a:rPr>
              <a:t>Forecast Data</a:t>
            </a:r>
            <a:endParaRPr lang="en-GB" sz="1400" dirty="0">
              <a:latin typeface="Inter" panose="02000503000000020004" pitchFamily="2" charset="0"/>
              <a:ea typeface="Inter" panose="02000503000000020004" pitchFamily="2" charset="0"/>
            </a:endParaRPr>
          </a:p>
          <a:p>
            <a:pPr algn="ctr">
              <a:lnSpc>
                <a:spcPct val="150000"/>
              </a:lnSpc>
            </a:pPr>
            <a:r>
              <a:rPr lang="en-GB" sz="1200" i="1" dirty="0">
                <a:solidFill>
                  <a:schemeClr val="bg2"/>
                </a:solidFill>
                <a:latin typeface="Inter" panose="02000503000000020004" pitchFamily="2" charset="0"/>
                <a:ea typeface="Inter" panose="02000503000000020004" pitchFamily="2" charset="0"/>
              </a:rPr>
              <a:t>2022Q3 / 2023Q1</a:t>
            </a:r>
            <a:endParaRPr lang="en-US" sz="1200" i="1" dirty="0">
              <a:solidFill>
                <a:schemeClr val="bg2"/>
              </a:solidFill>
              <a:latin typeface="Inter" panose="02000503000000020004" pitchFamily="2" charset="0"/>
              <a:ea typeface="Inter" panose="02000503000000020004" pitchFamily="2" charset="0"/>
            </a:endParaRPr>
          </a:p>
        </p:txBody>
      </p:sp>
      <p:sp>
        <p:nvSpPr>
          <p:cNvPr id="51" name="TextBox 50">
            <a:extLst>
              <a:ext uri="{FF2B5EF4-FFF2-40B4-BE49-F238E27FC236}">
                <a16:creationId xmlns:a16="http://schemas.microsoft.com/office/drawing/2014/main" id="{533D15EA-FFF0-C071-74AE-1C9642C64434}"/>
              </a:ext>
            </a:extLst>
          </p:cNvPr>
          <p:cNvSpPr txBox="1"/>
          <p:nvPr/>
        </p:nvSpPr>
        <p:spPr>
          <a:xfrm>
            <a:off x="3809973" y="5589240"/>
            <a:ext cx="318160" cy="369332"/>
          </a:xfrm>
          <a:prstGeom prst="rect">
            <a:avLst/>
          </a:prstGeom>
          <a:noFill/>
        </p:spPr>
        <p:txBody>
          <a:bodyPr wrap="square">
            <a:spAutoFit/>
          </a:bodyPr>
          <a:lstStyle/>
          <a:p>
            <a:pPr algn="ctr"/>
            <a:r>
              <a:rPr lang="en-US" dirty="0"/>
              <a:t>💨</a:t>
            </a:r>
          </a:p>
        </p:txBody>
      </p:sp>
      <p:sp>
        <p:nvSpPr>
          <p:cNvPr id="52" name="Rectangle: Rounded Corners 51">
            <a:extLst>
              <a:ext uri="{FF2B5EF4-FFF2-40B4-BE49-F238E27FC236}">
                <a16:creationId xmlns:a16="http://schemas.microsoft.com/office/drawing/2014/main" id="{CB7AA620-F802-329E-B04B-D0C21F78D73F}"/>
              </a:ext>
            </a:extLst>
          </p:cNvPr>
          <p:cNvSpPr/>
          <p:nvPr/>
        </p:nvSpPr>
        <p:spPr>
          <a:xfrm>
            <a:off x="3734258" y="5445224"/>
            <a:ext cx="1929774" cy="792088"/>
          </a:xfrm>
          <a:prstGeom prst="roundRect">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GB" sz="1400" b="1" dirty="0">
                <a:solidFill>
                  <a:schemeClr val="bg1"/>
                </a:solidFill>
                <a:latin typeface="Inter" panose="02000503000000020004" pitchFamily="2" charset="0"/>
                <a:ea typeface="Inter" panose="02000503000000020004" pitchFamily="2" charset="0"/>
              </a:rPr>
              <a:t>  Onshore Wind </a:t>
            </a:r>
            <a:endParaRPr lang="en-GB" sz="1400" dirty="0">
              <a:latin typeface="Inter" panose="02000503000000020004" pitchFamily="2" charset="0"/>
              <a:ea typeface="Inter" panose="02000503000000020004" pitchFamily="2" charset="0"/>
            </a:endParaRPr>
          </a:p>
          <a:p>
            <a:pPr algn="ctr">
              <a:lnSpc>
                <a:spcPct val="150000"/>
              </a:lnSpc>
            </a:pPr>
            <a:r>
              <a:rPr lang="en-GB" sz="1200" dirty="0">
                <a:solidFill>
                  <a:schemeClr val="bg2"/>
                </a:solidFill>
                <a:latin typeface="Inter" panose="02000503000000020004" pitchFamily="2" charset="0"/>
                <a:ea typeface="Inter" panose="02000503000000020004" pitchFamily="2" charset="0"/>
              </a:rPr>
              <a:t>Germany</a:t>
            </a:r>
            <a:endParaRPr lang="en-US" sz="1200" dirty="0">
              <a:solidFill>
                <a:schemeClr val="bg2"/>
              </a:solidFill>
              <a:latin typeface="Inter" panose="02000503000000020004" pitchFamily="2" charset="0"/>
              <a:ea typeface="Inter" panose="02000503000000020004" pitchFamily="2" charset="0"/>
            </a:endParaRPr>
          </a:p>
        </p:txBody>
      </p:sp>
      <p:sp>
        <p:nvSpPr>
          <p:cNvPr id="53" name="Title 1">
            <a:extLst>
              <a:ext uri="{FF2B5EF4-FFF2-40B4-BE49-F238E27FC236}">
                <a16:creationId xmlns:a16="http://schemas.microsoft.com/office/drawing/2014/main" id="{CC07BF32-5C3D-4DAB-0EC2-868918B4363A}"/>
              </a:ext>
            </a:extLst>
          </p:cNvPr>
          <p:cNvSpPr>
            <a:spLocks noGrp="1"/>
          </p:cNvSpPr>
          <p:nvPr>
            <p:ph type="title"/>
          </p:nvPr>
        </p:nvSpPr>
        <p:spPr>
          <a:xfrm>
            <a:off x="432623" y="169165"/>
            <a:ext cx="7898111" cy="891093"/>
          </a:xfrm>
        </p:spPr>
        <p:txBody>
          <a:bodyPr>
            <a:normAutofit/>
          </a:bodyPr>
          <a:lstStyle/>
          <a:p>
            <a:pPr algn="ctr">
              <a:lnSpc>
                <a:spcPct val="150000"/>
              </a:lnSpc>
            </a:pPr>
            <a:r>
              <a:rPr lang="en-GB" sz="2000" b="1" dirty="0">
                <a:solidFill>
                  <a:schemeClr val="bg1"/>
                </a:solidFill>
                <a:latin typeface="Inter ExtraBold" panose="02000503000000020004" pitchFamily="2" charset="0"/>
                <a:ea typeface="Inter ExtraBold" panose="02000503000000020004" pitchFamily="2" charset="0"/>
              </a:rPr>
              <a:t>Looking Back from 2050: Did Our Investments Deliver Value?</a:t>
            </a:r>
            <a:br>
              <a:rPr lang="en-GB" sz="3200" b="1" dirty="0">
                <a:solidFill>
                  <a:schemeClr val="bg1"/>
                </a:solidFill>
                <a:latin typeface="Inter ExtraBold" panose="02000503000000020004" pitchFamily="2" charset="0"/>
                <a:ea typeface="Inter ExtraBold" panose="02000503000000020004" pitchFamily="2" charset="0"/>
              </a:rPr>
            </a:br>
            <a:r>
              <a:rPr lang="en-US" sz="1400" i="1" dirty="0">
                <a:solidFill>
                  <a:schemeClr val="bg2"/>
                </a:solidFill>
                <a:latin typeface="Inter" panose="02000503000000020004" pitchFamily="2" charset="0"/>
                <a:ea typeface="Inter" panose="02000503000000020004" pitchFamily="2" charset="0"/>
              </a:rPr>
              <a:t>Two paths, one destination — which investment strategy leads to success?</a:t>
            </a:r>
            <a:endParaRPr lang="en-US" sz="1400" b="1" dirty="0">
              <a:solidFill>
                <a:schemeClr val="bg2"/>
              </a:solidFill>
              <a:latin typeface="Inter" panose="02000503000000020004" pitchFamily="2" charset="0"/>
              <a:ea typeface="Inter" panose="02000503000000020004" pitchFamily="2" charset="0"/>
            </a:endParaRPr>
          </a:p>
        </p:txBody>
      </p:sp>
      <p:sp>
        <p:nvSpPr>
          <p:cNvPr id="55" name="Rectangle: Rounded Corners 54">
            <a:extLst>
              <a:ext uri="{FF2B5EF4-FFF2-40B4-BE49-F238E27FC236}">
                <a16:creationId xmlns:a16="http://schemas.microsoft.com/office/drawing/2014/main" id="{022343F6-4937-54F2-9E02-E46A294134D9}"/>
              </a:ext>
            </a:extLst>
          </p:cNvPr>
          <p:cNvSpPr/>
          <p:nvPr/>
        </p:nvSpPr>
        <p:spPr>
          <a:xfrm>
            <a:off x="3734258" y="1523341"/>
            <a:ext cx="1929774" cy="792088"/>
          </a:xfrm>
          <a:prstGeom prst="roundRect">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GB" sz="1400" b="1" dirty="0">
                <a:solidFill>
                  <a:schemeClr val="bg1"/>
                </a:solidFill>
                <a:latin typeface="Inter" panose="02000503000000020004" pitchFamily="2" charset="0"/>
                <a:ea typeface="Inter" panose="02000503000000020004" pitchFamily="2" charset="0"/>
              </a:rPr>
              <a:t>       Solar PV</a:t>
            </a:r>
            <a:endParaRPr lang="en-GB" sz="1400" dirty="0">
              <a:latin typeface="Inter" panose="02000503000000020004" pitchFamily="2" charset="0"/>
              <a:ea typeface="Inter" panose="02000503000000020004" pitchFamily="2" charset="0"/>
            </a:endParaRPr>
          </a:p>
          <a:p>
            <a:pPr algn="ctr">
              <a:lnSpc>
                <a:spcPct val="150000"/>
              </a:lnSpc>
            </a:pPr>
            <a:r>
              <a:rPr lang="en-GB" sz="1200" dirty="0">
                <a:solidFill>
                  <a:schemeClr val="bg2"/>
                </a:solidFill>
                <a:latin typeface="Inter" panose="02000503000000020004" pitchFamily="2" charset="0"/>
                <a:ea typeface="Inter" panose="02000503000000020004" pitchFamily="2" charset="0"/>
              </a:rPr>
              <a:t>Great Britain</a:t>
            </a:r>
            <a:endParaRPr lang="en-US" sz="1200" dirty="0">
              <a:solidFill>
                <a:schemeClr val="bg2"/>
              </a:solidFill>
              <a:latin typeface="Inter" panose="02000503000000020004" pitchFamily="2" charset="0"/>
              <a:ea typeface="Inter" panose="02000503000000020004" pitchFamily="2" charset="0"/>
            </a:endParaRPr>
          </a:p>
        </p:txBody>
      </p:sp>
      <p:sp>
        <p:nvSpPr>
          <p:cNvPr id="57" name="TextBox 56">
            <a:extLst>
              <a:ext uri="{FF2B5EF4-FFF2-40B4-BE49-F238E27FC236}">
                <a16:creationId xmlns:a16="http://schemas.microsoft.com/office/drawing/2014/main" id="{8340650C-B966-A918-FEAC-8B3DCB70144B}"/>
              </a:ext>
            </a:extLst>
          </p:cNvPr>
          <p:cNvSpPr txBox="1"/>
          <p:nvPr/>
        </p:nvSpPr>
        <p:spPr>
          <a:xfrm>
            <a:off x="4128133" y="1658683"/>
            <a:ext cx="316800" cy="369332"/>
          </a:xfrm>
          <a:prstGeom prst="rect">
            <a:avLst/>
          </a:prstGeom>
          <a:noFill/>
        </p:spPr>
        <p:txBody>
          <a:bodyPr wrap="square">
            <a:spAutoFit/>
          </a:bodyPr>
          <a:lstStyle/>
          <a:p>
            <a:pPr algn="ctr"/>
            <a:r>
              <a:rPr lang="en-US" b="0" i="0" dirty="0">
                <a:solidFill>
                  <a:srgbClr val="000000"/>
                </a:solidFill>
                <a:effectLst/>
                <a:latin typeface="Segoe UI" panose="020B0502040204020203" pitchFamily="34" charset="0"/>
              </a:rPr>
              <a:t>☀️</a:t>
            </a:r>
            <a:endParaRPr lang="en-US" dirty="0"/>
          </a:p>
        </p:txBody>
      </p:sp>
      <p:grpSp>
        <p:nvGrpSpPr>
          <p:cNvPr id="71" name="Group 70">
            <a:extLst>
              <a:ext uri="{FF2B5EF4-FFF2-40B4-BE49-F238E27FC236}">
                <a16:creationId xmlns:a16="http://schemas.microsoft.com/office/drawing/2014/main" id="{1306941E-7EDA-16D1-76F2-A5C9785B22A5}"/>
              </a:ext>
            </a:extLst>
          </p:cNvPr>
          <p:cNvGrpSpPr/>
          <p:nvPr/>
        </p:nvGrpSpPr>
        <p:grpSpPr>
          <a:xfrm rot="10800000">
            <a:off x="4446270" y="2330545"/>
            <a:ext cx="505751" cy="665228"/>
            <a:chOff x="7968208" y="1650201"/>
            <a:chExt cx="914400" cy="1202735"/>
          </a:xfrm>
        </p:grpSpPr>
        <p:pic>
          <p:nvPicPr>
            <p:cNvPr id="67" name="Graphic 66" descr="Marker">
              <a:extLst>
                <a:ext uri="{FF2B5EF4-FFF2-40B4-BE49-F238E27FC236}">
                  <a16:creationId xmlns:a16="http://schemas.microsoft.com/office/drawing/2014/main" id="{F5E9BEBA-EE5B-B9F3-09A8-66348E6C1D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68208" y="1650201"/>
              <a:ext cx="914400" cy="914400"/>
            </a:xfrm>
            <a:prstGeom prst="rect">
              <a:avLst/>
            </a:prstGeom>
          </p:spPr>
        </p:pic>
        <p:sp>
          <p:nvSpPr>
            <p:cNvPr id="68" name="Oval 67">
              <a:extLst>
                <a:ext uri="{FF2B5EF4-FFF2-40B4-BE49-F238E27FC236}">
                  <a16:creationId xmlns:a16="http://schemas.microsoft.com/office/drawing/2014/main" id="{B845719E-60EB-24E9-C927-4D97BF5CE617}"/>
                </a:ext>
              </a:extLst>
            </p:cNvPr>
            <p:cNvSpPr/>
            <p:nvPr/>
          </p:nvSpPr>
          <p:spPr>
            <a:xfrm>
              <a:off x="8335408" y="1902789"/>
              <a:ext cx="180000" cy="180000"/>
            </a:xfrm>
            <a:prstGeom prst="ellipse">
              <a:avLst/>
            </a:prstGeom>
            <a:solidFill>
              <a:srgbClr val="0F2F4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p>
          </p:txBody>
        </p:sp>
        <p:cxnSp>
          <p:nvCxnSpPr>
            <p:cNvPr id="70" name="Straight Connector 69">
              <a:extLst>
                <a:ext uri="{FF2B5EF4-FFF2-40B4-BE49-F238E27FC236}">
                  <a16:creationId xmlns:a16="http://schemas.microsoft.com/office/drawing/2014/main" id="{459626A6-4597-CEE7-EA24-D2E2B4355784}"/>
                </a:ext>
              </a:extLst>
            </p:cNvPr>
            <p:cNvCxnSpPr>
              <a:cxnSpLocks/>
            </p:cNvCxnSpPr>
            <p:nvPr/>
          </p:nvCxnSpPr>
          <p:spPr>
            <a:xfrm>
              <a:off x="8425409" y="2421763"/>
              <a:ext cx="0" cy="431173"/>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21B84395-A955-B90D-6605-8E69EBF44B3B}"/>
              </a:ext>
            </a:extLst>
          </p:cNvPr>
          <p:cNvGrpSpPr/>
          <p:nvPr/>
        </p:nvGrpSpPr>
        <p:grpSpPr>
          <a:xfrm>
            <a:off x="4446269" y="4779996"/>
            <a:ext cx="505751" cy="665228"/>
            <a:chOff x="7968208" y="1650201"/>
            <a:chExt cx="914400" cy="1202735"/>
          </a:xfrm>
        </p:grpSpPr>
        <p:pic>
          <p:nvPicPr>
            <p:cNvPr id="77" name="Graphic 76" descr="Marker">
              <a:extLst>
                <a:ext uri="{FF2B5EF4-FFF2-40B4-BE49-F238E27FC236}">
                  <a16:creationId xmlns:a16="http://schemas.microsoft.com/office/drawing/2014/main" id="{5EA7E576-67BB-29B6-C335-B7A979A71F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68208" y="1650201"/>
              <a:ext cx="914400" cy="914400"/>
            </a:xfrm>
            <a:prstGeom prst="rect">
              <a:avLst/>
            </a:prstGeom>
          </p:spPr>
        </p:pic>
        <p:sp>
          <p:nvSpPr>
            <p:cNvPr id="78" name="Oval 77">
              <a:extLst>
                <a:ext uri="{FF2B5EF4-FFF2-40B4-BE49-F238E27FC236}">
                  <a16:creationId xmlns:a16="http://schemas.microsoft.com/office/drawing/2014/main" id="{66D3B530-55BE-4001-BA73-AE7875FC2AA6}"/>
                </a:ext>
              </a:extLst>
            </p:cNvPr>
            <p:cNvSpPr/>
            <p:nvPr/>
          </p:nvSpPr>
          <p:spPr>
            <a:xfrm>
              <a:off x="8335408" y="1902788"/>
              <a:ext cx="179999" cy="179999"/>
            </a:xfrm>
            <a:prstGeom prst="ellipse">
              <a:avLst/>
            </a:prstGeom>
            <a:solidFill>
              <a:srgbClr val="0F2F4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p>
          </p:txBody>
        </p:sp>
        <p:cxnSp>
          <p:nvCxnSpPr>
            <p:cNvPr id="79" name="Straight Connector 78">
              <a:extLst>
                <a:ext uri="{FF2B5EF4-FFF2-40B4-BE49-F238E27FC236}">
                  <a16:creationId xmlns:a16="http://schemas.microsoft.com/office/drawing/2014/main" id="{471DA171-914A-514E-7BA6-5DEE3CB98E63}"/>
                </a:ext>
              </a:extLst>
            </p:cNvPr>
            <p:cNvCxnSpPr>
              <a:cxnSpLocks/>
            </p:cNvCxnSpPr>
            <p:nvPr/>
          </p:nvCxnSpPr>
          <p:spPr>
            <a:xfrm>
              <a:off x="8425407" y="2421763"/>
              <a:ext cx="0" cy="431173"/>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82" name="Group 81">
            <a:extLst>
              <a:ext uri="{FF2B5EF4-FFF2-40B4-BE49-F238E27FC236}">
                <a16:creationId xmlns:a16="http://schemas.microsoft.com/office/drawing/2014/main" id="{2D061D42-220A-91FD-DBED-6F3B17DD2772}"/>
              </a:ext>
            </a:extLst>
          </p:cNvPr>
          <p:cNvGrpSpPr/>
          <p:nvPr/>
        </p:nvGrpSpPr>
        <p:grpSpPr>
          <a:xfrm>
            <a:off x="2240347" y="3691994"/>
            <a:ext cx="288000" cy="288000"/>
            <a:chOff x="3509688" y="3383524"/>
            <a:chExt cx="288000" cy="288000"/>
          </a:xfrm>
        </p:grpSpPr>
        <p:sp>
          <p:nvSpPr>
            <p:cNvPr id="80" name="Oval 79">
              <a:extLst>
                <a:ext uri="{FF2B5EF4-FFF2-40B4-BE49-F238E27FC236}">
                  <a16:creationId xmlns:a16="http://schemas.microsoft.com/office/drawing/2014/main" id="{A5ED1F28-CAC4-541F-FA1C-777335BBCA73}"/>
                </a:ext>
              </a:extLst>
            </p:cNvPr>
            <p:cNvSpPr/>
            <p:nvPr/>
          </p:nvSpPr>
          <p:spPr>
            <a:xfrm>
              <a:off x="3545688" y="3419524"/>
              <a:ext cx="216000" cy="216000"/>
            </a:xfrm>
            <a:prstGeom prst="ellipse">
              <a:avLst/>
            </a:prstGeom>
            <a:solidFill>
              <a:srgbClr val="FFC000"/>
            </a:solidFill>
            <a:ln w="101600">
              <a:solidFill>
                <a:srgbClr val="FFC000">
                  <a:alpha val="7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C17DE4B2-46F9-5FFA-0121-8CE8B691A0F7}"/>
                </a:ext>
              </a:extLst>
            </p:cNvPr>
            <p:cNvSpPr txBox="1"/>
            <p:nvPr/>
          </p:nvSpPr>
          <p:spPr>
            <a:xfrm>
              <a:off x="3509688" y="3383524"/>
              <a:ext cx="288000" cy="288000"/>
            </a:xfrm>
            <a:prstGeom prst="rect">
              <a:avLst/>
            </a:prstGeom>
            <a:noFill/>
          </p:spPr>
          <p:txBody>
            <a:bodyPr wrap="square">
              <a:spAutoFit/>
            </a:bodyPr>
            <a:lstStyle/>
            <a:p>
              <a:pPr algn="ctr"/>
              <a:r>
                <a:rPr lang="en-US" b="0" i="0" dirty="0">
                  <a:solidFill>
                    <a:srgbClr val="000000"/>
                  </a:solidFill>
                  <a:effectLst/>
                  <a:latin typeface="Segoe UI" panose="020B0502040204020203" pitchFamily="34" charset="0"/>
                </a:rPr>
                <a:t>⚡</a:t>
              </a:r>
              <a:endParaRPr lang="en-US" dirty="0"/>
            </a:p>
          </p:txBody>
        </p:sp>
      </p:grpSp>
      <p:grpSp>
        <p:nvGrpSpPr>
          <p:cNvPr id="83" name="Group 82">
            <a:extLst>
              <a:ext uri="{FF2B5EF4-FFF2-40B4-BE49-F238E27FC236}">
                <a16:creationId xmlns:a16="http://schemas.microsoft.com/office/drawing/2014/main" id="{C09286BE-5537-2FEF-9867-0DFBE9969664}"/>
              </a:ext>
            </a:extLst>
          </p:cNvPr>
          <p:cNvGrpSpPr/>
          <p:nvPr/>
        </p:nvGrpSpPr>
        <p:grpSpPr>
          <a:xfrm>
            <a:off x="6499837" y="3678212"/>
            <a:ext cx="216000" cy="282472"/>
            <a:chOff x="5821380" y="2210400"/>
            <a:chExt cx="216000" cy="282472"/>
          </a:xfrm>
        </p:grpSpPr>
        <p:sp>
          <p:nvSpPr>
            <p:cNvPr id="81" name="Oval 80">
              <a:extLst>
                <a:ext uri="{FF2B5EF4-FFF2-40B4-BE49-F238E27FC236}">
                  <a16:creationId xmlns:a16="http://schemas.microsoft.com/office/drawing/2014/main" id="{3EAA671E-4C39-A866-7A03-BCC7A269FA08}"/>
                </a:ext>
              </a:extLst>
            </p:cNvPr>
            <p:cNvSpPr/>
            <p:nvPr/>
          </p:nvSpPr>
          <p:spPr>
            <a:xfrm>
              <a:off x="5821380" y="2276872"/>
              <a:ext cx="216000" cy="216000"/>
            </a:xfrm>
            <a:prstGeom prst="ellipse">
              <a:avLst/>
            </a:prstGeom>
            <a:solidFill>
              <a:srgbClr val="FFC000"/>
            </a:solidFill>
            <a:ln w="101600">
              <a:solidFill>
                <a:srgbClr val="FFC000">
                  <a:alpha val="7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0A03C35A-5C86-6C22-F9BE-1CDBC2A7ECF2}"/>
                </a:ext>
              </a:extLst>
            </p:cNvPr>
            <p:cNvSpPr txBox="1"/>
            <p:nvPr/>
          </p:nvSpPr>
          <p:spPr>
            <a:xfrm>
              <a:off x="5821380" y="2210400"/>
              <a:ext cx="216000" cy="216000"/>
            </a:xfrm>
            <a:prstGeom prst="rect">
              <a:avLst/>
            </a:prstGeom>
            <a:noFill/>
          </p:spPr>
          <p:txBody>
            <a:bodyPr wrap="square">
              <a:spAutoFit/>
            </a:bodyPr>
            <a:lstStyle/>
            <a:p>
              <a:pPr algn="ctr"/>
              <a:r>
                <a:rPr lang="en-US" b="0" i="0" dirty="0">
                  <a:solidFill>
                    <a:srgbClr val="000000"/>
                  </a:solidFill>
                  <a:effectLst/>
                  <a:latin typeface="Segoe UI" panose="020B0502040204020203" pitchFamily="34" charset="0"/>
                </a:rPr>
                <a:t>💰</a:t>
              </a:r>
              <a:endParaRPr lang="en-US" dirty="0"/>
            </a:p>
          </p:txBody>
        </p:sp>
      </p:grpSp>
      <p:sp>
        <p:nvSpPr>
          <p:cNvPr id="86" name="Rectangle: Rounded Corners 85">
            <a:extLst>
              <a:ext uri="{FF2B5EF4-FFF2-40B4-BE49-F238E27FC236}">
                <a16:creationId xmlns:a16="http://schemas.microsoft.com/office/drawing/2014/main" id="{53A8DBAA-ADA4-C09C-04AF-D053665C8671}"/>
              </a:ext>
            </a:extLst>
          </p:cNvPr>
          <p:cNvSpPr/>
          <p:nvPr/>
        </p:nvSpPr>
        <p:spPr>
          <a:xfrm>
            <a:off x="6746558" y="4665451"/>
            <a:ext cx="1584176" cy="792088"/>
          </a:xfrm>
          <a:prstGeom prst="roundRect">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GB" sz="1400" b="1" dirty="0">
                <a:solidFill>
                  <a:schemeClr val="bg1"/>
                </a:solidFill>
                <a:latin typeface="Inter" panose="02000503000000020004" pitchFamily="2" charset="0"/>
                <a:ea typeface="Inter" panose="02000503000000020004" pitchFamily="2" charset="0"/>
              </a:rPr>
              <a:t>The Future</a:t>
            </a:r>
            <a:endParaRPr lang="en-GB" sz="1400" dirty="0">
              <a:latin typeface="Inter" panose="02000503000000020004" pitchFamily="2" charset="0"/>
              <a:ea typeface="Inter" panose="02000503000000020004" pitchFamily="2" charset="0"/>
            </a:endParaRPr>
          </a:p>
          <a:p>
            <a:pPr algn="ctr">
              <a:lnSpc>
                <a:spcPct val="150000"/>
              </a:lnSpc>
            </a:pPr>
            <a:r>
              <a:rPr lang="en-GB" sz="1200" i="1" dirty="0">
                <a:solidFill>
                  <a:schemeClr val="bg2"/>
                </a:solidFill>
                <a:latin typeface="Inter" panose="02000503000000020004" pitchFamily="2" charset="0"/>
                <a:ea typeface="Inter" panose="02000503000000020004" pitchFamily="2" charset="0"/>
              </a:rPr>
              <a:t>Did we choose wisely?</a:t>
            </a:r>
            <a:endParaRPr lang="en-US" sz="1200" i="1" dirty="0">
              <a:solidFill>
                <a:schemeClr val="bg2"/>
              </a:solidFill>
              <a:latin typeface="Inter" panose="02000503000000020004" pitchFamily="2" charset="0"/>
              <a:ea typeface="Inter" panose="02000503000000020004" pitchFamily="2" charset="0"/>
            </a:endParaRPr>
          </a:p>
        </p:txBody>
      </p:sp>
      <p:sp>
        <p:nvSpPr>
          <p:cNvPr id="89" name="Rectangle: Diagonal Corners Rounded 88">
            <a:extLst>
              <a:ext uri="{FF2B5EF4-FFF2-40B4-BE49-F238E27FC236}">
                <a16:creationId xmlns:a16="http://schemas.microsoft.com/office/drawing/2014/main" id="{08B71814-041A-EBC5-0F78-F4A05EEA7169}"/>
              </a:ext>
            </a:extLst>
          </p:cNvPr>
          <p:cNvSpPr/>
          <p:nvPr/>
        </p:nvSpPr>
        <p:spPr>
          <a:xfrm>
            <a:off x="9082003" y="3301317"/>
            <a:ext cx="2592288" cy="2106000"/>
          </a:xfrm>
          <a:prstGeom prst="round2DiagRect">
            <a:avLst/>
          </a:prstGeom>
          <a:solidFill>
            <a:srgbClr val="1A4877"/>
          </a:solidFill>
          <a:ln w="76200">
            <a:solidFill>
              <a:srgbClr val="1A4877">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en-US" sz="1200" b="1" cap="all" dirty="0">
              <a:solidFill>
                <a:schemeClr val="bg1"/>
              </a:solidFill>
              <a:latin typeface="Inter" panose="02000503000000020004" pitchFamily="2" charset="0"/>
              <a:ea typeface="Inter" panose="02000503000000020004" pitchFamily="2" charset="0"/>
            </a:endParaRPr>
          </a:p>
          <a:p>
            <a:pPr>
              <a:lnSpc>
                <a:spcPct val="150000"/>
              </a:lnSpc>
            </a:pPr>
            <a:r>
              <a:rPr lang="en-US" sz="1200" b="1" dirty="0">
                <a:solidFill>
                  <a:srgbClr val="FFC000"/>
                </a:solidFill>
                <a:latin typeface="Inter" panose="02000503000000020004" pitchFamily="2" charset="0"/>
                <a:ea typeface="Inter" panose="02000503000000020004" pitchFamily="2" charset="0"/>
              </a:rPr>
              <a:t>What This Analysis Shows</a:t>
            </a:r>
          </a:p>
          <a:p>
            <a:pPr>
              <a:lnSpc>
                <a:spcPct val="150000"/>
              </a:lnSpc>
            </a:pPr>
            <a:r>
              <a:rPr lang="en-US" sz="1100" dirty="0">
                <a:solidFill>
                  <a:schemeClr val="bg1"/>
                </a:solidFill>
                <a:latin typeface="Inter" panose="02000503000000020004" pitchFamily="2" charset="0"/>
                <a:ea typeface="Inter" panose="02000503000000020004" pitchFamily="2" charset="0"/>
              </a:rPr>
              <a:t>How </a:t>
            </a:r>
            <a:r>
              <a:rPr lang="en-US" sz="1100" b="1" dirty="0">
                <a:solidFill>
                  <a:srgbClr val="FFC000"/>
                </a:solidFill>
                <a:latin typeface="Inter" panose="02000503000000020004" pitchFamily="2" charset="0"/>
                <a:ea typeface="Inter" panose="02000503000000020004" pitchFamily="2" charset="0"/>
              </a:rPr>
              <a:t>capture</a:t>
            </a:r>
            <a:r>
              <a:rPr lang="en-US" sz="1100" dirty="0">
                <a:solidFill>
                  <a:schemeClr val="bg1"/>
                </a:solidFill>
                <a:latin typeface="Inter" panose="02000503000000020004" pitchFamily="2" charset="0"/>
                <a:ea typeface="Inter" panose="02000503000000020004" pitchFamily="2" charset="0"/>
              </a:rPr>
              <a:t> and </a:t>
            </a:r>
            <a:r>
              <a:rPr lang="en-US" sz="1100" b="1" dirty="0">
                <a:solidFill>
                  <a:srgbClr val="FFC000"/>
                </a:solidFill>
                <a:latin typeface="Inter" panose="02000503000000020004" pitchFamily="2" charset="0"/>
                <a:ea typeface="Inter" panose="02000503000000020004" pitchFamily="2" charset="0"/>
              </a:rPr>
              <a:t>baseload</a:t>
            </a:r>
            <a:r>
              <a:rPr lang="en-US" sz="1100" dirty="0">
                <a:solidFill>
                  <a:schemeClr val="bg1"/>
                </a:solidFill>
                <a:latin typeface="Inter" panose="02000503000000020004" pitchFamily="2" charset="0"/>
                <a:ea typeface="Inter" panose="02000503000000020004" pitchFamily="2" charset="0"/>
              </a:rPr>
              <a:t> prices </a:t>
            </a:r>
            <a:r>
              <a:rPr lang="en-US" sz="1100" b="1" dirty="0">
                <a:solidFill>
                  <a:srgbClr val="FFC000"/>
                </a:solidFill>
                <a:latin typeface="Inter" panose="02000503000000020004" pitchFamily="2" charset="0"/>
                <a:ea typeface="Inter" panose="02000503000000020004" pitchFamily="2" charset="0"/>
              </a:rPr>
              <a:t>diverge</a:t>
            </a:r>
            <a:r>
              <a:rPr lang="en-US" sz="1100" dirty="0">
                <a:solidFill>
                  <a:schemeClr val="bg1"/>
                </a:solidFill>
                <a:latin typeface="Inter" panose="02000503000000020004" pitchFamily="2" charset="0"/>
                <a:ea typeface="Inter" panose="02000503000000020004" pitchFamily="2" charset="0"/>
              </a:rPr>
              <a:t> across both countries, and what this means for </a:t>
            </a:r>
            <a:r>
              <a:rPr lang="en-US" sz="1100" b="1" dirty="0">
                <a:solidFill>
                  <a:srgbClr val="FFC000"/>
                </a:solidFill>
                <a:latin typeface="Inter" panose="02000503000000020004" pitchFamily="2" charset="0"/>
                <a:ea typeface="Inter" panose="02000503000000020004" pitchFamily="2" charset="0"/>
              </a:rPr>
              <a:t>strategic</a:t>
            </a:r>
            <a:r>
              <a:rPr lang="en-US" sz="1100" dirty="0">
                <a:solidFill>
                  <a:schemeClr val="bg1"/>
                </a:solidFill>
                <a:latin typeface="Inter" panose="02000503000000020004" pitchFamily="2" charset="0"/>
                <a:ea typeface="Inter" panose="02000503000000020004" pitchFamily="2" charset="0"/>
              </a:rPr>
              <a:t> investment decisions.</a:t>
            </a:r>
          </a:p>
          <a:p>
            <a:pPr>
              <a:lnSpc>
                <a:spcPct val="150000"/>
              </a:lnSpc>
            </a:pPr>
            <a:endParaRPr lang="en-US" sz="1200" dirty="0">
              <a:solidFill>
                <a:schemeClr val="bg1"/>
              </a:solidFill>
              <a:latin typeface="Inter" panose="02000503000000020004" pitchFamily="2" charset="0"/>
              <a:ea typeface="Inter" panose="02000503000000020004" pitchFamily="2" charset="0"/>
            </a:endParaRPr>
          </a:p>
        </p:txBody>
      </p:sp>
      <p:sp>
        <p:nvSpPr>
          <p:cNvPr id="90" name="Rectangle: Diagonal Corners Rounded 89">
            <a:extLst>
              <a:ext uri="{FF2B5EF4-FFF2-40B4-BE49-F238E27FC236}">
                <a16:creationId xmlns:a16="http://schemas.microsoft.com/office/drawing/2014/main" id="{732277B0-F72C-02CD-BBB7-9233DB3CD256}"/>
              </a:ext>
            </a:extLst>
          </p:cNvPr>
          <p:cNvSpPr/>
          <p:nvPr/>
        </p:nvSpPr>
        <p:spPr>
          <a:xfrm>
            <a:off x="9082003" y="1023003"/>
            <a:ext cx="2592288" cy="2106000"/>
          </a:xfrm>
          <a:prstGeom prst="round2DiagRect">
            <a:avLst/>
          </a:prstGeom>
          <a:solidFill>
            <a:srgbClr val="2F3D58"/>
          </a:solidFill>
          <a:ln w="76200">
            <a:solidFill>
              <a:srgbClr val="2F3D58">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en-US" sz="1200" b="1" cap="all" dirty="0">
              <a:solidFill>
                <a:schemeClr val="bg1"/>
              </a:solidFill>
              <a:latin typeface="Inter" panose="02000503000000020004" pitchFamily="2" charset="0"/>
              <a:ea typeface="Inter" panose="02000503000000020004" pitchFamily="2" charset="0"/>
            </a:endParaRPr>
          </a:p>
          <a:p>
            <a:pPr algn="ctr">
              <a:lnSpc>
                <a:spcPct val="150000"/>
              </a:lnSpc>
            </a:pPr>
            <a:r>
              <a:rPr lang="en-US" sz="1200" b="1" dirty="0">
                <a:solidFill>
                  <a:srgbClr val="D69196"/>
                </a:solidFill>
                <a:latin typeface="Inter" panose="02000503000000020004" pitchFamily="2" charset="0"/>
                <a:ea typeface="Inter" panose="02000503000000020004" pitchFamily="2" charset="0"/>
              </a:rPr>
              <a:t>The Critical Question</a:t>
            </a:r>
          </a:p>
          <a:p>
            <a:pPr>
              <a:lnSpc>
                <a:spcPct val="150000"/>
              </a:lnSpc>
            </a:pPr>
            <a:r>
              <a:rPr lang="en-GB" sz="1100" i="1" dirty="0">
                <a:solidFill>
                  <a:schemeClr val="bg1"/>
                </a:solidFill>
                <a:latin typeface="Inter Light" panose="02000503000000020004" pitchFamily="2" charset="0"/>
                <a:ea typeface="Inter Light" panose="02000503000000020004" pitchFamily="2" charset="0"/>
              </a:rPr>
              <a:t>Imagine Standing at 2050, looking back Britain and Germany will have invested</a:t>
            </a:r>
            <a:r>
              <a:rPr lang="en-GB" sz="1100" b="1" i="1" dirty="0">
                <a:solidFill>
                  <a:schemeClr val="bg1"/>
                </a:solidFill>
                <a:latin typeface="Inter Light" panose="02000503000000020004" pitchFamily="2" charset="0"/>
                <a:ea typeface="Inter Light" panose="02000503000000020004" pitchFamily="2" charset="0"/>
              </a:rPr>
              <a:t> </a:t>
            </a:r>
            <a:r>
              <a:rPr lang="en-GB" sz="1100" b="1" i="1" dirty="0">
                <a:solidFill>
                  <a:srgbClr val="FFC000"/>
                </a:solidFill>
                <a:latin typeface="Inter Light" panose="02000503000000020004" pitchFamily="2" charset="0"/>
                <a:ea typeface="Inter Light" panose="02000503000000020004" pitchFamily="2" charset="0"/>
              </a:rPr>
              <a:t>trillions</a:t>
            </a:r>
            <a:r>
              <a:rPr lang="en-GB" sz="1100" b="1" i="1" dirty="0">
                <a:solidFill>
                  <a:schemeClr val="bg1"/>
                </a:solidFill>
                <a:latin typeface="Inter Light" panose="02000503000000020004" pitchFamily="2" charset="0"/>
                <a:ea typeface="Inter Light" panose="02000503000000020004" pitchFamily="2" charset="0"/>
              </a:rPr>
              <a:t> </a:t>
            </a:r>
            <a:r>
              <a:rPr lang="en-GB" sz="1100" i="1" dirty="0">
                <a:solidFill>
                  <a:schemeClr val="bg1"/>
                </a:solidFill>
                <a:latin typeface="Inter Light" panose="02000503000000020004" pitchFamily="2" charset="0"/>
                <a:ea typeface="Inter Light" panose="02000503000000020004" pitchFamily="2" charset="0"/>
              </a:rPr>
              <a:t>in renewables, yet the question remains did those investments deliver value at the right time?</a:t>
            </a:r>
          </a:p>
          <a:p>
            <a:pPr algn="ctr">
              <a:lnSpc>
                <a:spcPct val="150000"/>
              </a:lnSpc>
            </a:pPr>
            <a:endParaRPr lang="en-US" sz="1200" dirty="0">
              <a:solidFill>
                <a:schemeClr val="bg1"/>
              </a:solidFill>
              <a:latin typeface="Inter" panose="02000503000000020004" pitchFamily="2" charset="0"/>
              <a:ea typeface="Inter" panose="02000503000000020004" pitchFamily="2" charset="0"/>
            </a:endParaRPr>
          </a:p>
        </p:txBody>
      </p:sp>
      <p:sp>
        <p:nvSpPr>
          <p:cNvPr id="92" name="Rectangle: Diagonal Corners Rounded 91">
            <a:extLst>
              <a:ext uri="{FF2B5EF4-FFF2-40B4-BE49-F238E27FC236}">
                <a16:creationId xmlns:a16="http://schemas.microsoft.com/office/drawing/2014/main" id="{5CFBB67B-68AE-D510-3683-6381D9169BD4}"/>
              </a:ext>
            </a:extLst>
          </p:cNvPr>
          <p:cNvSpPr/>
          <p:nvPr/>
        </p:nvSpPr>
        <p:spPr>
          <a:xfrm>
            <a:off x="9082003" y="5579630"/>
            <a:ext cx="2592288" cy="946147"/>
          </a:xfrm>
          <a:prstGeom prst="round2DiagRect">
            <a:avLst/>
          </a:prstGeom>
          <a:solidFill>
            <a:srgbClr val="16586B"/>
          </a:solidFill>
          <a:ln w="76200">
            <a:solidFill>
              <a:srgbClr val="16586B">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200" b="1" dirty="0">
                <a:solidFill>
                  <a:srgbClr val="FFC000"/>
                </a:solidFill>
                <a:latin typeface="Inter" panose="02000503000000020004" pitchFamily="2" charset="0"/>
                <a:ea typeface="Inter" panose="02000503000000020004" pitchFamily="2" charset="0"/>
              </a:rPr>
              <a:t>Our Outcome</a:t>
            </a:r>
          </a:p>
          <a:p>
            <a:pPr algn="ctr">
              <a:lnSpc>
                <a:spcPct val="150000"/>
              </a:lnSpc>
            </a:pPr>
            <a:r>
              <a:rPr lang="en-US" sz="1100" dirty="0">
                <a:latin typeface="Inter" panose="02000503000000020004" pitchFamily="2" charset="0"/>
                <a:ea typeface="Inter" panose="02000503000000020004" pitchFamily="2" charset="0"/>
              </a:rPr>
              <a:t>Know which technology wins and what decisions to make today.</a:t>
            </a:r>
          </a:p>
        </p:txBody>
      </p:sp>
      <p:pic>
        <p:nvPicPr>
          <p:cNvPr id="94" name="Picture 93">
            <a:extLst>
              <a:ext uri="{FF2B5EF4-FFF2-40B4-BE49-F238E27FC236}">
                <a16:creationId xmlns:a16="http://schemas.microsoft.com/office/drawing/2014/main" id="{0941AD63-F508-030D-6F4C-8AB8E5939325}"/>
              </a:ext>
            </a:extLst>
          </p:cNvPr>
          <p:cNvPicPr>
            <a:picLocks noChangeAspect="1"/>
          </p:cNvPicPr>
          <p:nvPr/>
        </p:nvPicPr>
        <p:blipFill rotWithShape="1">
          <a:blip r:embed="rId5">
            <a:extLst>
              <a:ext uri="{28A0092B-C50C-407E-A947-70E740481C1C}">
                <a14:useLocalDpi xmlns:a14="http://schemas.microsoft.com/office/drawing/2010/main" val="0"/>
              </a:ext>
            </a:extLst>
          </a:blip>
          <a:srcRect l="14830" r="14830"/>
          <a:stretch>
            <a:fillRect/>
          </a:stretch>
        </p:blipFill>
        <p:spPr>
          <a:xfrm>
            <a:off x="6992252" y="3198682"/>
            <a:ext cx="787908" cy="787908"/>
          </a:xfrm>
          <a:prstGeom prst="ellipse">
            <a:avLst/>
          </a:prstGeom>
        </p:spPr>
      </p:pic>
    </p:spTree>
    <p:extLst>
      <p:ext uri="{BB962C8B-B14F-4D97-AF65-F5344CB8AC3E}">
        <p14:creationId xmlns:p14="http://schemas.microsoft.com/office/powerpoint/2010/main" val="2389892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path" presetSubtype="0" accel="50000" decel="50000" fill="hold" nodeType="withEffect">
                                  <p:stCondLst>
                                    <p:cond delay="0"/>
                                  </p:stCondLst>
                                  <p:childTnLst>
                                    <p:animMotion origin="layout" path="M -2.91667E-6 -0.00023 C 0.00365 0.00046 0.00222 -0.0007 0.01328 -0.01273 C 0.02422 -0.02477 0.04011 -0.04745 0.06628 -0.07199 C 0.11459 -0.12361 0.14545 -0.13796 0.18021 -0.1412 C 0.21485 -0.14445 0.25013 -0.1162 0.27435 -0.09144 C 0.29844 -0.06667 0.32058 -0.04421 0.33242 -0.02894 C 0.34427 -0.01366 0.34193 0.00116 0.34532 -0.00023 " pathEditMode="relative" rAng="0" ptsTypes="AAAAAAA">
                                      <p:cBhvr>
                                        <p:cTn id="6" dur="3000" fill="hold"/>
                                        <p:tgtEl>
                                          <p:spTgt spid="82"/>
                                        </p:tgtEl>
                                        <p:attrNameLst>
                                          <p:attrName>ppt_x</p:attrName>
                                          <p:attrName>ppt_y</p:attrName>
                                        </p:attrNameLst>
                                      </p:cBhvr>
                                      <p:rCtr x="17266" y="-7060"/>
                                    </p:animMotion>
                                  </p:childTnLst>
                                </p:cTn>
                              </p:par>
                            </p:childTnLst>
                          </p:cTn>
                        </p:par>
                        <p:par>
                          <p:cTn id="7" fill="hold">
                            <p:stCondLst>
                              <p:cond delay="3000"/>
                            </p:stCondLst>
                            <p:childTnLst>
                              <p:par>
                                <p:cTn id="8" presetID="6" presetClass="emph" presetSubtype="0" repeatCount="2000" decel="25000" fill="hold" nodeType="afterEffect">
                                  <p:stCondLst>
                                    <p:cond delay="0"/>
                                  </p:stCondLst>
                                  <p:childTnLst>
                                    <p:animScale>
                                      <p:cBhvr>
                                        <p:cTn id="9" dur="1000" fill="hold"/>
                                        <p:tgtEl>
                                          <p:spTgt spid="88"/>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2F4C"/>
        </a:solidFill>
        <a:effectLst/>
      </p:bgPr>
    </p:bg>
    <p:spTree>
      <p:nvGrpSpPr>
        <p:cNvPr id="1" name="">
          <a:extLst>
            <a:ext uri="{FF2B5EF4-FFF2-40B4-BE49-F238E27FC236}">
              <a16:creationId xmlns:a16="http://schemas.microsoft.com/office/drawing/2014/main" id="{06726130-2DDA-5FED-AFCA-B16E962822AF}"/>
            </a:ext>
          </a:extLst>
        </p:cNvPr>
        <p:cNvGrpSpPr/>
        <p:nvPr/>
      </p:nvGrpSpPr>
      <p:grpSpPr>
        <a:xfrm>
          <a:off x="0" y="0"/>
          <a:ext cx="0" cy="0"/>
          <a:chOff x="0" y="0"/>
          <a:chExt cx="0" cy="0"/>
        </a:xfrm>
      </p:grpSpPr>
      <p:sp>
        <p:nvSpPr>
          <p:cNvPr id="53" name="Title 1">
            <a:extLst>
              <a:ext uri="{FF2B5EF4-FFF2-40B4-BE49-F238E27FC236}">
                <a16:creationId xmlns:a16="http://schemas.microsoft.com/office/drawing/2014/main" id="{4AECA870-5F99-58FF-AEAE-47834D542EAB}"/>
              </a:ext>
            </a:extLst>
          </p:cNvPr>
          <p:cNvSpPr>
            <a:spLocks noGrp="1"/>
          </p:cNvSpPr>
          <p:nvPr>
            <p:ph type="title"/>
          </p:nvPr>
        </p:nvSpPr>
        <p:spPr>
          <a:xfrm>
            <a:off x="432623" y="169165"/>
            <a:ext cx="3143097" cy="891093"/>
          </a:xfrm>
        </p:spPr>
        <p:txBody>
          <a:bodyPr>
            <a:normAutofit fontScale="90000"/>
          </a:bodyPr>
          <a:lstStyle/>
          <a:p>
            <a:pPr algn="ctr">
              <a:lnSpc>
                <a:spcPct val="150000"/>
              </a:lnSpc>
            </a:pPr>
            <a:r>
              <a:rPr lang="en-GB" sz="2200" b="1" dirty="0">
                <a:solidFill>
                  <a:schemeClr val="bg1"/>
                </a:solidFill>
                <a:latin typeface="Inter ExtraBold" panose="02000503000000020004" pitchFamily="2" charset="0"/>
                <a:ea typeface="Inter ExtraBold" panose="02000503000000020004" pitchFamily="2" charset="0"/>
              </a:rPr>
              <a:t>Executive Summary</a:t>
            </a:r>
            <a:br>
              <a:rPr lang="en-GB" sz="3200" b="1" dirty="0">
                <a:solidFill>
                  <a:schemeClr val="bg1"/>
                </a:solidFill>
                <a:latin typeface="Inter ExtraBold" panose="02000503000000020004" pitchFamily="2" charset="0"/>
                <a:ea typeface="Inter ExtraBold" panose="02000503000000020004" pitchFamily="2" charset="0"/>
              </a:rPr>
            </a:br>
            <a:r>
              <a:rPr lang="en-US" sz="1200" i="1" dirty="0">
                <a:solidFill>
                  <a:schemeClr val="bg2"/>
                </a:solidFill>
                <a:latin typeface="Inter" panose="02000503000000020004" pitchFamily="2" charset="0"/>
                <a:ea typeface="Inter" panose="02000503000000020004" pitchFamily="2" charset="0"/>
              </a:rPr>
              <a:t>Comparing GB and DE Market Outlooks (2022Q3 vs 2023Q1)</a:t>
            </a:r>
            <a:endParaRPr lang="en-US" sz="1200" b="1" dirty="0">
              <a:solidFill>
                <a:schemeClr val="bg2"/>
              </a:solidFill>
              <a:latin typeface="Inter" panose="02000503000000020004" pitchFamily="2" charset="0"/>
              <a:ea typeface="Inter" panose="02000503000000020004" pitchFamily="2" charset="0"/>
            </a:endParaRPr>
          </a:p>
        </p:txBody>
      </p:sp>
      <p:sp>
        <p:nvSpPr>
          <p:cNvPr id="2" name="Title 1">
            <a:extLst>
              <a:ext uri="{FF2B5EF4-FFF2-40B4-BE49-F238E27FC236}">
                <a16:creationId xmlns:a16="http://schemas.microsoft.com/office/drawing/2014/main" id="{66AD67F0-3481-0A05-43A2-4E2962AC1BBD}"/>
              </a:ext>
            </a:extLst>
          </p:cNvPr>
          <p:cNvSpPr txBox="1">
            <a:spLocks/>
          </p:cNvSpPr>
          <p:nvPr/>
        </p:nvSpPr>
        <p:spPr>
          <a:xfrm>
            <a:off x="4295800" y="194831"/>
            <a:ext cx="7632848" cy="12161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70000"/>
              </a:lnSpc>
            </a:pPr>
            <a:r>
              <a:rPr lang="en-GB" sz="1600" b="1" dirty="0">
                <a:solidFill>
                  <a:srgbClr val="FFC000"/>
                </a:solidFill>
                <a:latin typeface="Inter ExtraBold" panose="02000503000000020004" pitchFamily="2" charset="0"/>
                <a:ea typeface="Inter ExtraBold" panose="02000503000000020004" pitchFamily="2" charset="0"/>
              </a:rPr>
              <a:t>Germany’s Onshore Wind Shows Strong Long-term Price Stability While </a:t>
            </a:r>
            <a:r>
              <a:rPr lang="en-GB" sz="1600" b="1" dirty="0" err="1">
                <a:solidFill>
                  <a:srgbClr val="FFC000"/>
                </a:solidFill>
                <a:latin typeface="Inter ExtraBold" panose="02000503000000020004" pitchFamily="2" charset="0"/>
                <a:ea typeface="Inter ExtraBold" panose="02000503000000020004" pitchFamily="2" charset="0"/>
              </a:rPr>
              <a:t>Britains’s</a:t>
            </a:r>
            <a:r>
              <a:rPr lang="en-GB" sz="1600" b="1" dirty="0">
                <a:solidFill>
                  <a:srgbClr val="FFC000"/>
                </a:solidFill>
                <a:latin typeface="Inter ExtraBold" panose="02000503000000020004" pitchFamily="2" charset="0"/>
                <a:ea typeface="Inter ExtraBold" panose="02000503000000020004" pitchFamily="2" charset="0"/>
              </a:rPr>
              <a:t> Solar PV Offers Higher Growth But Greater Volatility</a:t>
            </a:r>
            <a:endParaRPr lang="en-US" sz="1600" b="1" dirty="0">
              <a:solidFill>
                <a:srgbClr val="FFC000"/>
              </a:solidFill>
              <a:latin typeface="Inter" panose="02000503000000020004" pitchFamily="2" charset="0"/>
              <a:ea typeface="Inter" panose="02000503000000020004" pitchFamily="2" charset="0"/>
            </a:endParaRPr>
          </a:p>
        </p:txBody>
      </p:sp>
      <p:sp>
        <p:nvSpPr>
          <p:cNvPr id="164" name="Rectangle: Rounded Corners 163">
            <a:extLst>
              <a:ext uri="{FF2B5EF4-FFF2-40B4-BE49-F238E27FC236}">
                <a16:creationId xmlns:a16="http://schemas.microsoft.com/office/drawing/2014/main" id="{0CE3B8BC-3A84-6709-F072-F8EA356B7BAD}"/>
              </a:ext>
            </a:extLst>
          </p:cNvPr>
          <p:cNvSpPr/>
          <p:nvPr/>
        </p:nvSpPr>
        <p:spPr>
          <a:xfrm>
            <a:off x="479376" y="4211372"/>
            <a:ext cx="3960440" cy="2304256"/>
          </a:xfrm>
          <a:prstGeom prst="roundRect">
            <a:avLst>
              <a:gd name="adj" fmla="val 840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GB" sz="14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4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4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400" b="1" dirty="0">
              <a:solidFill>
                <a:schemeClr val="bg1"/>
              </a:solidFill>
              <a:latin typeface="Inter" panose="02000503000000020004" pitchFamily="2" charset="0"/>
              <a:ea typeface="Inter" panose="02000503000000020004" pitchFamily="2" charset="0"/>
            </a:endParaRPr>
          </a:p>
          <a:p>
            <a:pPr algn="ctr">
              <a:lnSpc>
                <a:spcPct val="150000"/>
              </a:lnSpc>
            </a:pPr>
            <a:endParaRPr lang="en-US" dirty="0"/>
          </a:p>
          <a:p>
            <a:pPr algn="ctr">
              <a:lnSpc>
                <a:spcPct val="150000"/>
              </a:lnSpc>
            </a:pPr>
            <a:r>
              <a:rPr lang="en-US" dirty="0"/>
              <a:t>📈  </a:t>
            </a:r>
            <a:r>
              <a:rPr lang="en-GB" sz="1400" b="1" dirty="0">
                <a:solidFill>
                  <a:schemeClr val="bg2"/>
                </a:solidFill>
                <a:latin typeface="Inter" panose="02000503000000020004" pitchFamily="2" charset="0"/>
                <a:ea typeface="Inter" panose="02000503000000020004" pitchFamily="2" charset="0"/>
              </a:rPr>
              <a:t>2022-2023 Pattern</a:t>
            </a:r>
          </a:p>
          <a:p>
            <a:pPr>
              <a:lnSpc>
                <a:spcPct val="150000"/>
              </a:lnSpc>
            </a:pPr>
            <a:r>
              <a:rPr lang="en-US" sz="1200" b="1" dirty="0">
                <a:solidFill>
                  <a:srgbClr val="7F46EA"/>
                </a:solidFill>
                <a:latin typeface="Inter" panose="02000503000000020004" pitchFamily="2" charset="0"/>
                <a:ea typeface="Inter" panose="02000503000000020004" pitchFamily="2" charset="0"/>
              </a:rPr>
              <a:t>2022 Q3:</a:t>
            </a:r>
            <a:r>
              <a:rPr lang="en-US" sz="1200" dirty="0">
                <a:solidFill>
                  <a:srgbClr val="7F46EA"/>
                </a:solidFill>
                <a:latin typeface="Inter" panose="02000503000000020004" pitchFamily="2" charset="0"/>
                <a:ea typeface="Inter" panose="02000503000000020004" pitchFamily="2" charset="0"/>
              </a:rPr>
              <a:t> </a:t>
            </a:r>
            <a:r>
              <a:rPr lang="en-US" sz="1200" dirty="0">
                <a:latin typeface="Inter" panose="02000503000000020004" pitchFamily="2" charset="0"/>
                <a:ea typeface="Inter" panose="02000503000000020004" pitchFamily="2" charset="0"/>
              </a:rPr>
              <a:t>DE started +44% higher than GB, then converged</a:t>
            </a:r>
          </a:p>
          <a:p>
            <a:pPr>
              <a:lnSpc>
                <a:spcPct val="150000"/>
              </a:lnSpc>
            </a:pPr>
            <a:endParaRPr lang="en-US" sz="1200" dirty="0">
              <a:latin typeface="Inter" panose="02000503000000020004" pitchFamily="2" charset="0"/>
              <a:ea typeface="Inter" panose="02000503000000020004" pitchFamily="2" charset="0"/>
            </a:endParaRPr>
          </a:p>
          <a:p>
            <a:pPr>
              <a:lnSpc>
                <a:spcPct val="150000"/>
              </a:lnSpc>
            </a:pPr>
            <a:r>
              <a:rPr lang="en-US" sz="1200" b="1" dirty="0">
                <a:solidFill>
                  <a:srgbClr val="09A472"/>
                </a:solidFill>
                <a:latin typeface="Inter" panose="02000503000000020004" pitchFamily="2" charset="0"/>
                <a:ea typeface="Inter" panose="02000503000000020004" pitchFamily="2" charset="0"/>
              </a:rPr>
              <a:t>2023 Q1:</a:t>
            </a:r>
            <a:r>
              <a:rPr lang="en-US" sz="1200" dirty="0">
                <a:solidFill>
                  <a:srgbClr val="09A472"/>
                </a:solidFill>
                <a:latin typeface="Inter" panose="02000503000000020004" pitchFamily="2" charset="0"/>
                <a:ea typeface="Inter" panose="02000503000000020004" pitchFamily="2" charset="0"/>
              </a:rPr>
              <a:t> </a:t>
            </a:r>
            <a:r>
              <a:rPr lang="en-US" sz="1200" dirty="0">
                <a:latin typeface="Inter" panose="02000503000000020004" pitchFamily="2" charset="0"/>
                <a:ea typeface="Inter" panose="02000503000000020004" pitchFamily="2" charset="0"/>
              </a:rPr>
              <a:t>GB started +124% higher than DE, declined together</a:t>
            </a:r>
          </a:p>
          <a:p>
            <a:endParaRPr lang="en-US" dirty="0"/>
          </a:p>
          <a:p>
            <a:br>
              <a:rPr lang="en-US" dirty="0"/>
            </a:br>
            <a:endParaRPr lang="en-GB" sz="14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4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4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4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400" dirty="0">
              <a:latin typeface="Inter" panose="02000503000000020004" pitchFamily="2" charset="0"/>
              <a:ea typeface="Inter" panose="02000503000000020004" pitchFamily="2" charset="0"/>
            </a:endParaRPr>
          </a:p>
        </p:txBody>
      </p:sp>
      <p:grpSp>
        <p:nvGrpSpPr>
          <p:cNvPr id="181" name="Group 180">
            <a:extLst>
              <a:ext uri="{FF2B5EF4-FFF2-40B4-BE49-F238E27FC236}">
                <a16:creationId xmlns:a16="http://schemas.microsoft.com/office/drawing/2014/main" id="{1168690D-003E-AC9A-3559-68B96AFBEA56}"/>
              </a:ext>
            </a:extLst>
          </p:cNvPr>
          <p:cNvGrpSpPr/>
          <p:nvPr/>
        </p:nvGrpSpPr>
        <p:grpSpPr>
          <a:xfrm>
            <a:off x="4668138" y="4221088"/>
            <a:ext cx="3960440" cy="2304256"/>
            <a:chOff x="4740146" y="3791234"/>
            <a:chExt cx="3960440" cy="2304256"/>
          </a:xfrm>
        </p:grpSpPr>
        <p:sp>
          <p:nvSpPr>
            <p:cNvPr id="165" name="Rectangle: Rounded Corners 164">
              <a:extLst>
                <a:ext uri="{FF2B5EF4-FFF2-40B4-BE49-F238E27FC236}">
                  <a16:creationId xmlns:a16="http://schemas.microsoft.com/office/drawing/2014/main" id="{16A9816D-7ED1-F521-491A-12A2313D5D53}"/>
                </a:ext>
              </a:extLst>
            </p:cNvPr>
            <p:cNvSpPr/>
            <p:nvPr/>
          </p:nvSpPr>
          <p:spPr>
            <a:xfrm>
              <a:off x="4740146" y="3791234"/>
              <a:ext cx="3960440" cy="2304256"/>
            </a:xfrm>
            <a:prstGeom prst="roundRect">
              <a:avLst>
                <a:gd name="adj" fmla="val 840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GB" sz="12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2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2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2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200" b="1" dirty="0">
                <a:solidFill>
                  <a:srgbClr val="FFC000"/>
                </a:solidFill>
                <a:latin typeface="Inter" panose="02000503000000020004" pitchFamily="2" charset="0"/>
                <a:ea typeface="Inter" panose="02000503000000020004" pitchFamily="2" charset="0"/>
              </a:endParaRPr>
            </a:p>
            <a:p>
              <a:pPr algn="ctr">
                <a:lnSpc>
                  <a:spcPct val="150000"/>
                </a:lnSpc>
              </a:pPr>
              <a:r>
                <a:rPr lang="en-GB" sz="1400" b="1" dirty="0">
                  <a:solidFill>
                    <a:schemeClr val="bg2"/>
                  </a:solidFill>
                  <a:latin typeface="Inter" panose="02000503000000020004" pitchFamily="2" charset="0"/>
                  <a:ea typeface="Inter" panose="02000503000000020004" pitchFamily="2" charset="0"/>
                </a:rPr>
                <a:t>Price Generation Mix</a:t>
              </a:r>
            </a:p>
            <a:p>
              <a:pPr>
                <a:lnSpc>
                  <a:spcPct val="150000"/>
                </a:lnSpc>
              </a:pPr>
              <a:r>
                <a:rPr lang="en-US" sz="1200" dirty="0">
                  <a:latin typeface="Inter" panose="02000503000000020004" pitchFamily="2" charset="0"/>
                  <a:ea typeface="Inter" panose="02000503000000020004" pitchFamily="2" charset="0"/>
                </a:rPr>
                <a:t>Strong negative correlation: more generation = lower prices</a:t>
              </a:r>
            </a:p>
            <a:p>
              <a:pPr algn="ctr">
                <a:lnSpc>
                  <a:spcPct val="150000"/>
                </a:lnSpc>
              </a:pPr>
              <a:r>
                <a:rPr lang="en-US" sz="1400" b="1" dirty="0">
                  <a:latin typeface="Inter" panose="02000503000000020004" pitchFamily="2" charset="0"/>
                  <a:ea typeface="Inter" panose="02000503000000020004" pitchFamily="2" charset="0"/>
                </a:rPr>
                <a:t>-0.70                   </a:t>
              </a:r>
              <a:r>
                <a:rPr lang="en-US" sz="1400" dirty="0">
                  <a:latin typeface="Inter" panose="02000503000000020004" pitchFamily="2" charset="0"/>
                  <a:ea typeface="Inter" panose="02000503000000020004" pitchFamily="2" charset="0"/>
                </a:rPr>
                <a:t>→                </a:t>
              </a:r>
              <a:r>
                <a:rPr lang="en-US" sz="1400" b="1" dirty="0">
                  <a:latin typeface="Inter" panose="02000503000000020004" pitchFamily="2" charset="0"/>
                  <a:ea typeface="Inter" panose="02000503000000020004" pitchFamily="2" charset="0"/>
                </a:rPr>
                <a:t>-0.82</a:t>
              </a:r>
            </a:p>
            <a:p>
              <a:pPr algn="ctr">
                <a:lnSpc>
                  <a:spcPct val="150000"/>
                </a:lnSpc>
              </a:pPr>
              <a:r>
                <a:rPr lang="en-US" sz="1200" dirty="0">
                  <a:latin typeface="Inter" panose="02000503000000020004" pitchFamily="2" charset="0"/>
                  <a:ea typeface="Inter" panose="02000503000000020004" pitchFamily="2" charset="0"/>
                </a:rPr>
                <a:t>Wind Q3                                       Wind Q1</a:t>
              </a:r>
            </a:p>
            <a:p>
              <a:pPr algn="ctr">
                <a:lnSpc>
                  <a:spcPct val="150000"/>
                </a:lnSpc>
              </a:pPr>
              <a:r>
                <a:rPr lang="en-US" sz="1400" b="1" dirty="0">
                  <a:latin typeface="Inter" panose="02000503000000020004" pitchFamily="2" charset="0"/>
                  <a:ea typeface="Inter" panose="02000503000000020004" pitchFamily="2" charset="0"/>
                </a:rPr>
                <a:t>-0.89</a:t>
              </a:r>
            </a:p>
            <a:p>
              <a:pPr algn="ctr">
                <a:lnSpc>
                  <a:spcPct val="150000"/>
                </a:lnSpc>
              </a:pPr>
              <a:r>
                <a:rPr lang="en-US" sz="1200" dirty="0">
                  <a:latin typeface="Inter" panose="02000503000000020004" pitchFamily="2" charset="0"/>
                  <a:ea typeface="Inter" panose="02000503000000020004" pitchFamily="2" charset="0"/>
                </a:rPr>
                <a:t>Solar (Both)</a:t>
              </a:r>
            </a:p>
            <a:p>
              <a:br>
                <a:rPr lang="en-US" sz="1200" dirty="0">
                  <a:latin typeface="Inter" panose="02000503000000020004" pitchFamily="2" charset="0"/>
                  <a:ea typeface="Inter" panose="02000503000000020004" pitchFamily="2" charset="0"/>
                </a:rPr>
              </a:br>
              <a:endParaRPr lang="en-GB" sz="12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2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2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2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200" dirty="0">
                <a:latin typeface="Inter" panose="02000503000000020004" pitchFamily="2" charset="0"/>
                <a:ea typeface="Inter" panose="02000503000000020004" pitchFamily="2" charset="0"/>
              </a:endParaRPr>
            </a:p>
          </p:txBody>
        </p:sp>
        <p:pic>
          <p:nvPicPr>
            <p:cNvPr id="166" name="Graphic 165" descr="Single gear">
              <a:extLst>
                <a:ext uri="{FF2B5EF4-FFF2-40B4-BE49-F238E27FC236}">
                  <a16:creationId xmlns:a16="http://schemas.microsoft.com/office/drawing/2014/main" id="{4A4265B4-96CC-CD96-3958-3BB19A51D3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47960" y="3933096"/>
              <a:ext cx="288000" cy="288000"/>
            </a:xfrm>
            <a:prstGeom prst="rect">
              <a:avLst/>
            </a:prstGeom>
          </p:spPr>
        </p:pic>
      </p:grpSp>
      <p:sp>
        <p:nvSpPr>
          <p:cNvPr id="167" name="Rectangle: Diagonal Corners Rounded 166">
            <a:extLst>
              <a:ext uri="{FF2B5EF4-FFF2-40B4-BE49-F238E27FC236}">
                <a16:creationId xmlns:a16="http://schemas.microsoft.com/office/drawing/2014/main" id="{928A2079-EB27-19D4-0311-72ECFF759092}"/>
              </a:ext>
            </a:extLst>
          </p:cNvPr>
          <p:cNvSpPr/>
          <p:nvPr/>
        </p:nvSpPr>
        <p:spPr>
          <a:xfrm>
            <a:off x="8976320" y="4211372"/>
            <a:ext cx="2808312" cy="2313972"/>
          </a:xfrm>
          <a:prstGeom prst="round2DiagRect">
            <a:avLst/>
          </a:prstGeom>
          <a:solidFill>
            <a:srgbClr val="2F3D58"/>
          </a:solidFill>
          <a:ln w="76200">
            <a:solidFill>
              <a:srgbClr val="2F3D58">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200" b="1" i="0" cap="all" dirty="0">
                <a:solidFill>
                  <a:srgbClr val="FCA5A5"/>
                </a:solidFill>
                <a:effectLst/>
                <a:latin typeface="Inter" panose="02000503000000020004" pitchFamily="2" charset="0"/>
                <a:ea typeface="Inter" panose="02000503000000020004" pitchFamily="2" charset="0"/>
              </a:rPr>
              <a:t>⚠️ </a:t>
            </a:r>
            <a:r>
              <a:rPr lang="en-US" sz="1200" b="1" i="0" dirty="0">
                <a:solidFill>
                  <a:srgbClr val="FCA5A5"/>
                </a:solidFill>
                <a:effectLst/>
                <a:latin typeface="Inter" panose="02000503000000020004" pitchFamily="2" charset="0"/>
                <a:ea typeface="Inter" panose="02000503000000020004" pitchFamily="2" charset="0"/>
              </a:rPr>
              <a:t>Critical Strategic Insight</a:t>
            </a:r>
          </a:p>
          <a:p>
            <a:pPr>
              <a:lnSpc>
                <a:spcPct val="150000"/>
              </a:lnSpc>
            </a:pPr>
            <a:r>
              <a:rPr lang="en-US" sz="1100" b="0" i="0" dirty="0">
                <a:solidFill>
                  <a:srgbClr val="FFFFFF"/>
                </a:solidFill>
                <a:effectLst/>
                <a:latin typeface="Inter" panose="02000503000000020004" pitchFamily="2" charset="0"/>
                <a:ea typeface="Inter" panose="02000503000000020004" pitchFamily="2" charset="0"/>
              </a:rPr>
              <a:t>Forecasts shifted significantly between Q3 and Q1, with </a:t>
            </a:r>
            <a:r>
              <a:rPr lang="en-US" sz="1100" b="1" i="0" dirty="0">
                <a:solidFill>
                  <a:srgbClr val="FBBF24"/>
                </a:solidFill>
                <a:effectLst/>
                <a:latin typeface="Inter" panose="02000503000000020004" pitchFamily="2" charset="0"/>
                <a:ea typeface="Inter" panose="02000503000000020004" pitchFamily="2" charset="0"/>
              </a:rPr>
              <a:t>Solar PV gaining 24%</a:t>
            </a:r>
            <a:r>
              <a:rPr lang="en-US" sz="1100" b="0" i="0" dirty="0">
                <a:solidFill>
                  <a:srgbClr val="FFFFFF"/>
                </a:solidFill>
                <a:effectLst/>
                <a:latin typeface="Inter" panose="02000503000000020004" pitchFamily="2" charset="0"/>
                <a:ea typeface="Inter" panose="02000503000000020004" pitchFamily="2" charset="0"/>
              </a:rPr>
              <a:t> and </a:t>
            </a:r>
            <a:r>
              <a:rPr lang="en-US" sz="1100" b="1" i="0" dirty="0">
                <a:solidFill>
                  <a:srgbClr val="FBBF24"/>
                </a:solidFill>
                <a:effectLst/>
                <a:latin typeface="Inter" panose="02000503000000020004" pitchFamily="2" charset="0"/>
                <a:ea typeface="Inter" panose="02000503000000020004" pitchFamily="2" charset="0"/>
              </a:rPr>
              <a:t>Onshore Wind gaining </a:t>
            </a:r>
            <a:r>
              <a:rPr lang="en-US" sz="1100" b="1" dirty="0">
                <a:solidFill>
                  <a:srgbClr val="FBBF24"/>
                </a:solidFill>
                <a:latin typeface="Inter" panose="02000503000000020004" pitchFamily="2" charset="0"/>
                <a:ea typeface="Inter" panose="02000503000000020004" pitchFamily="2" charset="0"/>
              </a:rPr>
              <a:t>8</a:t>
            </a:r>
            <a:r>
              <a:rPr lang="en-US" sz="1100" b="1" i="0" dirty="0">
                <a:solidFill>
                  <a:srgbClr val="FBBF24"/>
                </a:solidFill>
                <a:effectLst/>
                <a:latin typeface="Inter" panose="02000503000000020004" pitchFamily="2" charset="0"/>
                <a:ea typeface="Inter" panose="02000503000000020004" pitchFamily="2" charset="0"/>
              </a:rPr>
              <a:t>%</a:t>
            </a:r>
            <a:r>
              <a:rPr lang="en-US" sz="1100" b="0" i="0" dirty="0">
                <a:solidFill>
                  <a:srgbClr val="FFFFFF"/>
                </a:solidFill>
                <a:effectLst/>
                <a:latin typeface="Inter" panose="02000503000000020004" pitchFamily="2" charset="0"/>
                <a:ea typeface="Inter" panose="02000503000000020004" pitchFamily="2" charset="0"/>
              </a:rPr>
              <a:t>. The strengthening negative correlation (-0.70 → -0.82) signals increasing market saturation concerns as renewable capacity grows.</a:t>
            </a:r>
            <a:endParaRPr lang="en-US" sz="1200" dirty="0">
              <a:solidFill>
                <a:schemeClr val="bg1"/>
              </a:solidFill>
              <a:latin typeface="Inter" panose="02000503000000020004" pitchFamily="2" charset="0"/>
              <a:ea typeface="Inter" panose="02000503000000020004" pitchFamily="2" charset="0"/>
            </a:endParaRPr>
          </a:p>
        </p:txBody>
      </p:sp>
      <p:grpSp>
        <p:nvGrpSpPr>
          <p:cNvPr id="180" name="Group 179">
            <a:extLst>
              <a:ext uri="{FF2B5EF4-FFF2-40B4-BE49-F238E27FC236}">
                <a16:creationId xmlns:a16="http://schemas.microsoft.com/office/drawing/2014/main" id="{DCD35FCB-090A-65C2-64C5-40A09C2FB2AA}"/>
              </a:ext>
            </a:extLst>
          </p:cNvPr>
          <p:cNvGrpSpPr/>
          <p:nvPr/>
        </p:nvGrpSpPr>
        <p:grpSpPr>
          <a:xfrm>
            <a:off x="8976320" y="1769017"/>
            <a:ext cx="2808312" cy="2233852"/>
            <a:chOff x="9048328" y="1339163"/>
            <a:chExt cx="2808312" cy="2233852"/>
          </a:xfrm>
        </p:grpSpPr>
        <p:sp>
          <p:nvSpPr>
            <p:cNvPr id="92" name="Rectangle: Diagonal Corners Rounded 91">
              <a:extLst>
                <a:ext uri="{FF2B5EF4-FFF2-40B4-BE49-F238E27FC236}">
                  <a16:creationId xmlns:a16="http://schemas.microsoft.com/office/drawing/2014/main" id="{90CDC833-ED80-E771-8A10-1C1143F1B3A5}"/>
                </a:ext>
              </a:extLst>
            </p:cNvPr>
            <p:cNvSpPr/>
            <p:nvPr/>
          </p:nvSpPr>
          <p:spPr>
            <a:xfrm>
              <a:off x="9048328" y="1339163"/>
              <a:ext cx="2808312" cy="2233852"/>
            </a:xfrm>
            <a:prstGeom prst="round2DiagRect">
              <a:avLst/>
            </a:prstGeom>
            <a:solidFill>
              <a:srgbClr val="16586B"/>
            </a:solidFill>
            <a:ln w="76200">
              <a:solidFill>
                <a:srgbClr val="16586B">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200" b="1" dirty="0">
                  <a:solidFill>
                    <a:srgbClr val="FFC000"/>
                  </a:solidFill>
                  <a:latin typeface="Inter" panose="02000503000000020004" pitchFamily="2" charset="0"/>
                  <a:ea typeface="Inter" panose="02000503000000020004" pitchFamily="2" charset="0"/>
                </a:rPr>
                <a:t>Long Term Technology Winner</a:t>
              </a:r>
            </a:p>
            <a:p>
              <a:pPr algn="ctr">
                <a:lnSpc>
                  <a:spcPct val="150000"/>
                </a:lnSpc>
              </a:pPr>
              <a:r>
                <a:rPr lang="en-US" sz="1200" b="0" i="0" dirty="0">
                  <a:solidFill>
                    <a:srgbClr val="FFFFFF"/>
                  </a:solidFill>
                  <a:effectLst/>
                  <a:latin typeface="Inter" panose="02000503000000020004" pitchFamily="2" charset="0"/>
                  <a:ea typeface="Inter" panose="02000503000000020004" pitchFamily="2" charset="0"/>
                </a:rPr>
                <a:t>Solar PV (GB) emerges as the more valuable long-term investment in both forecasts</a:t>
              </a:r>
            </a:p>
            <a:p>
              <a:pPr algn="ctr">
                <a:lnSpc>
                  <a:spcPct val="150000"/>
                </a:lnSpc>
              </a:pPr>
              <a:endParaRPr lang="en-US" sz="1100" dirty="0">
                <a:solidFill>
                  <a:srgbClr val="FFFFFF"/>
                </a:solidFill>
                <a:latin typeface="Segoe UI" panose="020B0502040204020203" pitchFamily="34" charset="0"/>
                <a:ea typeface="Inter" panose="02000503000000020004" pitchFamily="2" charset="0"/>
              </a:endParaRPr>
            </a:p>
            <a:p>
              <a:pPr algn="ctr">
                <a:lnSpc>
                  <a:spcPct val="150000"/>
                </a:lnSpc>
              </a:pPr>
              <a:endParaRPr lang="en-US" sz="1100" dirty="0">
                <a:solidFill>
                  <a:srgbClr val="FFFFFF"/>
                </a:solidFill>
                <a:latin typeface="Segoe UI" panose="020B0502040204020203" pitchFamily="34" charset="0"/>
                <a:ea typeface="Inter" panose="02000503000000020004" pitchFamily="2" charset="0"/>
              </a:endParaRPr>
            </a:p>
            <a:p>
              <a:pPr algn="ctr">
                <a:lnSpc>
                  <a:spcPct val="150000"/>
                </a:lnSpc>
              </a:pPr>
              <a:endParaRPr lang="en-US" sz="1100" dirty="0">
                <a:latin typeface="Inter" panose="02000503000000020004" pitchFamily="2" charset="0"/>
                <a:ea typeface="Inter" panose="02000503000000020004" pitchFamily="2" charset="0"/>
              </a:endParaRPr>
            </a:p>
          </p:txBody>
        </p:sp>
        <p:grpSp>
          <p:nvGrpSpPr>
            <p:cNvPr id="179" name="Group 178">
              <a:extLst>
                <a:ext uri="{FF2B5EF4-FFF2-40B4-BE49-F238E27FC236}">
                  <a16:creationId xmlns:a16="http://schemas.microsoft.com/office/drawing/2014/main" id="{054A884C-8430-8106-3B1F-E5C03347D137}"/>
                </a:ext>
              </a:extLst>
            </p:cNvPr>
            <p:cNvGrpSpPr/>
            <p:nvPr/>
          </p:nvGrpSpPr>
          <p:grpSpPr>
            <a:xfrm>
              <a:off x="9178354" y="2674264"/>
              <a:ext cx="2548534" cy="828938"/>
              <a:chOff x="9178354" y="2674264"/>
              <a:chExt cx="2548534" cy="828938"/>
            </a:xfrm>
          </p:grpSpPr>
          <p:sp>
            <p:nvSpPr>
              <p:cNvPr id="168" name="Rectangle: Rounded Corners 167">
                <a:extLst>
                  <a:ext uri="{FF2B5EF4-FFF2-40B4-BE49-F238E27FC236}">
                    <a16:creationId xmlns:a16="http://schemas.microsoft.com/office/drawing/2014/main" id="{CF755293-E065-EB45-B4A1-E1577722F7E5}"/>
                  </a:ext>
                </a:extLst>
              </p:cNvPr>
              <p:cNvSpPr/>
              <p:nvPr/>
            </p:nvSpPr>
            <p:spPr>
              <a:xfrm>
                <a:off x="9178354" y="2674264"/>
                <a:ext cx="1238126" cy="828938"/>
              </a:xfrm>
              <a:prstGeom prst="roundRect">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GB" sz="1200" b="1" dirty="0">
                    <a:solidFill>
                      <a:srgbClr val="7F46EA"/>
                    </a:solidFill>
                    <a:latin typeface="Inter" panose="02000503000000020004" pitchFamily="2" charset="0"/>
                    <a:ea typeface="Inter" panose="02000503000000020004" pitchFamily="2" charset="0"/>
                  </a:rPr>
                  <a:t>2022 Q3</a:t>
                </a:r>
              </a:p>
              <a:p>
                <a:pPr algn="ctr">
                  <a:lnSpc>
                    <a:spcPct val="150000"/>
                  </a:lnSpc>
                </a:pPr>
                <a:r>
                  <a:rPr lang="en-GB" sz="1200" b="1" i="1" dirty="0">
                    <a:solidFill>
                      <a:schemeClr val="bg2"/>
                    </a:solidFill>
                    <a:latin typeface="Inter" panose="02000503000000020004" pitchFamily="2" charset="0"/>
                    <a:ea typeface="Inter" panose="02000503000000020004" pitchFamily="2" charset="0"/>
                  </a:rPr>
                  <a:t>Wins post-2029</a:t>
                </a:r>
                <a:endParaRPr lang="en-US" sz="1200" i="1" dirty="0">
                  <a:solidFill>
                    <a:schemeClr val="bg2"/>
                  </a:solidFill>
                  <a:latin typeface="Inter" panose="02000503000000020004" pitchFamily="2" charset="0"/>
                  <a:ea typeface="Inter" panose="02000503000000020004" pitchFamily="2" charset="0"/>
                </a:endParaRPr>
              </a:p>
            </p:txBody>
          </p:sp>
          <p:sp>
            <p:nvSpPr>
              <p:cNvPr id="169" name="Rectangle: Rounded Corners 168">
                <a:extLst>
                  <a:ext uri="{FF2B5EF4-FFF2-40B4-BE49-F238E27FC236}">
                    <a16:creationId xmlns:a16="http://schemas.microsoft.com/office/drawing/2014/main" id="{CE1C1C92-72CE-697E-969F-9C619D50D206}"/>
                  </a:ext>
                </a:extLst>
              </p:cNvPr>
              <p:cNvSpPr/>
              <p:nvPr/>
            </p:nvSpPr>
            <p:spPr>
              <a:xfrm>
                <a:off x="10488488" y="2674264"/>
                <a:ext cx="1238400" cy="828938"/>
              </a:xfrm>
              <a:prstGeom prst="roundRect">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GB" sz="1200" b="1" dirty="0">
                    <a:solidFill>
                      <a:srgbClr val="09A472"/>
                    </a:solidFill>
                    <a:latin typeface="Inter" panose="02000503000000020004" pitchFamily="2" charset="0"/>
                    <a:ea typeface="Inter" panose="02000503000000020004" pitchFamily="2" charset="0"/>
                  </a:rPr>
                  <a:t>2022 Q3</a:t>
                </a:r>
              </a:p>
              <a:p>
                <a:pPr algn="ctr">
                  <a:lnSpc>
                    <a:spcPct val="150000"/>
                  </a:lnSpc>
                </a:pPr>
                <a:r>
                  <a:rPr lang="en-GB" sz="1200" b="1" i="1" dirty="0">
                    <a:solidFill>
                      <a:schemeClr val="bg2"/>
                    </a:solidFill>
                    <a:latin typeface="Inter" panose="02000503000000020004" pitchFamily="2" charset="0"/>
                    <a:ea typeface="Inter" panose="02000503000000020004" pitchFamily="2" charset="0"/>
                  </a:rPr>
                  <a:t>Consistently Higher</a:t>
                </a:r>
                <a:endParaRPr lang="en-US" sz="1200" i="1" dirty="0">
                  <a:solidFill>
                    <a:schemeClr val="bg2"/>
                  </a:solidFill>
                  <a:latin typeface="Inter" panose="02000503000000020004" pitchFamily="2" charset="0"/>
                  <a:ea typeface="Inter" panose="02000503000000020004" pitchFamily="2" charset="0"/>
                </a:endParaRPr>
              </a:p>
            </p:txBody>
          </p:sp>
        </p:grpSp>
      </p:grpSp>
      <p:grpSp>
        <p:nvGrpSpPr>
          <p:cNvPr id="177" name="Group 176">
            <a:extLst>
              <a:ext uri="{FF2B5EF4-FFF2-40B4-BE49-F238E27FC236}">
                <a16:creationId xmlns:a16="http://schemas.microsoft.com/office/drawing/2014/main" id="{2C117EBE-9EF8-4748-BE58-B39F6FFB9992}"/>
              </a:ext>
            </a:extLst>
          </p:cNvPr>
          <p:cNvGrpSpPr/>
          <p:nvPr/>
        </p:nvGrpSpPr>
        <p:grpSpPr>
          <a:xfrm>
            <a:off x="4668138" y="1698613"/>
            <a:ext cx="3960440" cy="2304256"/>
            <a:chOff x="4740146" y="1268759"/>
            <a:chExt cx="3960440" cy="2304256"/>
          </a:xfrm>
        </p:grpSpPr>
        <p:sp>
          <p:nvSpPr>
            <p:cNvPr id="141" name="Rectangle: Rounded Corners 140">
              <a:extLst>
                <a:ext uri="{FF2B5EF4-FFF2-40B4-BE49-F238E27FC236}">
                  <a16:creationId xmlns:a16="http://schemas.microsoft.com/office/drawing/2014/main" id="{BBA597EB-596E-03E7-5FD2-2268F3B7F880}"/>
                </a:ext>
              </a:extLst>
            </p:cNvPr>
            <p:cNvSpPr/>
            <p:nvPr/>
          </p:nvSpPr>
          <p:spPr>
            <a:xfrm>
              <a:off x="4740146" y="1268759"/>
              <a:ext cx="3960440" cy="2304256"/>
            </a:xfrm>
            <a:prstGeom prst="roundRect">
              <a:avLst>
                <a:gd name="adj" fmla="val 6746"/>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GB" sz="1400" b="1" dirty="0">
                  <a:solidFill>
                    <a:schemeClr val="bg1"/>
                  </a:solidFill>
                  <a:latin typeface="Inter" panose="02000503000000020004" pitchFamily="2" charset="0"/>
                  <a:ea typeface="Inter" panose="02000503000000020004" pitchFamily="2" charset="0"/>
                </a:rPr>
                <a:t> </a:t>
              </a:r>
              <a:r>
                <a:rPr lang="en-GB" sz="1400" b="1" dirty="0">
                  <a:solidFill>
                    <a:schemeClr val="bg2"/>
                  </a:solidFill>
                  <a:latin typeface="Inter" panose="02000503000000020004" pitchFamily="2" charset="0"/>
                  <a:ea typeface="Inter" panose="02000503000000020004" pitchFamily="2" charset="0"/>
                </a:rPr>
                <a:t>Median Capture Price</a:t>
              </a:r>
            </a:p>
            <a:p>
              <a:pPr algn="ctr">
                <a:lnSpc>
                  <a:spcPct val="150000"/>
                </a:lnSpc>
              </a:pPr>
              <a:endParaRPr lang="en-GB" sz="14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4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4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4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400" dirty="0">
                <a:latin typeface="Inter" panose="02000503000000020004" pitchFamily="2" charset="0"/>
                <a:ea typeface="Inter" panose="02000503000000020004" pitchFamily="2" charset="0"/>
              </a:endParaRPr>
            </a:p>
          </p:txBody>
        </p:sp>
        <p:sp>
          <p:nvSpPr>
            <p:cNvPr id="142" name="Rectangle: Rounded Corners 141">
              <a:extLst>
                <a:ext uri="{FF2B5EF4-FFF2-40B4-BE49-F238E27FC236}">
                  <a16:creationId xmlns:a16="http://schemas.microsoft.com/office/drawing/2014/main" id="{97E4DCF2-FDCB-844D-E8B6-661EA72F9C3F}"/>
                </a:ext>
              </a:extLst>
            </p:cNvPr>
            <p:cNvSpPr/>
            <p:nvPr/>
          </p:nvSpPr>
          <p:spPr>
            <a:xfrm>
              <a:off x="5136190" y="1904069"/>
              <a:ext cx="1584176" cy="1033636"/>
            </a:xfrm>
            <a:prstGeom prst="roundRect">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en-GB" sz="1200" b="1" dirty="0">
                <a:solidFill>
                  <a:schemeClr val="bg1"/>
                </a:solidFill>
                <a:latin typeface="Inter" panose="02000503000000020004" pitchFamily="2" charset="0"/>
                <a:ea typeface="Inter" panose="02000503000000020004" pitchFamily="2" charset="0"/>
              </a:endParaRPr>
            </a:p>
            <a:p>
              <a:pPr>
                <a:lnSpc>
                  <a:spcPct val="150000"/>
                </a:lnSpc>
              </a:pPr>
              <a:r>
                <a:rPr lang="en-GB" sz="1200" b="1" dirty="0">
                  <a:solidFill>
                    <a:schemeClr val="bg1"/>
                  </a:solidFill>
                  <a:latin typeface="Inter" panose="02000503000000020004" pitchFamily="2" charset="0"/>
                  <a:ea typeface="Inter" panose="02000503000000020004" pitchFamily="2" charset="0"/>
                </a:rPr>
                <a:t>2022 Q3</a:t>
              </a:r>
            </a:p>
            <a:p>
              <a:pPr>
                <a:lnSpc>
                  <a:spcPct val="150000"/>
                </a:lnSpc>
              </a:pPr>
              <a:r>
                <a:rPr lang="en-GB" sz="1200" b="1" i="1" dirty="0">
                  <a:solidFill>
                    <a:schemeClr val="bg1"/>
                  </a:solidFill>
                  <a:latin typeface="Inter" panose="02000503000000020004" pitchFamily="2" charset="0"/>
                  <a:ea typeface="Inter" panose="02000503000000020004" pitchFamily="2" charset="0"/>
                </a:rPr>
                <a:t>    Solar (GB)  </a:t>
              </a:r>
              <a:r>
                <a:rPr lang="en-US" sz="1200" b="1" dirty="0">
                  <a:solidFill>
                    <a:srgbClr val="FFC000"/>
                  </a:solidFill>
                  <a:latin typeface="Inter" panose="02000503000000020004" pitchFamily="2" charset="0"/>
                  <a:ea typeface="Inter" panose="02000503000000020004" pitchFamily="2" charset="0"/>
                </a:rPr>
                <a:t>€</a:t>
              </a:r>
              <a:r>
                <a:rPr lang="en-GB" sz="1200" b="1" i="1" dirty="0">
                  <a:solidFill>
                    <a:srgbClr val="FFC000"/>
                  </a:solidFill>
                  <a:latin typeface="Inter" panose="02000503000000020004" pitchFamily="2" charset="0"/>
                  <a:ea typeface="Inter" panose="02000503000000020004" pitchFamily="2" charset="0"/>
                </a:rPr>
                <a:t>50</a:t>
              </a:r>
            </a:p>
            <a:p>
              <a:pPr>
                <a:lnSpc>
                  <a:spcPct val="150000"/>
                </a:lnSpc>
              </a:pPr>
              <a:r>
                <a:rPr lang="en-GB" sz="1200" b="1" i="1" dirty="0">
                  <a:solidFill>
                    <a:schemeClr val="bg1"/>
                  </a:solidFill>
                  <a:latin typeface="Inter" panose="02000503000000020004" pitchFamily="2" charset="0"/>
                  <a:ea typeface="Inter" panose="02000503000000020004" pitchFamily="2" charset="0"/>
                </a:rPr>
                <a:t>    Wind (DE)  </a:t>
              </a:r>
              <a:r>
                <a:rPr lang="en-GB" sz="1200" b="1" i="1" dirty="0">
                  <a:solidFill>
                    <a:srgbClr val="FFC000"/>
                  </a:solidFill>
                  <a:latin typeface="Inter" panose="02000503000000020004" pitchFamily="2" charset="0"/>
                  <a:ea typeface="Inter" panose="02000503000000020004" pitchFamily="2" charset="0"/>
                </a:rPr>
                <a:t>€53</a:t>
              </a:r>
            </a:p>
            <a:p>
              <a:pPr>
                <a:lnSpc>
                  <a:spcPct val="150000"/>
                </a:lnSpc>
              </a:pPr>
              <a:endParaRPr lang="en-US" sz="1200" i="1" dirty="0">
                <a:solidFill>
                  <a:schemeClr val="bg2"/>
                </a:solidFill>
                <a:latin typeface="Inter" panose="02000503000000020004" pitchFamily="2" charset="0"/>
                <a:ea typeface="Inter" panose="02000503000000020004" pitchFamily="2" charset="0"/>
              </a:endParaRPr>
            </a:p>
          </p:txBody>
        </p:sp>
        <p:sp>
          <p:nvSpPr>
            <p:cNvPr id="143" name="Rectangle: Rounded Corners 142">
              <a:extLst>
                <a:ext uri="{FF2B5EF4-FFF2-40B4-BE49-F238E27FC236}">
                  <a16:creationId xmlns:a16="http://schemas.microsoft.com/office/drawing/2014/main" id="{E8FAF3CF-0950-7E28-08AB-9C96063E74B4}"/>
                </a:ext>
              </a:extLst>
            </p:cNvPr>
            <p:cNvSpPr/>
            <p:nvPr/>
          </p:nvSpPr>
          <p:spPr>
            <a:xfrm>
              <a:off x="5091468" y="3124826"/>
              <a:ext cx="2043939" cy="256179"/>
            </a:xfrm>
            <a:prstGeom prst="roundRect">
              <a:avLst>
                <a:gd name="adj" fmla="val 50000"/>
              </a:avLst>
            </a:prstGeom>
            <a:solidFill>
              <a:srgbClr val="09A472">
                <a:alpha val="50000"/>
              </a:srgbClr>
            </a:solidFill>
            <a:ln>
              <a:solidFill>
                <a:srgbClr val="09A4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rgbClr val="FFC000"/>
                  </a:solidFill>
                  <a:latin typeface="Inter" panose="02000503000000020004" pitchFamily="2" charset="0"/>
                  <a:ea typeface="Inter" panose="02000503000000020004" pitchFamily="2" charset="0"/>
                </a:rPr>
                <a:t>Solar +24% </a:t>
              </a:r>
              <a:r>
                <a:rPr lang="en-US" sz="1100" b="1" dirty="0">
                  <a:latin typeface="Inter" panose="02000503000000020004" pitchFamily="2" charset="0"/>
                  <a:ea typeface="Inter" panose="02000503000000020004" pitchFamily="2" charset="0"/>
                </a:rPr>
                <a:t>| </a:t>
              </a:r>
              <a:r>
                <a:rPr lang="en-US" sz="1100" b="1" dirty="0">
                  <a:solidFill>
                    <a:srgbClr val="99E271"/>
                  </a:solidFill>
                  <a:latin typeface="Inter" panose="02000503000000020004" pitchFamily="2" charset="0"/>
                  <a:ea typeface="Inter" panose="02000503000000020004" pitchFamily="2" charset="0"/>
                </a:rPr>
                <a:t>Wind +8%</a:t>
              </a:r>
              <a:endParaRPr lang="en-US" sz="1100" dirty="0">
                <a:solidFill>
                  <a:srgbClr val="99E271"/>
                </a:solidFill>
                <a:latin typeface="Inter" panose="02000503000000020004" pitchFamily="2" charset="0"/>
                <a:ea typeface="Inter" panose="02000503000000020004" pitchFamily="2" charset="0"/>
              </a:endParaRPr>
            </a:p>
          </p:txBody>
        </p:sp>
        <p:grpSp>
          <p:nvGrpSpPr>
            <p:cNvPr id="146" name="Group 145">
              <a:extLst>
                <a:ext uri="{FF2B5EF4-FFF2-40B4-BE49-F238E27FC236}">
                  <a16:creationId xmlns:a16="http://schemas.microsoft.com/office/drawing/2014/main" id="{B0B23979-F32C-2E42-9E49-29E569EF2D61}"/>
                </a:ext>
              </a:extLst>
            </p:cNvPr>
            <p:cNvGrpSpPr/>
            <p:nvPr/>
          </p:nvGrpSpPr>
          <p:grpSpPr>
            <a:xfrm>
              <a:off x="5135562" y="1895107"/>
              <a:ext cx="192024" cy="1051560"/>
              <a:chOff x="946800" y="1836576"/>
              <a:chExt cx="192024" cy="1051560"/>
            </a:xfrm>
          </p:grpSpPr>
          <p:cxnSp>
            <p:nvCxnSpPr>
              <p:cNvPr id="147" name="Straight Connector 146">
                <a:extLst>
                  <a:ext uri="{FF2B5EF4-FFF2-40B4-BE49-F238E27FC236}">
                    <a16:creationId xmlns:a16="http://schemas.microsoft.com/office/drawing/2014/main" id="{AEEA7502-365F-41B4-F33D-977076CCD490}"/>
                  </a:ext>
                </a:extLst>
              </p:cNvPr>
              <p:cNvCxnSpPr>
                <a:cxnSpLocks/>
              </p:cNvCxnSpPr>
              <p:nvPr/>
            </p:nvCxnSpPr>
            <p:spPr>
              <a:xfrm>
                <a:off x="946800" y="2008600"/>
                <a:ext cx="0" cy="714760"/>
              </a:xfrm>
              <a:prstGeom prst="line">
                <a:avLst/>
              </a:prstGeom>
              <a:ln w="25400">
                <a:solidFill>
                  <a:srgbClr val="7F46EA"/>
                </a:solidFill>
              </a:ln>
            </p:spPr>
            <p:style>
              <a:lnRef idx="1">
                <a:schemeClr val="accent1"/>
              </a:lnRef>
              <a:fillRef idx="0">
                <a:schemeClr val="accent1"/>
              </a:fillRef>
              <a:effectRef idx="0">
                <a:schemeClr val="accent1"/>
              </a:effectRef>
              <a:fontRef idx="minor">
                <a:schemeClr val="tx1"/>
              </a:fontRef>
            </p:style>
          </p:cxnSp>
          <p:sp>
            <p:nvSpPr>
              <p:cNvPr id="148" name="Freeform: Shape 147">
                <a:extLst>
                  <a:ext uri="{FF2B5EF4-FFF2-40B4-BE49-F238E27FC236}">
                    <a16:creationId xmlns:a16="http://schemas.microsoft.com/office/drawing/2014/main" id="{29A1014C-C30E-5629-DDB8-93E8872DB20F}"/>
                  </a:ext>
                </a:extLst>
              </p:cNvPr>
              <p:cNvSpPr/>
              <p:nvPr/>
            </p:nvSpPr>
            <p:spPr>
              <a:xfrm>
                <a:off x="946800" y="1836576"/>
                <a:ext cx="192024" cy="164592"/>
              </a:xfrm>
              <a:custGeom>
                <a:avLst/>
                <a:gdLst>
                  <a:gd name="connsiteX0" fmla="*/ 0 w 182880"/>
                  <a:gd name="connsiteY0" fmla="*/ 201168 h 201168"/>
                  <a:gd name="connsiteX1" fmla="*/ 182880 w 182880"/>
                  <a:gd name="connsiteY1" fmla="*/ 0 h 201168"/>
                  <a:gd name="connsiteX0" fmla="*/ 0 w 192024"/>
                  <a:gd name="connsiteY0" fmla="*/ 164592 h 164592"/>
                  <a:gd name="connsiteX1" fmla="*/ 192024 w 192024"/>
                  <a:gd name="connsiteY1" fmla="*/ 0 h 164592"/>
                </a:gdLst>
                <a:ahLst/>
                <a:cxnLst>
                  <a:cxn ang="0">
                    <a:pos x="connsiteX0" y="connsiteY0"/>
                  </a:cxn>
                  <a:cxn ang="0">
                    <a:pos x="connsiteX1" y="connsiteY1"/>
                  </a:cxn>
                </a:cxnLst>
                <a:rect l="l" t="t" r="r" b="b"/>
                <a:pathLst>
                  <a:path w="192024" h="164592">
                    <a:moveTo>
                      <a:pt x="0" y="164592"/>
                    </a:moveTo>
                    <a:cubicBezTo>
                      <a:pt x="20574" y="79248"/>
                      <a:pt x="50292" y="30480"/>
                      <a:pt x="192024" y="0"/>
                    </a:cubicBezTo>
                  </a:path>
                </a:pathLst>
              </a:custGeom>
              <a:noFill/>
              <a:ln w="25400">
                <a:solidFill>
                  <a:srgbClr val="7F46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Freeform: Shape 148">
                <a:extLst>
                  <a:ext uri="{FF2B5EF4-FFF2-40B4-BE49-F238E27FC236}">
                    <a16:creationId xmlns:a16="http://schemas.microsoft.com/office/drawing/2014/main" id="{A5EF4544-8208-F999-613D-1699CD3570CA}"/>
                  </a:ext>
                </a:extLst>
              </p:cNvPr>
              <p:cNvSpPr/>
              <p:nvPr/>
            </p:nvSpPr>
            <p:spPr>
              <a:xfrm flipV="1">
                <a:off x="946800" y="2714400"/>
                <a:ext cx="182880" cy="173736"/>
              </a:xfrm>
              <a:custGeom>
                <a:avLst/>
                <a:gdLst>
                  <a:gd name="connsiteX0" fmla="*/ 0 w 182880"/>
                  <a:gd name="connsiteY0" fmla="*/ 201168 h 201168"/>
                  <a:gd name="connsiteX1" fmla="*/ 182880 w 182880"/>
                  <a:gd name="connsiteY1" fmla="*/ 0 h 201168"/>
                  <a:gd name="connsiteX0" fmla="*/ 0 w 182880"/>
                  <a:gd name="connsiteY0" fmla="*/ 173736 h 173736"/>
                  <a:gd name="connsiteX1" fmla="*/ 182880 w 182880"/>
                  <a:gd name="connsiteY1" fmla="*/ 0 h 173736"/>
                </a:gdLst>
                <a:ahLst/>
                <a:cxnLst>
                  <a:cxn ang="0">
                    <a:pos x="connsiteX0" y="connsiteY0"/>
                  </a:cxn>
                  <a:cxn ang="0">
                    <a:pos x="connsiteX1" y="connsiteY1"/>
                  </a:cxn>
                </a:cxnLst>
                <a:rect l="l" t="t" r="r" b="b"/>
                <a:pathLst>
                  <a:path w="182880" h="173736">
                    <a:moveTo>
                      <a:pt x="0" y="173736"/>
                    </a:moveTo>
                    <a:cubicBezTo>
                      <a:pt x="20574" y="88392"/>
                      <a:pt x="41148" y="30480"/>
                      <a:pt x="182880" y="0"/>
                    </a:cubicBezTo>
                  </a:path>
                </a:pathLst>
              </a:custGeom>
              <a:noFill/>
              <a:ln w="25400">
                <a:solidFill>
                  <a:srgbClr val="7F46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0" name="Rectangle: Rounded Corners 149">
              <a:extLst>
                <a:ext uri="{FF2B5EF4-FFF2-40B4-BE49-F238E27FC236}">
                  <a16:creationId xmlns:a16="http://schemas.microsoft.com/office/drawing/2014/main" id="{EC611C23-BB2C-2FDF-0CA7-2103E2F39B4D}"/>
                </a:ext>
              </a:extLst>
            </p:cNvPr>
            <p:cNvSpPr/>
            <p:nvPr/>
          </p:nvSpPr>
          <p:spPr>
            <a:xfrm>
              <a:off x="6871369" y="1904069"/>
              <a:ext cx="1584176" cy="1033636"/>
            </a:xfrm>
            <a:prstGeom prst="roundRect">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1"/>
                  </a:solidFill>
                  <a:latin typeface="Inter" panose="02000503000000020004" pitchFamily="2" charset="0"/>
                  <a:ea typeface="Inter" panose="02000503000000020004" pitchFamily="2" charset="0"/>
                </a:rPr>
                <a:t>2023 Q1</a:t>
              </a:r>
            </a:p>
            <a:p>
              <a:pPr>
                <a:lnSpc>
                  <a:spcPct val="150000"/>
                </a:lnSpc>
              </a:pPr>
              <a:r>
                <a:rPr lang="en-GB" sz="1200" b="1" i="1" dirty="0">
                  <a:solidFill>
                    <a:schemeClr val="bg1"/>
                  </a:solidFill>
                  <a:latin typeface="Inter" panose="02000503000000020004" pitchFamily="2" charset="0"/>
                  <a:ea typeface="Inter" panose="02000503000000020004" pitchFamily="2" charset="0"/>
                </a:rPr>
                <a:t>    Solar (GB)  </a:t>
              </a:r>
              <a:r>
                <a:rPr lang="en-US" sz="1200" b="1" dirty="0">
                  <a:solidFill>
                    <a:srgbClr val="FFC000"/>
                  </a:solidFill>
                  <a:latin typeface="Inter" panose="02000503000000020004" pitchFamily="2" charset="0"/>
                  <a:ea typeface="Inter" panose="02000503000000020004" pitchFamily="2" charset="0"/>
                </a:rPr>
                <a:t>€</a:t>
              </a:r>
              <a:r>
                <a:rPr lang="en-GB" sz="1200" b="1" i="1" dirty="0">
                  <a:solidFill>
                    <a:srgbClr val="FFC000"/>
                  </a:solidFill>
                  <a:latin typeface="Inter" panose="02000503000000020004" pitchFamily="2" charset="0"/>
                  <a:ea typeface="Inter" panose="02000503000000020004" pitchFamily="2" charset="0"/>
                </a:rPr>
                <a:t>62</a:t>
              </a:r>
            </a:p>
            <a:p>
              <a:pPr>
                <a:lnSpc>
                  <a:spcPct val="150000"/>
                </a:lnSpc>
              </a:pPr>
              <a:r>
                <a:rPr lang="en-GB" sz="1200" b="1" i="1" dirty="0">
                  <a:solidFill>
                    <a:schemeClr val="bg1"/>
                  </a:solidFill>
                  <a:latin typeface="Inter" panose="02000503000000020004" pitchFamily="2" charset="0"/>
                  <a:ea typeface="Inter" panose="02000503000000020004" pitchFamily="2" charset="0"/>
                </a:rPr>
                <a:t>    Wind (DE)  </a:t>
              </a:r>
              <a:r>
                <a:rPr lang="en-GB" sz="1200" b="1" i="1" dirty="0">
                  <a:solidFill>
                    <a:srgbClr val="FFC000"/>
                  </a:solidFill>
                  <a:latin typeface="Inter" panose="02000503000000020004" pitchFamily="2" charset="0"/>
                  <a:ea typeface="Inter" panose="02000503000000020004" pitchFamily="2" charset="0"/>
                </a:rPr>
                <a:t>€57</a:t>
              </a:r>
              <a:endParaRPr lang="en-US" sz="1200" i="1" dirty="0">
                <a:solidFill>
                  <a:schemeClr val="bg2"/>
                </a:solidFill>
                <a:latin typeface="Inter" panose="02000503000000020004" pitchFamily="2" charset="0"/>
                <a:ea typeface="Inter" panose="02000503000000020004" pitchFamily="2" charset="0"/>
              </a:endParaRPr>
            </a:p>
          </p:txBody>
        </p:sp>
        <p:grpSp>
          <p:nvGrpSpPr>
            <p:cNvPr id="153" name="Group 152">
              <a:extLst>
                <a:ext uri="{FF2B5EF4-FFF2-40B4-BE49-F238E27FC236}">
                  <a16:creationId xmlns:a16="http://schemas.microsoft.com/office/drawing/2014/main" id="{0A279DDB-86C0-72E3-C9A2-C578B406AEBF}"/>
                </a:ext>
              </a:extLst>
            </p:cNvPr>
            <p:cNvGrpSpPr/>
            <p:nvPr/>
          </p:nvGrpSpPr>
          <p:grpSpPr>
            <a:xfrm>
              <a:off x="6870741" y="1895107"/>
              <a:ext cx="192024" cy="1051560"/>
              <a:chOff x="946800" y="1836576"/>
              <a:chExt cx="192024" cy="1051560"/>
            </a:xfrm>
          </p:grpSpPr>
          <p:cxnSp>
            <p:nvCxnSpPr>
              <p:cNvPr id="154" name="Straight Connector 153">
                <a:extLst>
                  <a:ext uri="{FF2B5EF4-FFF2-40B4-BE49-F238E27FC236}">
                    <a16:creationId xmlns:a16="http://schemas.microsoft.com/office/drawing/2014/main" id="{CBE58B22-0D4D-AB8F-4A17-F3330FF13B38}"/>
                  </a:ext>
                </a:extLst>
              </p:cNvPr>
              <p:cNvCxnSpPr>
                <a:cxnSpLocks/>
              </p:cNvCxnSpPr>
              <p:nvPr/>
            </p:nvCxnSpPr>
            <p:spPr>
              <a:xfrm>
                <a:off x="946800" y="2008600"/>
                <a:ext cx="0" cy="714760"/>
              </a:xfrm>
              <a:prstGeom prst="line">
                <a:avLst/>
              </a:prstGeom>
              <a:ln w="25400">
                <a:solidFill>
                  <a:srgbClr val="09A472"/>
                </a:solidFill>
              </a:ln>
            </p:spPr>
            <p:style>
              <a:lnRef idx="1">
                <a:schemeClr val="accent1"/>
              </a:lnRef>
              <a:fillRef idx="0">
                <a:schemeClr val="accent1"/>
              </a:fillRef>
              <a:effectRef idx="0">
                <a:schemeClr val="accent1"/>
              </a:effectRef>
              <a:fontRef idx="minor">
                <a:schemeClr val="tx1"/>
              </a:fontRef>
            </p:style>
          </p:cxnSp>
          <p:sp>
            <p:nvSpPr>
              <p:cNvPr id="155" name="Freeform: Shape 154">
                <a:extLst>
                  <a:ext uri="{FF2B5EF4-FFF2-40B4-BE49-F238E27FC236}">
                    <a16:creationId xmlns:a16="http://schemas.microsoft.com/office/drawing/2014/main" id="{9626F596-AE7B-97D3-B978-DCDD46FFFF7A}"/>
                  </a:ext>
                </a:extLst>
              </p:cNvPr>
              <p:cNvSpPr/>
              <p:nvPr/>
            </p:nvSpPr>
            <p:spPr>
              <a:xfrm>
                <a:off x="946800" y="1836576"/>
                <a:ext cx="192024" cy="164592"/>
              </a:xfrm>
              <a:custGeom>
                <a:avLst/>
                <a:gdLst>
                  <a:gd name="connsiteX0" fmla="*/ 0 w 182880"/>
                  <a:gd name="connsiteY0" fmla="*/ 201168 h 201168"/>
                  <a:gd name="connsiteX1" fmla="*/ 182880 w 182880"/>
                  <a:gd name="connsiteY1" fmla="*/ 0 h 201168"/>
                  <a:gd name="connsiteX0" fmla="*/ 0 w 192024"/>
                  <a:gd name="connsiteY0" fmla="*/ 164592 h 164592"/>
                  <a:gd name="connsiteX1" fmla="*/ 192024 w 192024"/>
                  <a:gd name="connsiteY1" fmla="*/ 0 h 164592"/>
                </a:gdLst>
                <a:ahLst/>
                <a:cxnLst>
                  <a:cxn ang="0">
                    <a:pos x="connsiteX0" y="connsiteY0"/>
                  </a:cxn>
                  <a:cxn ang="0">
                    <a:pos x="connsiteX1" y="connsiteY1"/>
                  </a:cxn>
                </a:cxnLst>
                <a:rect l="l" t="t" r="r" b="b"/>
                <a:pathLst>
                  <a:path w="192024" h="164592">
                    <a:moveTo>
                      <a:pt x="0" y="164592"/>
                    </a:moveTo>
                    <a:cubicBezTo>
                      <a:pt x="20574" y="79248"/>
                      <a:pt x="50292" y="30480"/>
                      <a:pt x="192024" y="0"/>
                    </a:cubicBezTo>
                  </a:path>
                </a:pathLst>
              </a:custGeom>
              <a:noFill/>
              <a:ln w="25400">
                <a:solidFill>
                  <a:srgbClr val="09A4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Freeform: Shape 155">
                <a:extLst>
                  <a:ext uri="{FF2B5EF4-FFF2-40B4-BE49-F238E27FC236}">
                    <a16:creationId xmlns:a16="http://schemas.microsoft.com/office/drawing/2014/main" id="{0706F37F-59A3-9C76-60AD-47759503F0E8}"/>
                  </a:ext>
                </a:extLst>
              </p:cNvPr>
              <p:cNvSpPr/>
              <p:nvPr/>
            </p:nvSpPr>
            <p:spPr>
              <a:xfrm flipV="1">
                <a:off x="946800" y="2714400"/>
                <a:ext cx="182880" cy="173736"/>
              </a:xfrm>
              <a:custGeom>
                <a:avLst/>
                <a:gdLst>
                  <a:gd name="connsiteX0" fmla="*/ 0 w 182880"/>
                  <a:gd name="connsiteY0" fmla="*/ 201168 h 201168"/>
                  <a:gd name="connsiteX1" fmla="*/ 182880 w 182880"/>
                  <a:gd name="connsiteY1" fmla="*/ 0 h 201168"/>
                  <a:gd name="connsiteX0" fmla="*/ 0 w 182880"/>
                  <a:gd name="connsiteY0" fmla="*/ 173736 h 173736"/>
                  <a:gd name="connsiteX1" fmla="*/ 182880 w 182880"/>
                  <a:gd name="connsiteY1" fmla="*/ 0 h 173736"/>
                </a:gdLst>
                <a:ahLst/>
                <a:cxnLst>
                  <a:cxn ang="0">
                    <a:pos x="connsiteX0" y="connsiteY0"/>
                  </a:cxn>
                  <a:cxn ang="0">
                    <a:pos x="connsiteX1" y="connsiteY1"/>
                  </a:cxn>
                </a:cxnLst>
                <a:rect l="l" t="t" r="r" b="b"/>
                <a:pathLst>
                  <a:path w="182880" h="173736">
                    <a:moveTo>
                      <a:pt x="0" y="173736"/>
                    </a:moveTo>
                    <a:cubicBezTo>
                      <a:pt x="20574" y="88392"/>
                      <a:pt x="41148" y="30480"/>
                      <a:pt x="182880" y="0"/>
                    </a:cubicBezTo>
                  </a:path>
                </a:pathLst>
              </a:custGeom>
              <a:noFill/>
              <a:ln w="25400">
                <a:solidFill>
                  <a:srgbClr val="09A4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0" name="Group 159">
              <a:extLst>
                <a:ext uri="{FF2B5EF4-FFF2-40B4-BE49-F238E27FC236}">
                  <a16:creationId xmlns:a16="http://schemas.microsoft.com/office/drawing/2014/main" id="{E7736C52-FBE8-ABC7-4D91-5B61015B8256}"/>
                </a:ext>
              </a:extLst>
            </p:cNvPr>
            <p:cNvGrpSpPr/>
            <p:nvPr/>
          </p:nvGrpSpPr>
          <p:grpSpPr>
            <a:xfrm>
              <a:off x="5140120" y="2347369"/>
              <a:ext cx="271818" cy="577575"/>
              <a:chOff x="5140120" y="2277918"/>
              <a:chExt cx="271818" cy="577575"/>
            </a:xfrm>
          </p:grpSpPr>
          <p:sp>
            <p:nvSpPr>
              <p:cNvPr id="158" name="TextBox 157">
                <a:extLst>
                  <a:ext uri="{FF2B5EF4-FFF2-40B4-BE49-F238E27FC236}">
                    <a16:creationId xmlns:a16="http://schemas.microsoft.com/office/drawing/2014/main" id="{573F2D03-B6DE-2172-9372-AEDC7B960F22}"/>
                  </a:ext>
                </a:extLst>
              </p:cNvPr>
              <p:cNvSpPr txBox="1"/>
              <p:nvPr/>
            </p:nvSpPr>
            <p:spPr>
              <a:xfrm>
                <a:off x="5140120" y="2567493"/>
                <a:ext cx="252000" cy="288000"/>
              </a:xfrm>
              <a:prstGeom prst="rect">
                <a:avLst/>
              </a:prstGeom>
              <a:noFill/>
            </p:spPr>
            <p:txBody>
              <a:bodyPr wrap="square">
                <a:spAutoFit/>
              </a:bodyPr>
              <a:lstStyle/>
              <a:p>
                <a:pPr algn="ctr"/>
                <a:r>
                  <a:rPr lang="en-US" sz="1200" dirty="0"/>
                  <a:t>💨</a:t>
                </a:r>
              </a:p>
            </p:txBody>
          </p:sp>
          <p:sp>
            <p:nvSpPr>
              <p:cNvPr id="159" name="TextBox 158">
                <a:extLst>
                  <a:ext uri="{FF2B5EF4-FFF2-40B4-BE49-F238E27FC236}">
                    <a16:creationId xmlns:a16="http://schemas.microsoft.com/office/drawing/2014/main" id="{C86476D4-D064-B948-CC3B-0B2A82A77AF4}"/>
                  </a:ext>
                </a:extLst>
              </p:cNvPr>
              <p:cNvSpPr txBox="1"/>
              <p:nvPr/>
            </p:nvSpPr>
            <p:spPr>
              <a:xfrm>
                <a:off x="5159938" y="2277918"/>
                <a:ext cx="252000" cy="276999"/>
              </a:xfrm>
              <a:prstGeom prst="rect">
                <a:avLst/>
              </a:prstGeom>
              <a:noFill/>
            </p:spPr>
            <p:txBody>
              <a:bodyPr wrap="square">
                <a:spAutoFit/>
              </a:bodyPr>
              <a:lstStyle/>
              <a:p>
                <a:pPr algn="ctr"/>
                <a:r>
                  <a:rPr lang="en-US" sz="1200" b="0" i="0" dirty="0">
                    <a:solidFill>
                      <a:srgbClr val="000000"/>
                    </a:solidFill>
                    <a:effectLst/>
                    <a:latin typeface="Segoe UI" panose="020B0502040204020203" pitchFamily="34" charset="0"/>
                  </a:rPr>
                  <a:t>☀️</a:t>
                </a:r>
                <a:endParaRPr lang="en-US" sz="1200" dirty="0"/>
              </a:p>
            </p:txBody>
          </p:sp>
        </p:grpSp>
        <p:grpSp>
          <p:nvGrpSpPr>
            <p:cNvPr id="161" name="Group 160">
              <a:extLst>
                <a:ext uri="{FF2B5EF4-FFF2-40B4-BE49-F238E27FC236}">
                  <a16:creationId xmlns:a16="http://schemas.microsoft.com/office/drawing/2014/main" id="{01DA9658-1682-917C-F087-51887A1B30B7}"/>
                </a:ext>
              </a:extLst>
            </p:cNvPr>
            <p:cNvGrpSpPr/>
            <p:nvPr/>
          </p:nvGrpSpPr>
          <p:grpSpPr>
            <a:xfrm>
              <a:off x="6883410" y="2347369"/>
              <a:ext cx="271818" cy="577575"/>
              <a:chOff x="5140120" y="2277918"/>
              <a:chExt cx="271818" cy="577575"/>
            </a:xfrm>
          </p:grpSpPr>
          <p:sp>
            <p:nvSpPr>
              <p:cNvPr id="162" name="TextBox 161">
                <a:extLst>
                  <a:ext uri="{FF2B5EF4-FFF2-40B4-BE49-F238E27FC236}">
                    <a16:creationId xmlns:a16="http://schemas.microsoft.com/office/drawing/2014/main" id="{B3471CBA-2B09-74AD-0DEF-26D10133040E}"/>
                  </a:ext>
                </a:extLst>
              </p:cNvPr>
              <p:cNvSpPr txBox="1"/>
              <p:nvPr/>
            </p:nvSpPr>
            <p:spPr>
              <a:xfrm>
                <a:off x="5140120" y="2567493"/>
                <a:ext cx="252000" cy="288000"/>
              </a:xfrm>
              <a:prstGeom prst="rect">
                <a:avLst/>
              </a:prstGeom>
              <a:noFill/>
            </p:spPr>
            <p:txBody>
              <a:bodyPr wrap="square">
                <a:spAutoFit/>
              </a:bodyPr>
              <a:lstStyle/>
              <a:p>
                <a:pPr algn="ctr"/>
                <a:r>
                  <a:rPr lang="en-US" sz="1200" dirty="0"/>
                  <a:t>💨</a:t>
                </a:r>
              </a:p>
            </p:txBody>
          </p:sp>
          <p:sp>
            <p:nvSpPr>
              <p:cNvPr id="163" name="TextBox 162">
                <a:extLst>
                  <a:ext uri="{FF2B5EF4-FFF2-40B4-BE49-F238E27FC236}">
                    <a16:creationId xmlns:a16="http://schemas.microsoft.com/office/drawing/2014/main" id="{01620D21-660D-2831-40F1-DD3F5591A0E2}"/>
                  </a:ext>
                </a:extLst>
              </p:cNvPr>
              <p:cNvSpPr txBox="1"/>
              <p:nvPr/>
            </p:nvSpPr>
            <p:spPr>
              <a:xfrm>
                <a:off x="5159938" y="2277918"/>
                <a:ext cx="252000" cy="288000"/>
              </a:xfrm>
              <a:prstGeom prst="rect">
                <a:avLst/>
              </a:prstGeom>
              <a:noFill/>
            </p:spPr>
            <p:txBody>
              <a:bodyPr wrap="square">
                <a:spAutoFit/>
              </a:bodyPr>
              <a:lstStyle/>
              <a:p>
                <a:pPr algn="ctr"/>
                <a:r>
                  <a:rPr lang="en-US" sz="1200" b="0" i="0" dirty="0">
                    <a:solidFill>
                      <a:srgbClr val="000000"/>
                    </a:solidFill>
                    <a:effectLst/>
                    <a:latin typeface="Segoe UI" panose="020B0502040204020203" pitchFamily="34" charset="0"/>
                  </a:rPr>
                  <a:t>☀️</a:t>
                </a:r>
                <a:endParaRPr lang="en-US" sz="1200" dirty="0"/>
              </a:p>
            </p:txBody>
          </p:sp>
        </p:grpSp>
        <p:sp>
          <p:nvSpPr>
            <p:cNvPr id="174" name="TextBox 173">
              <a:extLst>
                <a:ext uri="{FF2B5EF4-FFF2-40B4-BE49-F238E27FC236}">
                  <a16:creationId xmlns:a16="http://schemas.microsoft.com/office/drawing/2014/main" id="{D75485D9-B873-86AF-F8AA-04BC26351BFE}"/>
                </a:ext>
              </a:extLst>
            </p:cNvPr>
            <p:cNvSpPr txBox="1"/>
            <p:nvPr/>
          </p:nvSpPr>
          <p:spPr>
            <a:xfrm>
              <a:off x="5352256" y="1481729"/>
              <a:ext cx="455712" cy="369332"/>
            </a:xfrm>
            <a:prstGeom prst="rect">
              <a:avLst/>
            </a:prstGeom>
            <a:noFill/>
          </p:spPr>
          <p:txBody>
            <a:bodyPr wrap="square">
              <a:spAutoFit/>
            </a:bodyPr>
            <a:lstStyle/>
            <a:p>
              <a:r>
                <a:rPr lang="en-US" b="0" i="0" dirty="0">
                  <a:solidFill>
                    <a:srgbClr val="000000"/>
                  </a:solidFill>
                  <a:effectLst/>
                  <a:latin typeface="Segoe UI" panose="020B0502040204020203" pitchFamily="34" charset="0"/>
                </a:rPr>
                <a:t>💰</a:t>
              </a:r>
              <a:endParaRPr lang="en-US" dirty="0"/>
            </a:p>
          </p:txBody>
        </p:sp>
      </p:grpSp>
      <p:grpSp>
        <p:nvGrpSpPr>
          <p:cNvPr id="176" name="Group 175">
            <a:extLst>
              <a:ext uri="{FF2B5EF4-FFF2-40B4-BE49-F238E27FC236}">
                <a16:creationId xmlns:a16="http://schemas.microsoft.com/office/drawing/2014/main" id="{A6C69F53-01BB-D5D0-CBB7-47E73A97E8BD}"/>
              </a:ext>
            </a:extLst>
          </p:cNvPr>
          <p:cNvGrpSpPr/>
          <p:nvPr/>
        </p:nvGrpSpPr>
        <p:grpSpPr>
          <a:xfrm>
            <a:off x="479376" y="1698614"/>
            <a:ext cx="3960440" cy="2304256"/>
            <a:chOff x="551384" y="1268760"/>
            <a:chExt cx="3960440" cy="2304256"/>
          </a:xfrm>
        </p:grpSpPr>
        <p:sp>
          <p:nvSpPr>
            <p:cNvPr id="49" name="Rectangle: Rounded Corners 48">
              <a:extLst>
                <a:ext uri="{FF2B5EF4-FFF2-40B4-BE49-F238E27FC236}">
                  <a16:creationId xmlns:a16="http://schemas.microsoft.com/office/drawing/2014/main" id="{C172287A-99D2-10C9-51C8-2B014C9E2B9B}"/>
                </a:ext>
              </a:extLst>
            </p:cNvPr>
            <p:cNvSpPr/>
            <p:nvPr/>
          </p:nvSpPr>
          <p:spPr>
            <a:xfrm>
              <a:off x="551384" y="1268760"/>
              <a:ext cx="3960440" cy="2304256"/>
            </a:xfrm>
            <a:prstGeom prst="roundRect">
              <a:avLst>
                <a:gd name="adj" fmla="val 840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GB" sz="1400" b="1" dirty="0">
                  <a:solidFill>
                    <a:schemeClr val="bg2"/>
                  </a:solidFill>
                  <a:latin typeface="Inter" panose="02000503000000020004" pitchFamily="2" charset="0"/>
                  <a:ea typeface="Inter" panose="02000503000000020004" pitchFamily="2" charset="0"/>
                </a:rPr>
                <a:t>Median Baseload Price</a:t>
              </a:r>
            </a:p>
            <a:p>
              <a:pPr algn="ctr">
                <a:lnSpc>
                  <a:spcPct val="150000"/>
                </a:lnSpc>
              </a:pPr>
              <a:endParaRPr lang="en-GB" sz="14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4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4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400" b="1" dirty="0">
                <a:solidFill>
                  <a:schemeClr val="bg1"/>
                </a:solidFill>
                <a:latin typeface="Inter" panose="02000503000000020004" pitchFamily="2" charset="0"/>
                <a:ea typeface="Inter" panose="02000503000000020004" pitchFamily="2" charset="0"/>
              </a:endParaRPr>
            </a:p>
            <a:p>
              <a:pPr algn="ctr">
                <a:lnSpc>
                  <a:spcPct val="150000"/>
                </a:lnSpc>
              </a:pPr>
              <a:endParaRPr lang="en-GB" sz="1400" dirty="0">
                <a:latin typeface="Inter" panose="02000503000000020004" pitchFamily="2" charset="0"/>
                <a:ea typeface="Inter" panose="02000503000000020004" pitchFamily="2" charset="0"/>
              </a:endParaRPr>
            </a:p>
          </p:txBody>
        </p:sp>
        <p:sp>
          <p:nvSpPr>
            <p:cNvPr id="21" name="Rectangle: Rounded Corners 20">
              <a:extLst>
                <a:ext uri="{FF2B5EF4-FFF2-40B4-BE49-F238E27FC236}">
                  <a16:creationId xmlns:a16="http://schemas.microsoft.com/office/drawing/2014/main" id="{178A4F3C-A56B-795C-ABD0-316F60FFDA4A}"/>
                </a:ext>
              </a:extLst>
            </p:cNvPr>
            <p:cNvSpPr/>
            <p:nvPr/>
          </p:nvSpPr>
          <p:spPr>
            <a:xfrm>
              <a:off x="902707" y="1904070"/>
              <a:ext cx="1584176" cy="1033636"/>
            </a:xfrm>
            <a:prstGeom prst="roundRect">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en-GB" sz="1200" b="1" dirty="0">
                <a:solidFill>
                  <a:schemeClr val="bg1"/>
                </a:solidFill>
                <a:latin typeface="Inter" panose="02000503000000020004" pitchFamily="2" charset="0"/>
                <a:ea typeface="Inter" panose="02000503000000020004" pitchFamily="2" charset="0"/>
              </a:endParaRPr>
            </a:p>
            <a:p>
              <a:pPr>
                <a:lnSpc>
                  <a:spcPct val="150000"/>
                </a:lnSpc>
              </a:pPr>
              <a:r>
                <a:rPr lang="en-GB" sz="1200" b="1" dirty="0">
                  <a:solidFill>
                    <a:schemeClr val="bg1"/>
                  </a:solidFill>
                  <a:latin typeface="Inter" panose="02000503000000020004" pitchFamily="2" charset="0"/>
                  <a:ea typeface="Inter" panose="02000503000000020004" pitchFamily="2" charset="0"/>
                </a:rPr>
                <a:t>2022 Q3</a:t>
              </a:r>
            </a:p>
            <a:p>
              <a:pPr>
                <a:lnSpc>
                  <a:spcPct val="150000"/>
                </a:lnSpc>
              </a:pPr>
              <a:r>
                <a:rPr lang="en-GB" sz="1200" b="1" i="1" dirty="0">
                  <a:solidFill>
                    <a:schemeClr val="bg1"/>
                  </a:solidFill>
                  <a:latin typeface="Inter" panose="02000503000000020004" pitchFamily="2" charset="0"/>
                  <a:ea typeface="Inter" panose="02000503000000020004" pitchFamily="2" charset="0"/>
                </a:rPr>
                <a:t>    GB                </a:t>
              </a:r>
              <a:r>
                <a:rPr lang="en-US" sz="1200" b="1" dirty="0">
                  <a:solidFill>
                    <a:srgbClr val="FFC000"/>
                  </a:solidFill>
                  <a:latin typeface="Inter" panose="02000503000000020004" pitchFamily="2" charset="0"/>
                  <a:ea typeface="Inter" panose="02000503000000020004" pitchFamily="2" charset="0"/>
                </a:rPr>
                <a:t>€</a:t>
              </a:r>
              <a:r>
                <a:rPr lang="en-GB" sz="1200" b="1" i="1" dirty="0">
                  <a:solidFill>
                    <a:srgbClr val="FFC000"/>
                  </a:solidFill>
                  <a:latin typeface="Inter" panose="02000503000000020004" pitchFamily="2" charset="0"/>
                  <a:ea typeface="Inter" panose="02000503000000020004" pitchFamily="2" charset="0"/>
                </a:rPr>
                <a:t>67</a:t>
              </a:r>
            </a:p>
            <a:p>
              <a:pPr>
                <a:lnSpc>
                  <a:spcPct val="150000"/>
                </a:lnSpc>
              </a:pPr>
              <a:r>
                <a:rPr lang="en-GB" sz="1200" b="1" i="1" dirty="0">
                  <a:solidFill>
                    <a:schemeClr val="bg1"/>
                  </a:solidFill>
                  <a:latin typeface="Inter" panose="02000503000000020004" pitchFamily="2" charset="0"/>
                  <a:ea typeface="Inter" panose="02000503000000020004" pitchFamily="2" charset="0"/>
                </a:rPr>
                <a:t>    DE                </a:t>
              </a:r>
              <a:r>
                <a:rPr lang="en-GB" sz="1200" b="1" i="1" dirty="0">
                  <a:solidFill>
                    <a:srgbClr val="FFC000"/>
                  </a:solidFill>
                  <a:latin typeface="Inter" panose="02000503000000020004" pitchFamily="2" charset="0"/>
                  <a:ea typeface="Inter" panose="02000503000000020004" pitchFamily="2" charset="0"/>
                </a:rPr>
                <a:t>€66</a:t>
              </a:r>
            </a:p>
            <a:p>
              <a:pPr>
                <a:lnSpc>
                  <a:spcPct val="150000"/>
                </a:lnSpc>
              </a:pPr>
              <a:endParaRPr lang="en-US" sz="1200" i="1" dirty="0">
                <a:solidFill>
                  <a:schemeClr val="bg2"/>
                </a:solidFill>
                <a:latin typeface="Inter" panose="02000503000000020004" pitchFamily="2" charset="0"/>
                <a:ea typeface="Inter" panose="02000503000000020004" pitchFamily="2" charset="0"/>
              </a:endParaRPr>
            </a:p>
          </p:txBody>
        </p:sp>
        <p:sp>
          <p:nvSpPr>
            <p:cNvPr id="22" name="Rectangle: Rounded Corners 21">
              <a:extLst>
                <a:ext uri="{FF2B5EF4-FFF2-40B4-BE49-F238E27FC236}">
                  <a16:creationId xmlns:a16="http://schemas.microsoft.com/office/drawing/2014/main" id="{7E485934-662C-CA0F-345D-3071F59E4977}"/>
                </a:ext>
              </a:extLst>
            </p:cNvPr>
            <p:cNvSpPr/>
            <p:nvPr/>
          </p:nvSpPr>
          <p:spPr>
            <a:xfrm>
              <a:off x="902707" y="3124827"/>
              <a:ext cx="2016000" cy="270030"/>
            </a:xfrm>
            <a:prstGeom prst="roundRect">
              <a:avLst>
                <a:gd name="adj" fmla="val 50000"/>
              </a:avLst>
            </a:prstGeom>
            <a:solidFill>
              <a:srgbClr val="FFC000">
                <a:alpha val="50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latin typeface="Inter" panose="02000503000000020004" pitchFamily="2" charset="0"/>
                  <a:ea typeface="Inter" panose="02000503000000020004" pitchFamily="2" charset="0"/>
                </a:rPr>
                <a:t>GB +€3 | DE +€15</a:t>
              </a:r>
              <a:endParaRPr lang="en-US" sz="1100" dirty="0">
                <a:latin typeface="Inter" panose="02000503000000020004" pitchFamily="2" charset="0"/>
                <a:ea typeface="Inter" panose="02000503000000020004" pitchFamily="2" charset="0"/>
              </a:endParaRPr>
            </a:p>
          </p:txBody>
        </p:sp>
        <p:pic>
          <p:nvPicPr>
            <p:cNvPr id="23" name="Picture 22">
              <a:extLst>
                <a:ext uri="{FF2B5EF4-FFF2-40B4-BE49-F238E27FC236}">
                  <a16:creationId xmlns:a16="http://schemas.microsoft.com/office/drawing/2014/main" id="{075827ED-8EED-6C47-06E6-ECC1BC153C1A}"/>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17824" r="17824"/>
            <a:stretch>
              <a:fillRect/>
            </a:stretch>
          </p:blipFill>
          <p:spPr>
            <a:xfrm>
              <a:off x="1001448" y="2357888"/>
              <a:ext cx="126000" cy="126000"/>
            </a:xfrm>
            <a:prstGeom prst="ellipse">
              <a:avLst/>
            </a:prstGeom>
          </p:spPr>
        </p:pic>
        <p:pic>
          <p:nvPicPr>
            <p:cNvPr id="24" name="Picture 23">
              <a:extLst>
                <a:ext uri="{FF2B5EF4-FFF2-40B4-BE49-F238E27FC236}">
                  <a16:creationId xmlns:a16="http://schemas.microsoft.com/office/drawing/2014/main" id="{C085BCE9-6B2F-B305-A4D5-85CC31766AAF}"/>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20000" r="20000"/>
            <a:stretch>
              <a:fillRect/>
            </a:stretch>
          </p:blipFill>
          <p:spPr>
            <a:xfrm>
              <a:off x="1001448" y="2654928"/>
              <a:ext cx="126000" cy="126000"/>
            </a:xfrm>
            <a:prstGeom prst="ellipse">
              <a:avLst/>
            </a:prstGeom>
          </p:spPr>
        </p:pic>
        <p:grpSp>
          <p:nvGrpSpPr>
            <p:cNvPr id="58" name="Group 57">
              <a:extLst>
                <a:ext uri="{FF2B5EF4-FFF2-40B4-BE49-F238E27FC236}">
                  <a16:creationId xmlns:a16="http://schemas.microsoft.com/office/drawing/2014/main" id="{A1307C53-EB5C-26C9-1B1B-CDEE9A62C70A}"/>
                </a:ext>
              </a:extLst>
            </p:cNvPr>
            <p:cNvGrpSpPr/>
            <p:nvPr/>
          </p:nvGrpSpPr>
          <p:grpSpPr>
            <a:xfrm>
              <a:off x="902707" y="1895108"/>
              <a:ext cx="192024" cy="1051560"/>
              <a:chOff x="946800" y="1836576"/>
              <a:chExt cx="192024" cy="1051560"/>
            </a:xfrm>
          </p:grpSpPr>
          <p:cxnSp>
            <p:nvCxnSpPr>
              <p:cNvPr id="43" name="Straight Connector 42">
                <a:extLst>
                  <a:ext uri="{FF2B5EF4-FFF2-40B4-BE49-F238E27FC236}">
                    <a16:creationId xmlns:a16="http://schemas.microsoft.com/office/drawing/2014/main" id="{CA015528-C5A7-DA99-41C9-7A1A5DD5107A}"/>
                  </a:ext>
                </a:extLst>
              </p:cNvPr>
              <p:cNvCxnSpPr>
                <a:cxnSpLocks/>
              </p:cNvCxnSpPr>
              <p:nvPr/>
            </p:nvCxnSpPr>
            <p:spPr>
              <a:xfrm>
                <a:off x="946800" y="2008600"/>
                <a:ext cx="0" cy="714760"/>
              </a:xfrm>
              <a:prstGeom prst="line">
                <a:avLst/>
              </a:prstGeom>
              <a:ln w="25400">
                <a:solidFill>
                  <a:srgbClr val="7F46EA"/>
                </a:solidFill>
              </a:ln>
            </p:spPr>
            <p:style>
              <a:lnRef idx="1">
                <a:schemeClr val="accent1"/>
              </a:lnRef>
              <a:fillRef idx="0">
                <a:schemeClr val="accent1"/>
              </a:fillRef>
              <a:effectRef idx="0">
                <a:schemeClr val="accent1"/>
              </a:effectRef>
              <a:fontRef idx="minor">
                <a:schemeClr val="tx1"/>
              </a:fontRef>
            </p:style>
          </p:cxnSp>
          <p:sp>
            <p:nvSpPr>
              <p:cNvPr id="44" name="Freeform: Shape 43">
                <a:extLst>
                  <a:ext uri="{FF2B5EF4-FFF2-40B4-BE49-F238E27FC236}">
                    <a16:creationId xmlns:a16="http://schemas.microsoft.com/office/drawing/2014/main" id="{2F20E601-0674-2AC0-01EC-7C5DD489DC10}"/>
                  </a:ext>
                </a:extLst>
              </p:cNvPr>
              <p:cNvSpPr/>
              <p:nvPr/>
            </p:nvSpPr>
            <p:spPr>
              <a:xfrm>
                <a:off x="946800" y="1836576"/>
                <a:ext cx="192024" cy="164592"/>
              </a:xfrm>
              <a:custGeom>
                <a:avLst/>
                <a:gdLst>
                  <a:gd name="connsiteX0" fmla="*/ 0 w 182880"/>
                  <a:gd name="connsiteY0" fmla="*/ 201168 h 201168"/>
                  <a:gd name="connsiteX1" fmla="*/ 182880 w 182880"/>
                  <a:gd name="connsiteY1" fmla="*/ 0 h 201168"/>
                  <a:gd name="connsiteX0" fmla="*/ 0 w 192024"/>
                  <a:gd name="connsiteY0" fmla="*/ 164592 h 164592"/>
                  <a:gd name="connsiteX1" fmla="*/ 192024 w 192024"/>
                  <a:gd name="connsiteY1" fmla="*/ 0 h 164592"/>
                </a:gdLst>
                <a:ahLst/>
                <a:cxnLst>
                  <a:cxn ang="0">
                    <a:pos x="connsiteX0" y="connsiteY0"/>
                  </a:cxn>
                  <a:cxn ang="0">
                    <a:pos x="connsiteX1" y="connsiteY1"/>
                  </a:cxn>
                </a:cxnLst>
                <a:rect l="l" t="t" r="r" b="b"/>
                <a:pathLst>
                  <a:path w="192024" h="164592">
                    <a:moveTo>
                      <a:pt x="0" y="164592"/>
                    </a:moveTo>
                    <a:cubicBezTo>
                      <a:pt x="20574" y="79248"/>
                      <a:pt x="50292" y="30480"/>
                      <a:pt x="192024" y="0"/>
                    </a:cubicBezTo>
                  </a:path>
                </a:pathLst>
              </a:custGeom>
              <a:noFill/>
              <a:ln w="25400">
                <a:solidFill>
                  <a:srgbClr val="7F46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A9EBBE91-FF98-C794-8CEA-4BD68C003874}"/>
                  </a:ext>
                </a:extLst>
              </p:cNvPr>
              <p:cNvSpPr/>
              <p:nvPr/>
            </p:nvSpPr>
            <p:spPr>
              <a:xfrm flipV="1">
                <a:off x="946800" y="2714400"/>
                <a:ext cx="182880" cy="173736"/>
              </a:xfrm>
              <a:custGeom>
                <a:avLst/>
                <a:gdLst>
                  <a:gd name="connsiteX0" fmla="*/ 0 w 182880"/>
                  <a:gd name="connsiteY0" fmla="*/ 201168 h 201168"/>
                  <a:gd name="connsiteX1" fmla="*/ 182880 w 182880"/>
                  <a:gd name="connsiteY1" fmla="*/ 0 h 201168"/>
                  <a:gd name="connsiteX0" fmla="*/ 0 w 182880"/>
                  <a:gd name="connsiteY0" fmla="*/ 173736 h 173736"/>
                  <a:gd name="connsiteX1" fmla="*/ 182880 w 182880"/>
                  <a:gd name="connsiteY1" fmla="*/ 0 h 173736"/>
                </a:gdLst>
                <a:ahLst/>
                <a:cxnLst>
                  <a:cxn ang="0">
                    <a:pos x="connsiteX0" y="connsiteY0"/>
                  </a:cxn>
                  <a:cxn ang="0">
                    <a:pos x="connsiteX1" y="connsiteY1"/>
                  </a:cxn>
                </a:cxnLst>
                <a:rect l="l" t="t" r="r" b="b"/>
                <a:pathLst>
                  <a:path w="182880" h="173736">
                    <a:moveTo>
                      <a:pt x="0" y="173736"/>
                    </a:moveTo>
                    <a:cubicBezTo>
                      <a:pt x="20574" y="88392"/>
                      <a:pt x="41148" y="30480"/>
                      <a:pt x="182880" y="0"/>
                    </a:cubicBezTo>
                  </a:path>
                </a:pathLst>
              </a:custGeom>
              <a:noFill/>
              <a:ln w="25400">
                <a:solidFill>
                  <a:srgbClr val="7F46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3" name="Rectangle: Rounded Corners 72">
              <a:extLst>
                <a:ext uri="{FF2B5EF4-FFF2-40B4-BE49-F238E27FC236}">
                  <a16:creationId xmlns:a16="http://schemas.microsoft.com/office/drawing/2014/main" id="{C252E015-3874-ED6B-2B42-B60C665A607A}"/>
                </a:ext>
              </a:extLst>
            </p:cNvPr>
            <p:cNvSpPr/>
            <p:nvPr/>
          </p:nvSpPr>
          <p:spPr>
            <a:xfrm>
              <a:off x="2682607" y="1904070"/>
              <a:ext cx="1584176" cy="1033636"/>
            </a:xfrm>
            <a:prstGeom prst="roundRect">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en-GB" sz="1200" b="1" dirty="0">
                <a:solidFill>
                  <a:schemeClr val="bg1"/>
                </a:solidFill>
                <a:latin typeface="Inter" panose="02000503000000020004" pitchFamily="2" charset="0"/>
                <a:ea typeface="Inter" panose="02000503000000020004" pitchFamily="2" charset="0"/>
              </a:endParaRPr>
            </a:p>
            <a:p>
              <a:pPr>
                <a:lnSpc>
                  <a:spcPct val="150000"/>
                </a:lnSpc>
              </a:pPr>
              <a:r>
                <a:rPr lang="en-GB" sz="1200" b="1" dirty="0">
                  <a:solidFill>
                    <a:schemeClr val="bg1"/>
                  </a:solidFill>
                  <a:latin typeface="Inter" panose="02000503000000020004" pitchFamily="2" charset="0"/>
                  <a:ea typeface="Inter" panose="02000503000000020004" pitchFamily="2" charset="0"/>
                </a:rPr>
                <a:t>2023 Q1</a:t>
              </a:r>
            </a:p>
            <a:p>
              <a:pPr>
                <a:lnSpc>
                  <a:spcPct val="150000"/>
                </a:lnSpc>
              </a:pPr>
              <a:r>
                <a:rPr lang="en-GB" sz="1200" b="1" i="1" dirty="0">
                  <a:solidFill>
                    <a:schemeClr val="bg1"/>
                  </a:solidFill>
                  <a:latin typeface="Inter" panose="02000503000000020004" pitchFamily="2" charset="0"/>
                  <a:ea typeface="Inter" panose="02000503000000020004" pitchFamily="2" charset="0"/>
                </a:rPr>
                <a:t>    GB                </a:t>
              </a:r>
              <a:r>
                <a:rPr lang="en-US" sz="1200" b="1" dirty="0">
                  <a:solidFill>
                    <a:srgbClr val="FFC000"/>
                  </a:solidFill>
                  <a:latin typeface="Inter" panose="02000503000000020004" pitchFamily="2" charset="0"/>
                  <a:ea typeface="Inter" panose="02000503000000020004" pitchFamily="2" charset="0"/>
                </a:rPr>
                <a:t>€</a:t>
              </a:r>
              <a:r>
                <a:rPr lang="en-GB" sz="1200" b="1" i="1" dirty="0">
                  <a:solidFill>
                    <a:srgbClr val="FFC000"/>
                  </a:solidFill>
                  <a:latin typeface="Inter" panose="02000503000000020004" pitchFamily="2" charset="0"/>
                  <a:ea typeface="Inter" panose="02000503000000020004" pitchFamily="2" charset="0"/>
                </a:rPr>
                <a:t>70</a:t>
              </a:r>
            </a:p>
            <a:p>
              <a:pPr>
                <a:lnSpc>
                  <a:spcPct val="150000"/>
                </a:lnSpc>
              </a:pPr>
              <a:r>
                <a:rPr lang="en-GB" sz="1200" b="1" i="1" dirty="0">
                  <a:solidFill>
                    <a:schemeClr val="bg1"/>
                  </a:solidFill>
                  <a:latin typeface="Inter" panose="02000503000000020004" pitchFamily="2" charset="0"/>
                  <a:ea typeface="Inter" panose="02000503000000020004" pitchFamily="2" charset="0"/>
                </a:rPr>
                <a:t>    DE                </a:t>
              </a:r>
              <a:r>
                <a:rPr lang="en-GB" sz="1200" b="1" i="1" dirty="0">
                  <a:solidFill>
                    <a:srgbClr val="FFC000"/>
                  </a:solidFill>
                  <a:latin typeface="Inter" panose="02000503000000020004" pitchFamily="2" charset="0"/>
                  <a:ea typeface="Inter" panose="02000503000000020004" pitchFamily="2" charset="0"/>
                </a:rPr>
                <a:t>€81</a:t>
              </a:r>
            </a:p>
            <a:p>
              <a:pPr>
                <a:lnSpc>
                  <a:spcPct val="150000"/>
                </a:lnSpc>
              </a:pPr>
              <a:endParaRPr lang="en-US" sz="1200" i="1" dirty="0">
                <a:solidFill>
                  <a:schemeClr val="bg2"/>
                </a:solidFill>
                <a:latin typeface="Inter" panose="02000503000000020004" pitchFamily="2" charset="0"/>
                <a:ea typeface="Inter" panose="02000503000000020004" pitchFamily="2" charset="0"/>
              </a:endParaRPr>
            </a:p>
          </p:txBody>
        </p:sp>
        <p:pic>
          <p:nvPicPr>
            <p:cNvPr id="74" name="Picture 73">
              <a:extLst>
                <a:ext uri="{FF2B5EF4-FFF2-40B4-BE49-F238E27FC236}">
                  <a16:creationId xmlns:a16="http://schemas.microsoft.com/office/drawing/2014/main" id="{CFF84556-8997-652F-4C50-93765B79A2A9}"/>
                </a:ext>
              </a:extLst>
            </p:cNvPr>
            <p:cNvPicPr>
              <a:picLocks noChangeAspect="1"/>
            </p:cNvPicPr>
            <p:nvPr/>
          </p:nvPicPr>
          <p:blipFill rotWithShape="1">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17824" r="17824"/>
            <a:stretch>
              <a:fillRect/>
            </a:stretch>
          </p:blipFill>
          <p:spPr>
            <a:xfrm>
              <a:off x="2790619" y="2357888"/>
              <a:ext cx="126000" cy="126000"/>
            </a:xfrm>
            <a:prstGeom prst="ellipse">
              <a:avLst/>
            </a:prstGeom>
          </p:spPr>
        </p:pic>
        <p:pic>
          <p:nvPicPr>
            <p:cNvPr id="75" name="Picture 74">
              <a:extLst>
                <a:ext uri="{FF2B5EF4-FFF2-40B4-BE49-F238E27FC236}">
                  <a16:creationId xmlns:a16="http://schemas.microsoft.com/office/drawing/2014/main" id="{C859C830-F9F2-3F92-288C-5D65E6053A73}"/>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20000" r="20000"/>
            <a:stretch>
              <a:fillRect/>
            </a:stretch>
          </p:blipFill>
          <p:spPr>
            <a:xfrm>
              <a:off x="2790619" y="2654928"/>
              <a:ext cx="126000" cy="126000"/>
            </a:xfrm>
            <a:prstGeom prst="ellipse">
              <a:avLst/>
            </a:prstGeom>
          </p:spPr>
        </p:pic>
        <p:grpSp>
          <p:nvGrpSpPr>
            <p:cNvPr id="85" name="Group 84">
              <a:extLst>
                <a:ext uri="{FF2B5EF4-FFF2-40B4-BE49-F238E27FC236}">
                  <a16:creationId xmlns:a16="http://schemas.microsoft.com/office/drawing/2014/main" id="{8ED5DFEB-3EED-BFAB-F50F-6F8FAB560A71}"/>
                </a:ext>
              </a:extLst>
            </p:cNvPr>
            <p:cNvGrpSpPr/>
            <p:nvPr/>
          </p:nvGrpSpPr>
          <p:grpSpPr>
            <a:xfrm>
              <a:off x="2681979" y="1895108"/>
              <a:ext cx="192024" cy="1051560"/>
              <a:chOff x="946800" y="1836576"/>
              <a:chExt cx="192024" cy="1051560"/>
            </a:xfrm>
          </p:grpSpPr>
          <p:cxnSp>
            <p:nvCxnSpPr>
              <p:cNvPr id="91" name="Straight Connector 90">
                <a:extLst>
                  <a:ext uri="{FF2B5EF4-FFF2-40B4-BE49-F238E27FC236}">
                    <a16:creationId xmlns:a16="http://schemas.microsoft.com/office/drawing/2014/main" id="{C067FA8D-9C09-CAB6-DE10-48A386870A78}"/>
                  </a:ext>
                </a:extLst>
              </p:cNvPr>
              <p:cNvCxnSpPr>
                <a:cxnSpLocks/>
              </p:cNvCxnSpPr>
              <p:nvPr/>
            </p:nvCxnSpPr>
            <p:spPr>
              <a:xfrm>
                <a:off x="946800" y="2008600"/>
                <a:ext cx="0" cy="714760"/>
              </a:xfrm>
              <a:prstGeom prst="line">
                <a:avLst/>
              </a:prstGeom>
              <a:ln w="25400">
                <a:solidFill>
                  <a:srgbClr val="09A472"/>
                </a:solidFill>
              </a:ln>
            </p:spPr>
            <p:style>
              <a:lnRef idx="1">
                <a:schemeClr val="accent1"/>
              </a:lnRef>
              <a:fillRef idx="0">
                <a:schemeClr val="accent1"/>
              </a:fillRef>
              <a:effectRef idx="0">
                <a:schemeClr val="accent1"/>
              </a:effectRef>
              <a:fontRef idx="minor">
                <a:schemeClr val="tx1"/>
              </a:fontRef>
            </p:style>
          </p:cxnSp>
          <p:sp>
            <p:nvSpPr>
              <p:cNvPr id="93" name="Freeform: Shape 92">
                <a:extLst>
                  <a:ext uri="{FF2B5EF4-FFF2-40B4-BE49-F238E27FC236}">
                    <a16:creationId xmlns:a16="http://schemas.microsoft.com/office/drawing/2014/main" id="{E647C64B-22A4-73CE-D248-739ED15A8E18}"/>
                  </a:ext>
                </a:extLst>
              </p:cNvPr>
              <p:cNvSpPr/>
              <p:nvPr/>
            </p:nvSpPr>
            <p:spPr>
              <a:xfrm>
                <a:off x="946800" y="1836576"/>
                <a:ext cx="192024" cy="164592"/>
              </a:xfrm>
              <a:custGeom>
                <a:avLst/>
                <a:gdLst>
                  <a:gd name="connsiteX0" fmla="*/ 0 w 182880"/>
                  <a:gd name="connsiteY0" fmla="*/ 201168 h 201168"/>
                  <a:gd name="connsiteX1" fmla="*/ 182880 w 182880"/>
                  <a:gd name="connsiteY1" fmla="*/ 0 h 201168"/>
                  <a:gd name="connsiteX0" fmla="*/ 0 w 192024"/>
                  <a:gd name="connsiteY0" fmla="*/ 164592 h 164592"/>
                  <a:gd name="connsiteX1" fmla="*/ 192024 w 192024"/>
                  <a:gd name="connsiteY1" fmla="*/ 0 h 164592"/>
                </a:gdLst>
                <a:ahLst/>
                <a:cxnLst>
                  <a:cxn ang="0">
                    <a:pos x="connsiteX0" y="connsiteY0"/>
                  </a:cxn>
                  <a:cxn ang="0">
                    <a:pos x="connsiteX1" y="connsiteY1"/>
                  </a:cxn>
                </a:cxnLst>
                <a:rect l="l" t="t" r="r" b="b"/>
                <a:pathLst>
                  <a:path w="192024" h="164592">
                    <a:moveTo>
                      <a:pt x="0" y="164592"/>
                    </a:moveTo>
                    <a:cubicBezTo>
                      <a:pt x="20574" y="79248"/>
                      <a:pt x="50292" y="30480"/>
                      <a:pt x="192024" y="0"/>
                    </a:cubicBezTo>
                  </a:path>
                </a:pathLst>
              </a:custGeom>
              <a:noFill/>
              <a:ln w="25400">
                <a:solidFill>
                  <a:srgbClr val="09A4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reeform: Shape 94">
                <a:extLst>
                  <a:ext uri="{FF2B5EF4-FFF2-40B4-BE49-F238E27FC236}">
                    <a16:creationId xmlns:a16="http://schemas.microsoft.com/office/drawing/2014/main" id="{CC41DA2A-539C-1DC5-7015-37310FB27C76}"/>
                  </a:ext>
                </a:extLst>
              </p:cNvPr>
              <p:cNvSpPr/>
              <p:nvPr/>
            </p:nvSpPr>
            <p:spPr>
              <a:xfrm flipV="1">
                <a:off x="946800" y="2714400"/>
                <a:ext cx="182880" cy="173736"/>
              </a:xfrm>
              <a:custGeom>
                <a:avLst/>
                <a:gdLst>
                  <a:gd name="connsiteX0" fmla="*/ 0 w 182880"/>
                  <a:gd name="connsiteY0" fmla="*/ 201168 h 201168"/>
                  <a:gd name="connsiteX1" fmla="*/ 182880 w 182880"/>
                  <a:gd name="connsiteY1" fmla="*/ 0 h 201168"/>
                  <a:gd name="connsiteX0" fmla="*/ 0 w 182880"/>
                  <a:gd name="connsiteY0" fmla="*/ 173736 h 173736"/>
                  <a:gd name="connsiteX1" fmla="*/ 182880 w 182880"/>
                  <a:gd name="connsiteY1" fmla="*/ 0 h 173736"/>
                </a:gdLst>
                <a:ahLst/>
                <a:cxnLst>
                  <a:cxn ang="0">
                    <a:pos x="connsiteX0" y="connsiteY0"/>
                  </a:cxn>
                  <a:cxn ang="0">
                    <a:pos x="connsiteX1" y="connsiteY1"/>
                  </a:cxn>
                </a:cxnLst>
                <a:rect l="l" t="t" r="r" b="b"/>
                <a:pathLst>
                  <a:path w="182880" h="173736">
                    <a:moveTo>
                      <a:pt x="0" y="173736"/>
                    </a:moveTo>
                    <a:cubicBezTo>
                      <a:pt x="20574" y="88392"/>
                      <a:pt x="41148" y="30480"/>
                      <a:pt x="182880" y="0"/>
                    </a:cubicBezTo>
                  </a:path>
                </a:pathLst>
              </a:custGeom>
              <a:noFill/>
              <a:ln w="25400">
                <a:solidFill>
                  <a:srgbClr val="09A4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5" name="TextBox 174">
              <a:extLst>
                <a:ext uri="{FF2B5EF4-FFF2-40B4-BE49-F238E27FC236}">
                  <a16:creationId xmlns:a16="http://schemas.microsoft.com/office/drawing/2014/main" id="{99F4FB52-84B1-D197-0B4F-94A40982C88B}"/>
                </a:ext>
              </a:extLst>
            </p:cNvPr>
            <p:cNvSpPr txBox="1"/>
            <p:nvPr/>
          </p:nvSpPr>
          <p:spPr>
            <a:xfrm>
              <a:off x="1101600" y="1472400"/>
              <a:ext cx="455712" cy="369332"/>
            </a:xfrm>
            <a:prstGeom prst="rect">
              <a:avLst/>
            </a:prstGeom>
            <a:noFill/>
          </p:spPr>
          <p:txBody>
            <a:bodyPr wrap="square">
              <a:spAutoFit/>
            </a:bodyPr>
            <a:lstStyle/>
            <a:p>
              <a:r>
                <a:rPr lang="en-US" b="0" i="0" dirty="0">
                  <a:solidFill>
                    <a:srgbClr val="000000"/>
                  </a:solidFill>
                  <a:effectLst/>
                  <a:latin typeface="Segoe UI" panose="020B0502040204020203" pitchFamily="34" charset="0"/>
                </a:rPr>
                <a:t>💰</a:t>
              </a:r>
              <a:endParaRPr lang="en-US" dirty="0"/>
            </a:p>
          </p:txBody>
        </p:sp>
      </p:grpSp>
    </p:spTree>
    <p:extLst>
      <p:ext uri="{BB962C8B-B14F-4D97-AF65-F5344CB8AC3E}">
        <p14:creationId xmlns:p14="http://schemas.microsoft.com/office/powerpoint/2010/main" val="657075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6"/>
                                        </p:tgtEl>
                                        <p:attrNameLst>
                                          <p:attrName>style.visibility</p:attrName>
                                        </p:attrNameLst>
                                      </p:cBhvr>
                                      <p:to>
                                        <p:strVal val="visible"/>
                                      </p:to>
                                    </p:set>
                                    <p:animEffect transition="in" filter="fade">
                                      <p:cBhvr>
                                        <p:cTn id="7" dur="500"/>
                                        <p:tgtEl>
                                          <p:spTgt spid="176"/>
                                        </p:tgtEl>
                                      </p:cBhvr>
                                    </p:animEffect>
                                  </p:childTnLst>
                                </p:cTn>
                              </p:par>
                              <p:par>
                                <p:cTn id="8" presetID="6" presetClass="emph" presetSubtype="0" decel="40000" fill="hold" nodeType="withEffect">
                                  <p:stCondLst>
                                    <p:cond delay="0"/>
                                  </p:stCondLst>
                                  <p:childTnLst>
                                    <p:animScale>
                                      <p:cBhvr>
                                        <p:cTn id="9" dur="500" fill="hold"/>
                                        <p:tgtEl>
                                          <p:spTgt spid="176"/>
                                        </p:tgtEl>
                                      </p:cBhvr>
                                      <p:by x="95000" y="95000"/>
                                    </p:animScale>
                                  </p:childTnLst>
                                </p:cTn>
                              </p:par>
                            </p:childTnLst>
                          </p:cTn>
                        </p:par>
                        <p:par>
                          <p:cTn id="10" fill="hold">
                            <p:stCondLst>
                              <p:cond delay="500"/>
                            </p:stCondLst>
                            <p:childTnLst>
                              <p:par>
                                <p:cTn id="11" presetID="10" presetClass="entr" presetSubtype="0" fill="hold" nodeType="afterEffect">
                                  <p:stCondLst>
                                    <p:cond delay="200"/>
                                  </p:stCondLst>
                                  <p:childTnLst>
                                    <p:set>
                                      <p:cBhvr>
                                        <p:cTn id="12" dur="1" fill="hold">
                                          <p:stCondLst>
                                            <p:cond delay="0"/>
                                          </p:stCondLst>
                                        </p:cTn>
                                        <p:tgtEl>
                                          <p:spTgt spid="177"/>
                                        </p:tgtEl>
                                        <p:attrNameLst>
                                          <p:attrName>style.visibility</p:attrName>
                                        </p:attrNameLst>
                                      </p:cBhvr>
                                      <p:to>
                                        <p:strVal val="visible"/>
                                      </p:to>
                                    </p:set>
                                    <p:animEffect transition="in" filter="fade">
                                      <p:cBhvr>
                                        <p:cTn id="13" dur="500"/>
                                        <p:tgtEl>
                                          <p:spTgt spid="177"/>
                                        </p:tgtEl>
                                      </p:cBhvr>
                                    </p:animEffect>
                                  </p:childTnLst>
                                </p:cTn>
                              </p:par>
                              <p:par>
                                <p:cTn id="14" presetID="6" presetClass="emph" presetSubtype="0" decel="40000" fill="hold" nodeType="withEffect">
                                  <p:stCondLst>
                                    <p:cond delay="0"/>
                                  </p:stCondLst>
                                  <p:childTnLst>
                                    <p:animScale>
                                      <p:cBhvr>
                                        <p:cTn id="15" dur="500" fill="hold"/>
                                        <p:tgtEl>
                                          <p:spTgt spid="177"/>
                                        </p:tgtEl>
                                      </p:cBhvr>
                                      <p:by x="95000" y="95000"/>
                                    </p:animScale>
                                  </p:childTnLst>
                                </p:cTn>
                              </p:par>
                            </p:childTnLst>
                          </p:cTn>
                        </p:par>
                        <p:par>
                          <p:cTn id="16" fill="hold">
                            <p:stCondLst>
                              <p:cond delay="1200"/>
                            </p:stCondLst>
                            <p:childTnLst>
                              <p:par>
                                <p:cTn id="17" presetID="10" presetClass="entr" presetSubtype="0" fill="hold" grpId="0" nodeType="afterEffect">
                                  <p:stCondLst>
                                    <p:cond delay="200"/>
                                  </p:stCondLst>
                                  <p:childTnLst>
                                    <p:set>
                                      <p:cBhvr>
                                        <p:cTn id="18" dur="1" fill="hold">
                                          <p:stCondLst>
                                            <p:cond delay="0"/>
                                          </p:stCondLst>
                                        </p:cTn>
                                        <p:tgtEl>
                                          <p:spTgt spid="164"/>
                                        </p:tgtEl>
                                        <p:attrNameLst>
                                          <p:attrName>style.visibility</p:attrName>
                                        </p:attrNameLst>
                                      </p:cBhvr>
                                      <p:to>
                                        <p:strVal val="visible"/>
                                      </p:to>
                                    </p:set>
                                    <p:animEffect transition="in" filter="fade">
                                      <p:cBhvr>
                                        <p:cTn id="19" dur="500"/>
                                        <p:tgtEl>
                                          <p:spTgt spid="164"/>
                                        </p:tgtEl>
                                      </p:cBhvr>
                                    </p:animEffect>
                                  </p:childTnLst>
                                </p:cTn>
                              </p:par>
                              <p:par>
                                <p:cTn id="20" presetID="6" presetClass="emph" presetSubtype="0" decel="40000" fill="hold" grpId="1" nodeType="withEffect">
                                  <p:stCondLst>
                                    <p:cond delay="0"/>
                                  </p:stCondLst>
                                  <p:childTnLst>
                                    <p:animScale>
                                      <p:cBhvr>
                                        <p:cTn id="21" dur="500" fill="hold"/>
                                        <p:tgtEl>
                                          <p:spTgt spid="164"/>
                                        </p:tgtEl>
                                      </p:cBhvr>
                                      <p:by x="95000" y="95000"/>
                                    </p:animScale>
                                  </p:childTnLst>
                                </p:cTn>
                              </p:par>
                            </p:childTnLst>
                          </p:cTn>
                        </p:par>
                        <p:par>
                          <p:cTn id="22" fill="hold">
                            <p:stCondLst>
                              <p:cond delay="1900"/>
                            </p:stCondLst>
                            <p:childTnLst>
                              <p:par>
                                <p:cTn id="23" presetID="10" presetClass="entr" presetSubtype="0" fill="hold" nodeType="afterEffect">
                                  <p:stCondLst>
                                    <p:cond delay="200"/>
                                  </p:stCondLst>
                                  <p:childTnLst>
                                    <p:set>
                                      <p:cBhvr>
                                        <p:cTn id="24" dur="1" fill="hold">
                                          <p:stCondLst>
                                            <p:cond delay="0"/>
                                          </p:stCondLst>
                                        </p:cTn>
                                        <p:tgtEl>
                                          <p:spTgt spid="181"/>
                                        </p:tgtEl>
                                        <p:attrNameLst>
                                          <p:attrName>style.visibility</p:attrName>
                                        </p:attrNameLst>
                                      </p:cBhvr>
                                      <p:to>
                                        <p:strVal val="visible"/>
                                      </p:to>
                                    </p:set>
                                    <p:animEffect transition="in" filter="fade">
                                      <p:cBhvr>
                                        <p:cTn id="25" dur="500"/>
                                        <p:tgtEl>
                                          <p:spTgt spid="181"/>
                                        </p:tgtEl>
                                      </p:cBhvr>
                                    </p:animEffect>
                                  </p:childTnLst>
                                </p:cTn>
                              </p:par>
                              <p:par>
                                <p:cTn id="26" presetID="6" presetClass="emph" presetSubtype="0" decel="40000" fill="hold" nodeType="withEffect">
                                  <p:stCondLst>
                                    <p:cond delay="0"/>
                                  </p:stCondLst>
                                  <p:childTnLst>
                                    <p:animScale>
                                      <p:cBhvr>
                                        <p:cTn id="27" dur="500" fill="hold"/>
                                        <p:tgtEl>
                                          <p:spTgt spid="181"/>
                                        </p:tgtEl>
                                      </p:cBhvr>
                                      <p:by x="95000" y="95000"/>
                                    </p:animScale>
                                  </p:childTnLst>
                                </p:cTn>
                              </p:par>
                            </p:childTnLst>
                          </p:cTn>
                        </p:par>
                        <p:par>
                          <p:cTn id="28" fill="hold">
                            <p:stCondLst>
                              <p:cond delay="2600"/>
                            </p:stCondLst>
                            <p:childTnLst>
                              <p:par>
                                <p:cTn id="29" presetID="2" presetClass="entr" presetSubtype="2" accel="41667" fill="hold" nodeType="afterEffect">
                                  <p:stCondLst>
                                    <p:cond delay="300"/>
                                  </p:stCondLst>
                                  <p:childTnLst>
                                    <p:set>
                                      <p:cBhvr>
                                        <p:cTn id="30" dur="1" fill="hold">
                                          <p:stCondLst>
                                            <p:cond delay="0"/>
                                          </p:stCondLst>
                                        </p:cTn>
                                        <p:tgtEl>
                                          <p:spTgt spid="180"/>
                                        </p:tgtEl>
                                        <p:attrNameLst>
                                          <p:attrName>style.visibility</p:attrName>
                                        </p:attrNameLst>
                                      </p:cBhvr>
                                      <p:to>
                                        <p:strVal val="visible"/>
                                      </p:to>
                                    </p:set>
                                    <p:anim calcmode="lin" valueType="num">
                                      <p:cBhvr additive="base">
                                        <p:cTn id="31" dur="600" fill="hold"/>
                                        <p:tgtEl>
                                          <p:spTgt spid="180"/>
                                        </p:tgtEl>
                                        <p:attrNameLst>
                                          <p:attrName>ppt_x</p:attrName>
                                        </p:attrNameLst>
                                      </p:cBhvr>
                                      <p:tavLst>
                                        <p:tav tm="0">
                                          <p:val>
                                            <p:strVal val="1+#ppt_w/2"/>
                                          </p:val>
                                        </p:tav>
                                        <p:tav tm="100000">
                                          <p:val>
                                            <p:strVal val="#ppt_x"/>
                                          </p:val>
                                        </p:tav>
                                      </p:tavLst>
                                    </p:anim>
                                    <p:anim calcmode="lin" valueType="num">
                                      <p:cBhvr additive="base">
                                        <p:cTn id="32" dur="600" fill="hold"/>
                                        <p:tgtEl>
                                          <p:spTgt spid="180"/>
                                        </p:tgtEl>
                                        <p:attrNameLst>
                                          <p:attrName>ppt_y</p:attrName>
                                        </p:attrNameLst>
                                      </p:cBhvr>
                                      <p:tavLst>
                                        <p:tav tm="0">
                                          <p:val>
                                            <p:strVal val="#ppt_y"/>
                                          </p:val>
                                        </p:tav>
                                        <p:tav tm="100000">
                                          <p:val>
                                            <p:strVal val="#ppt_y"/>
                                          </p:val>
                                        </p:tav>
                                      </p:tavLst>
                                    </p:anim>
                                  </p:childTnLst>
                                </p:cTn>
                              </p:par>
                            </p:childTnLst>
                          </p:cTn>
                        </p:par>
                        <p:par>
                          <p:cTn id="33" fill="hold">
                            <p:stCondLst>
                              <p:cond delay="3500"/>
                            </p:stCondLst>
                            <p:childTnLst>
                              <p:par>
                                <p:cTn id="34" presetID="2" presetClass="entr" presetSubtype="4" accel="41667" fill="hold" grpId="0" nodeType="afterEffect">
                                  <p:stCondLst>
                                    <p:cond delay="300"/>
                                  </p:stCondLst>
                                  <p:childTnLst>
                                    <p:set>
                                      <p:cBhvr>
                                        <p:cTn id="35" dur="1" fill="hold">
                                          <p:stCondLst>
                                            <p:cond delay="0"/>
                                          </p:stCondLst>
                                        </p:cTn>
                                        <p:tgtEl>
                                          <p:spTgt spid="167"/>
                                        </p:tgtEl>
                                        <p:attrNameLst>
                                          <p:attrName>style.visibility</p:attrName>
                                        </p:attrNameLst>
                                      </p:cBhvr>
                                      <p:to>
                                        <p:strVal val="visible"/>
                                      </p:to>
                                    </p:set>
                                    <p:anim calcmode="lin" valueType="num">
                                      <p:cBhvr additive="base">
                                        <p:cTn id="36" dur="600" fill="hold"/>
                                        <p:tgtEl>
                                          <p:spTgt spid="167"/>
                                        </p:tgtEl>
                                        <p:attrNameLst>
                                          <p:attrName>ppt_x</p:attrName>
                                        </p:attrNameLst>
                                      </p:cBhvr>
                                      <p:tavLst>
                                        <p:tav tm="0">
                                          <p:val>
                                            <p:strVal val="#ppt_x"/>
                                          </p:val>
                                        </p:tav>
                                        <p:tav tm="100000">
                                          <p:val>
                                            <p:strVal val="#ppt_x"/>
                                          </p:val>
                                        </p:tav>
                                      </p:tavLst>
                                    </p:anim>
                                    <p:anim calcmode="lin" valueType="num">
                                      <p:cBhvr additive="base">
                                        <p:cTn id="37" dur="600" fill="hold"/>
                                        <p:tgtEl>
                                          <p:spTgt spid="1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 grpId="0" animBg="1"/>
      <p:bldP spid="164" grpId="1" animBg="1"/>
      <p:bldP spid="16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2F4C"/>
        </a:solidFill>
        <a:effectLst/>
      </p:bgPr>
    </p:bg>
    <p:spTree>
      <p:nvGrpSpPr>
        <p:cNvPr id="1" name="">
          <a:extLst>
            <a:ext uri="{FF2B5EF4-FFF2-40B4-BE49-F238E27FC236}">
              <a16:creationId xmlns:a16="http://schemas.microsoft.com/office/drawing/2014/main" id="{B890C987-8207-00DB-25CB-61E485B5A10A}"/>
            </a:ext>
          </a:extLst>
        </p:cNvPr>
        <p:cNvGrpSpPr/>
        <p:nvPr/>
      </p:nvGrpSpPr>
      <p:grpSpPr>
        <a:xfrm>
          <a:off x="0" y="0"/>
          <a:ext cx="0" cy="0"/>
          <a:chOff x="0" y="0"/>
          <a:chExt cx="0" cy="0"/>
        </a:xfrm>
      </p:grpSpPr>
      <p:graphicFrame>
        <p:nvGraphicFramePr>
          <p:cNvPr id="9" name="Chart 8">
            <a:extLst>
              <a:ext uri="{FF2B5EF4-FFF2-40B4-BE49-F238E27FC236}">
                <a16:creationId xmlns:a16="http://schemas.microsoft.com/office/drawing/2014/main" id="{12E58739-3F04-6E34-EA74-6930775BBB5C}"/>
              </a:ext>
            </a:extLst>
          </p:cNvPr>
          <p:cNvGraphicFramePr/>
          <p:nvPr/>
        </p:nvGraphicFramePr>
        <p:xfrm>
          <a:off x="1181451" y="2765935"/>
          <a:ext cx="4392486" cy="3277329"/>
        </p:xfrm>
        <a:graphic>
          <a:graphicData uri="http://schemas.openxmlformats.org/drawingml/2006/chart">
            <c:chart xmlns:c="http://schemas.openxmlformats.org/drawingml/2006/chart" xmlns:r="http://schemas.openxmlformats.org/officeDocument/2006/relationships" r:id="rId2"/>
          </a:graphicData>
        </a:graphic>
      </p:graphicFrame>
      <p:sp>
        <p:nvSpPr>
          <p:cNvPr id="13" name="Rectangle: Rounded Corners 12">
            <a:extLst>
              <a:ext uri="{FF2B5EF4-FFF2-40B4-BE49-F238E27FC236}">
                <a16:creationId xmlns:a16="http://schemas.microsoft.com/office/drawing/2014/main" id="{2CAB6F81-126E-A1E7-1E4C-86ACDEC0B8AD}"/>
              </a:ext>
            </a:extLst>
          </p:cNvPr>
          <p:cNvSpPr/>
          <p:nvPr/>
        </p:nvSpPr>
        <p:spPr>
          <a:xfrm>
            <a:off x="3845748" y="2531936"/>
            <a:ext cx="900000" cy="234000"/>
          </a:xfrm>
          <a:prstGeom prst="roundRect">
            <a:avLst>
              <a:gd name="adj" fmla="val 50000"/>
            </a:avLst>
          </a:prstGeom>
          <a:solidFill>
            <a:srgbClr val="7F46EA">
              <a:alpha val="50000"/>
            </a:srgbClr>
          </a:solidFill>
          <a:ln w="25400">
            <a:solidFill>
              <a:srgbClr val="7F46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atin typeface="Inter" panose="02000503000000020004" pitchFamily="2" charset="0"/>
                <a:ea typeface="Inter" panose="02000503000000020004" pitchFamily="2" charset="0"/>
              </a:rPr>
              <a:t>2022 Q3</a:t>
            </a:r>
            <a:endParaRPr lang="en-US" sz="1200" dirty="0">
              <a:latin typeface="Inter" panose="02000503000000020004" pitchFamily="2" charset="0"/>
              <a:ea typeface="Inter" panose="02000503000000020004" pitchFamily="2" charset="0"/>
            </a:endParaRPr>
          </a:p>
        </p:txBody>
      </p:sp>
      <p:cxnSp>
        <p:nvCxnSpPr>
          <p:cNvPr id="20" name="Straight Connector 19">
            <a:extLst>
              <a:ext uri="{FF2B5EF4-FFF2-40B4-BE49-F238E27FC236}">
                <a16:creationId xmlns:a16="http://schemas.microsoft.com/office/drawing/2014/main" id="{A8F5C219-856E-B0F7-14E7-3ECBE8CE6BF7}"/>
              </a:ext>
            </a:extLst>
          </p:cNvPr>
          <p:cNvCxnSpPr>
            <a:cxnSpLocks/>
          </p:cNvCxnSpPr>
          <p:nvPr/>
        </p:nvCxnSpPr>
        <p:spPr>
          <a:xfrm>
            <a:off x="1757516" y="2837944"/>
            <a:ext cx="3204256" cy="0"/>
          </a:xfrm>
          <a:prstGeom prst="line">
            <a:avLst/>
          </a:prstGeom>
          <a:ln>
            <a:solidFill>
              <a:srgbClr val="FFC000">
                <a:alpha val="50000"/>
              </a:srgbClr>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D8B2B1C4-9EBD-5B24-BBFC-604FC7934C8A}"/>
              </a:ext>
            </a:extLst>
          </p:cNvPr>
          <p:cNvGrpSpPr/>
          <p:nvPr/>
        </p:nvGrpSpPr>
        <p:grpSpPr>
          <a:xfrm>
            <a:off x="1108844" y="2242296"/>
            <a:ext cx="4536504" cy="4122797"/>
            <a:chOff x="695400" y="1466443"/>
            <a:chExt cx="3960440" cy="2970669"/>
          </a:xfrm>
        </p:grpSpPr>
        <p:sp>
          <p:nvSpPr>
            <p:cNvPr id="5" name="Rectangle: Rounded Corners 4">
              <a:extLst>
                <a:ext uri="{FF2B5EF4-FFF2-40B4-BE49-F238E27FC236}">
                  <a16:creationId xmlns:a16="http://schemas.microsoft.com/office/drawing/2014/main" id="{4C2A52ED-283E-5BA2-9033-C4D7419A4E70}"/>
                </a:ext>
              </a:extLst>
            </p:cNvPr>
            <p:cNvSpPr/>
            <p:nvPr/>
          </p:nvSpPr>
          <p:spPr>
            <a:xfrm>
              <a:off x="695400" y="1556791"/>
              <a:ext cx="3960440" cy="2793551"/>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r>
                <a:rPr lang="en-GB" sz="1200" b="1" dirty="0">
                  <a:solidFill>
                    <a:schemeClr val="bg2"/>
                  </a:solidFill>
                  <a:latin typeface="Inter" panose="02000503000000020004" pitchFamily="2" charset="0"/>
                  <a:ea typeface="Inter" panose="02000503000000020004" pitchFamily="2" charset="0"/>
                </a:rPr>
                <a:t>                     Baseload Price Trend</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6" name="Group 5">
              <a:extLst>
                <a:ext uri="{FF2B5EF4-FFF2-40B4-BE49-F238E27FC236}">
                  <a16:creationId xmlns:a16="http://schemas.microsoft.com/office/drawing/2014/main" id="{FD652A11-FA1F-4B7A-8F73-93AE0EC8489B}"/>
                </a:ext>
              </a:extLst>
            </p:cNvPr>
            <p:cNvGrpSpPr/>
            <p:nvPr/>
          </p:nvGrpSpPr>
          <p:grpSpPr>
            <a:xfrm>
              <a:off x="696556" y="1466443"/>
              <a:ext cx="457200" cy="2970669"/>
              <a:chOff x="4878000" y="1468232"/>
              <a:chExt cx="457200" cy="2970669"/>
            </a:xfrm>
          </p:grpSpPr>
          <p:sp>
            <p:nvSpPr>
              <p:cNvPr id="7" name="Arc 29">
                <a:extLst>
                  <a:ext uri="{FF2B5EF4-FFF2-40B4-BE49-F238E27FC236}">
                    <a16:creationId xmlns:a16="http://schemas.microsoft.com/office/drawing/2014/main" id="{5C637A74-8FA8-47B6-F9D9-CD89304A5EA1}"/>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8" name="Group 7">
                <a:extLst>
                  <a:ext uri="{FF2B5EF4-FFF2-40B4-BE49-F238E27FC236}">
                    <a16:creationId xmlns:a16="http://schemas.microsoft.com/office/drawing/2014/main" id="{8E021A09-CFB1-D654-BCFB-0497E860D078}"/>
                  </a:ext>
                </a:extLst>
              </p:cNvPr>
              <p:cNvGrpSpPr/>
              <p:nvPr/>
            </p:nvGrpSpPr>
            <p:grpSpPr>
              <a:xfrm>
                <a:off x="4878000" y="1917596"/>
                <a:ext cx="457200" cy="2521305"/>
                <a:chOff x="4871440" y="1917596"/>
                <a:chExt cx="457200" cy="2521305"/>
              </a:xfrm>
            </p:grpSpPr>
            <p:cxnSp>
              <p:nvCxnSpPr>
                <p:cNvPr id="12" name="Straight Connector 11">
                  <a:extLst>
                    <a:ext uri="{FF2B5EF4-FFF2-40B4-BE49-F238E27FC236}">
                      <a16:creationId xmlns:a16="http://schemas.microsoft.com/office/drawing/2014/main" id="{53CBD37E-AAD9-0E1C-1607-11F7FDE1602A}"/>
                    </a:ext>
                  </a:extLst>
                </p:cNvPr>
                <p:cNvCxnSpPr>
                  <a:cxnSpLocks/>
                </p:cNvCxnSpPr>
                <p:nvPr/>
              </p:nvCxnSpPr>
              <p:spPr>
                <a:xfrm>
                  <a:off x="4871440" y="1917596"/>
                  <a:ext cx="0" cy="2106015"/>
                </a:xfrm>
                <a:prstGeom prst="line">
                  <a:avLst/>
                </a:prstGeom>
                <a:ln w="25400">
                  <a:solidFill>
                    <a:srgbClr val="7F46EA"/>
                  </a:solidFill>
                </a:ln>
              </p:spPr>
              <p:style>
                <a:lnRef idx="1">
                  <a:schemeClr val="accent1"/>
                </a:lnRef>
                <a:fillRef idx="0">
                  <a:schemeClr val="accent1"/>
                </a:fillRef>
                <a:effectRef idx="0">
                  <a:schemeClr val="accent1"/>
                </a:effectRef>
                <a:fontRef idx="minor">
                  <a:schemeClr val="tx1"/>
                </a:fontRef>
              </p:style>
            </p:cxnSp>
            <p:sp>
              <p:nvSpPr>
                <p:cNvPr id="14" name="Arc 29">
                  <a:extLst>
                    <a:ext uri="{FF2B5EF4-FFF2-40B4-BE49-F238E27FC236}">
                      <a16:creationId xmlns:a16="http://schemas.microsoft.com/office/drawing/2014/main" id="{507034D6-1ADD-DE28-6ADC-2BF581698FCC}"/>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sp>
        <p:nvSpPr>
          <p:cNvPr id="44" name="Rectangle: Rounded Corners 43">
            <a:extLst>
              <a:ext uri="{FF2B5EF4-FFF2-40B4-BE49-F238E27FC236}">
                <a16:creationId xmlns:a16="http://schemas.microsoft.com/office/drawing/2014/main" id="{87A8B6BC-AA09-AE92-6CBA-88AC525B6A3B}"/>
              </a:ext>
            </a:extLst>
          </p:cNvPr>
          <p:cNvSpPr/>
          <p:nvPr/>
        </p:nvSpPr>
        <p:spPr>
          <a:xfrm>
            <a:off x="8886908" y="2531936"/>
            <a:ext cx="900000" cy="234000"/>
          </a:xfrm>
          <a:prstGeom prst="roundRect">
            <a:avLst>
              <a:gd name="adj" fmla="val 50000"/>
            </a:avLst>
          </a:prstGeom>
          <a:solidFill>
            <a:srgbClr val="7F46EA">
              <a:alpha val="50000"/>
            </a:srgbClr>
          </a:solidFill>
          <a:ln w="25400">
            <a:solidFill>
              <a:srgbClr val="7F46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atin typeface="Inter" panose="02000503000000020004" pitchFamily="2" charset="0"/>
                <a:ea typeface="Inter" panose="02000503000000020004" pitchFamily="2" charset="0"/>
              </a:rPr>
              <a:t>2022 Q3</a:t>
            </a:r>
            <a:endParaRPr lang="en-US" sz="1200" dirty="0">
              <a:latin typeface="Inter" panose="02000503000000020004" pitchFamily="2" charset="0"/>
              <a:ea typeface="Inter" panose="02000503000000020004" pitchFamily="2" charset="0"/>
            </a:endParaRPr>
          </a:p>
        </p:txBody>
      </p:sp>
      <p:cxnSp>
        <p:nvCxnSpPr>
          <p:cNvPr id="45" name="Straight Connector 44">
            <a:extLst>
              <a:ext uri="{FF2B5EF4-FFF2-40B4-BE49-F238E27FC236}">
                <a16:creationId xmlns:a16="http://schemas.microsoft.com/office/drawing/2014/main" id="{C5BCEF35-6E82-E9A7-9BCD-02050AFD2CF1}"/>
              </a:ext>
            </a:extLst>
          </p:cNvPr>
          <p:cNvCxnSpPr>
            <a:cxnSpLocks/>
          </p:cNvCxnSpPr>
          <p:nvPr/>
        </p:nvCxnSpPr>
        <p:spPr>
          <a:xfrm>
            <a:off x="6798676" y="2837944"/>
            <a:ext cx="3204256" cy="0"/>
          </a:xfrm>
          <a:prstGeom prst="line">
            <a:avLst/>
          </a:prstGeom>
          <a:ln>
            <a:solidFill>
              <a:srgbClr val="FFC000">
                <a:alpha val="50000"/>
              </a:srgbClr>
            </a:solidFill>
          </a:ln>
        </p:spPr>
        <p:style>
          <a:lnRef idx="1">
            <a:schemeClr val="accent1"/>
          </a:lnRef>
          <a:fillRef idx="0">
            <a:schemeClr val="accent1"/>
          </a:fillRef>
          <a:effectRef idx="0">
            <a:schemeClr val="accent1"/>
          </a:effectRef>
          <a:fontRef idx="minor">
            <a:schemeClr val="tx1"/>
          </a:fontRef>
        </p:style>
      </p:cxnSp>
      <p:grpSp>
        <p:nvGrpSpPr>
          <p:cNvPr id="46" name="Group 45">
            <a:extLst>
              <a:ext uri="{FF2B5EF4-FFF2-40B4-BE49-F238E27FC236}">
                <a16:creationId xmlns:a16="http://schemas.microsoft.com/office/drawing/2014/main" id="{70A0D621-7FE0-BAEE-4C6D-D06032A7E3AE}"/>
              </a:ext>
            </a:extLst>
          </p:cNvPr>
          <p:cNvGrpSpPr/>
          <p:nvPr/>
        </p:nvGrpSpPr>
        <p:grpSpPr>
          <a:xfrm>
            <a:off x="6150004" y="2242296"/>
            <a:ext cx="4536504" cy="4122797"/>
            <a:chOff x="695400" y="1466443"/>
            <a:chExt cx="3960440" cy="2970669"/>
          </a:xfrm>
        </p:grpSpPr>
        <p:sp>
          <p:nvSpPr>
            <p:cNvPr id="47" name="Rectangle: Rounded Corners 46">
              <a:extLst>
                <a:ext uri="{FF2B5EF4-FFF2-40B4-BE49-F238E27FC236}">
                  <a16:creationId xmlns:a16="http://schemas.microsoft.com/office/drawing/2014/main" id="{3A00C68C-B04B-5077-6F13-D82759C4AB8E}"/>
                </a:ext>
              </a:extLst>
            </p:cNvPr>
            <p:cNvSpPr/>
            <p:nvPr/>
          </p:nvSpPr>
          <p:spPr>
            <a:xfrm>
              <a:off x="695400" y="1556791"/>
              <a:ext cx="3960440" cy="2793551"/>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r>
                <a:rPr lang="en-GB" sz="1200" b="1" dirty="0">
                  <a:solidFill>
                    <a:schemeClr val="bg2"/>
                  </a:solidFill>
                  <a:latin typeface="Inter" panose="02000503000000020004" pitchFamily="2" charset="0"/>
                  <a:ea typeface="Inter" panose="02000503000000020004" pitchFamily="2" charset="0"/>
                </a:rPr>
                <a:t>                     Price Evolution</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57" name="Group 56">
              <a:extLst>
                <a:ext uri="{FF2B5EF4-FFF2-40B4-BE49-F238E27FC236}">
                  <a16:creationId xmlns:a16="http://schemas.microsoft.com/office/drawing/2014/main" id="{9DE93FD0-E777-40AA-6C19-89A29292E4B5}"/>
                </a:ext>
              </a:extLst>
            </p:cNvPr>
            <p:cNvGrpSpPr/>
            <p:nvPr/>
          </p:nvGrpSpPr>
          <p:grpSpPr>
            <a:xfrm>
              <a:off x="696556" y="1466443"/>
              <a:ext cx="457200" cy="2970669"/>
              <a:chOff x="4878000" y="1468232"/>
              <a:chExt cx="457200" cy="2970669"/>
            </a:xfrm>
          </p:grpSpPr>
          <p:sp>
            <p:nvSpPr>
              <p:cNvPr id="58" name="Arc 29">
                <a:extLst>
                  <a:ext uri="{FF2B5EF4-FFF2-40B4-BE49-F238E27FC236}">
                    <a16:creationId xmlns:a16="http://schemas.microsoft.com/office/drawing/2014/main" id="{C020F1FD-23A0-2548-3DED-768D567541A0}"/>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59" name="Group 58">
                <a:extLst>
                  <a:ext uri="{FF2B5EF4-FFF2-40B4-BE49-F238E27FC236}">
                    <a16:creationId xmlns:a16="http://schemas.microsoft.com/office/drawing/2014/main" id="{9460247B-8DE9-D5CA-8343-98C8AFAF170E}"/>
                  </a:ext>
                </a:extLst>
              </p:cNvPr>
              <p:cNvGrpSpPr/>
              <p:nvPr/>
            </p:nvGrpSpPr>
            <p:grpSpPr>
              <a:xfrm>
                <a:off x="4878000" y="1917596"/>
                <a:ext cx="457200" cy="2521305"/>
                <a:chOff x="4871440" y="1917596"/>
                <a:chExt cx="457200" cy="2521305"/>
              </a:xfrm>
            </p:grpSpPr>
            <p:cxnSp>
              <p:nvCxnSpPr>
                <p:cNvPr id="60" name="Straight Connector 59">
                  <a:extLst>
                    <a:ext uri="{FF2B5EF4-FFF2-40B4-BE49-F238E27FC236}">
                      <a16:creationId xmlns:a16="http://schemas.microsoft.com/office/drawing/2014/main" id="{D6A4DAA2-3A5B-AD7D-A7E0-4CC59DB36833}"/>
                    </a:ext>
                  </a:extLst>
                </p:cNvPr>
                <p:cNvCxnSpPr>
                  <a:cxnSpLocks/>
                </p:cNvCxnSpPr>
                <p:nvPr/>
              </p:nvCxnSpPr>
              <p:spPr>
                <a:xfrm>
                  <a:off x="4871440" y="1917596"/>
                  <a:ext cx="0" cy="2106015"/>
                </a:xfrm>
                <a:prstGeom prst="line">
                  <a:avLst/>
                </a:prstGeom>
                <a:ln w="25400">
                  <a:solidFill>
                    <a:srgbClr val="7F46EA"/>
                  </a:solidFill>
                </a:ln>
              </p:spPr>
              <p:style>
                <a:lnRef idx="1">
                  <a:schemeClr val="accent1"/>
                </a:lnRef>
                <a:fillRef idx="0">
                  <a:schemeClr val="accent1"/>
                </a:fillRef>
                <a:effectRef idx="0">
                  <a:schemeClr val="accent1"/>
                </a:effectRef>
                <a:fontRef idx="minor">
                  <a:schemeClr val="tx1"/>
                </a:fontRef>
              </p:style>
            </p:cxnSp>
            <p:sp>
              <p:nvSpPr>
                <p:cNvPr id="61" name="Arc 29">
                  <a:extLst>
                    <a:ext uri="{FF2B5EF4-FFF2-40B4-BE49-F238E27FC236}">
                      <a16:creationId xmlns:a16="http://schemas.microsoft.com/office/drawing/2014/main" id="{E6B6EDBF-7700-11FB-5697-E95B68AD39DC}"/>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cxnSp>
        <p:nvCxnSpPr>
          <p:cNvPr id="63" name="Straight Connector 62">
            <a:extLst>
              <a:ext uri="{FF2B5EF4-FFF2-40B4-BE49-F238E27FC236}">
                <a16:creationId xmlns:a16="http://schemas.microsoft.com/office/drawing/2014/main" id="{F3329A5D-140E-49A2-A585-A2E19F842612}"/>
              </a:ext>
            </a:extLst>
          </p:cNvPr>
          <p:cNvCxnSpPr>
            <a:cxnSpLocks/>
          </p:cNvCxnSpPr>
          <p:nvPr/>
        </p:nvCxnSpPr>
        <p:spPr>
          <a:xfrm>
            <a:off x="6510044" y="2981960"/>
            <a:ext cx="0" cy="3061304"/>
          </a:xfrm>
          <a:prstGeom prst="line">
            <a:avLst/>
          </a:prstGeom>
          <a:ln w="19050">
            <a:gradFill>
              <a:gsLst>
                <a:gs pos="0">
                  <a:srgbClr val="FFC000"/>
                </a:gs>
                <a:gs pos="64000">
                  <a:srgbClr val="FFC000">
                    <a:alpha val="35000"/>
                  </a:srgbClr>
                </a:gs>
                <a:gs pos="100000">
                  <a:srgbClr val="FFC000">
                    <a:alpha val="20000"/>
                  </a:srgb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69" name="Title 1">
            <a:extLst>
              <a:ext uri="{FF2B5EF4-FFF2-40B4-BE49-F238E27FC236}">
                <a16:creationId xmlns:a16="http://schemas.microsoft.com/office/drawing/2014/main" id="{17494DC9-D7F9-45AB-97E8-989DFB484527}"/>
              </a:ext>
            </a:extLst>
          </p:cNvPr>
          <p:cNvSpPr txBox="1">
            <a:spLocks/>
          </p:cNvSpPr>
          <p:nvPr/>
        </p:nvSpPr>
        <p:spPr>
          <a:xfrm>
            <a:off x="1181452" y="492907"/>
            <a:ext cx="9487662" cy="6115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dirty="0">
                <a:solidFill>
                  <a:schemeClr val="bg1"/>
                </a:solidFill>
                <a:latin typeface="Inter ExtraBold" panose="02000503000000020004" pitchFamily="2" charset="0"/>
                <a:ea typeface="Inter ExtraBold" panose="02000503000000020004" pitchFamily="2" charset="0"/>
              </a:rPr>
              <a:t>Baseload Price Comparison: GB VS DE</a:t>
            </a:r>
            <a:br>
              <a:rPr lang="en-US" sz="1600" dirty="0">
                <a:solidFill>
                  <a:srgbClr val="FFC000"/>
                </a:solidFill>
                <a:latin typeface="Inter" panose="02000503000000020004" pitchFamily="2" charset="0"/>
                <a:ea typeface="Inter" panose="02000503000000020004" pitchFamily="2" charset="0"/>
              </a:rPr>
            </a:br>
            <a:r>
              <a:rPr lang="en-US" sz="1600" i="1" dirty="0">
                <a:solidFill>
                  <a:srgbClr val="FFC000"/>
                </a:solidFill>
                <a:latin typeface="Inter" panose="02000503000000020004" pitchFamily="2" charset="0"/>
                <a:ea typeface="Inter" panose="02000503000000020004" pitchFamily="2" charset="0"/>
              </a:rPr>
              <a:t>How do wholesale power prices (baseload) compare between GB and DE?</a:t>
            </a:r>
          </a:p>
        </p:txBody>
      </p:sp>
      <p:sp>
        <p:nvSpPr>
          <p:cNvPr id="70" name="Rectangle: Diagonal Corners Rounded 69">
            <a:extLst>
              <a:ext uri="{FF2B5EF4-FFF2-40B4-BE49-F238E27FC236}">
                <a16:creationId xmlns:a16="http://schemas.microsoft.com/office/drawing/2014/main" id="{3A108082-9FD8-8289-EE0D-23D55F7D5948}"/>
              </a:ext>
            </a:extLst>
          </p:cNvPr>
          <p:cNvSpPr/>
          <p:nvPr/>
        </p:nvSpPr>
        <p:spPr>
          <a:xfrm>
            <a:off x="1128116" y="1224407"/>
            <a:ext cx="9558392" cy="946147"/>
          </a:xfrm>
          <a:prstGeom prst="round2DiagRect">
            <a:avLst/>
          </a:prstGeom>
          <a:solidFill>
            <a:srgbClr val="16586B"/>
          </a:solidFill>
          <a:ln w="76200">
            <a:solidFill>
              <a:srgbClr val="16586B">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dirty="0"/>
              <a:t>💡</a:t>
            </a:r>
            <a:r>
              <a:rPr lang="en-US" sz="1400" dirty="0">
                <a:latin typeface="Inter" panose="02000503000000020004" pitchFamily="2" charset="0"/>
                <a:ea typeface="Inter" panose="02000503000000020004" pitchFamily="2" charset="0"/>
              </a:rPr>
              <a:t>Wholesale baseload prices show </a:t>
            </a:r>
            <a:r>
              <a:rPr lang="en-US" sz="1400" b="1" dirty="0">
                <a:solidFill>
                  <a:srgbClr val="FFC000"/>
                </a:solidFill>
                <a:latin typeface="Inter" panose="02000503000000020004" pitchFamily="2" charset="0"/>
                <a:ea typeface="Inter" panose="02000503000000020004" pitchFamily="2" charset="0"/>
              </a:rPr>
              <a:t>significant initial divergence</a:t>
            </a:r>
            <a:r>
              <a:rPr lang="en-US" sz="1400" dirty="0">
                <a:solidFill>
                  <a:srgbClr val="FFC000"/>
                </a:solidFill>
                <a:latin typeface="Inter" panose="02000503000000020004" pitchFamily="2" charset="0"/>
                <a:ea typeface="Inter" panose="02000503000000020004" pitchFamily="2" charset="0"/>
              </a:rPr>
              <a:t> </a:t>
            </a:r>
            <a:r>
              <a:rPr lang="en-US" sz="1400" dirty="0">
                <a:latin typeface="Inter" panose="02000503000000020004" pitchFamily="2" charset="0"/>
                <a:ea typeface="Inter" panose="02000503000000020004" pitchFamily="2" charset="0"/>
              </a:rPr>
              <a:t>between GB and DE, but </a:t>
            </a:r>
            <a:r>
              <a:rPr lang="en-US" sz="1400" b="1" dirty="0">
                <a:solidFill>
                  <a:srgbClr val="FFC000"/>
                </a:solidFill>
                <a:latin typeface="Inter" panose="02000503000000020004" pitchFamily="2" charset="0"/>
                <a:ea typeface="Inter" panose="02000503000000020004" pitchFamily="2" charset="0"/>
              </a:rPr>
              <a:t>converge to similar levels</a:t>
            </a:r>
            <a:r>
              <a:rPr lang="en-US" sz="1400" dirty="0">
                <a:latin typeface="Inter" panose="02000503000000020004" pitchFamily="2" charset="0"/>
                <a:ea typeface="Inter" panose="02000503000000020004" pitchFamily="2" charset="0"/>
              </a:rPr>
              <a:t> over time as both markets mature.</a:t>
            </a:r>
          </a:p>
        </p:txBody>
      </p:sp>
      <p:grpSp>
        <p:nvGrpSpPr>
          <p:cNvPr id="86" name="Group 85">
            <a:extLst>
              <a:ext uri="{FF2B5EF4-FFF2-40B4-BE49-F238E27FC236}">
                <a16:creationId xmlns:a16="http://schemas.microsoft.com/office/drawing/2014/main" id="{D3FA21A9-09C8-20A9-BD73-CFF2435D8D3C}"/>
              </a:ext>
            </a:extLst>
          </p:cNvPr>
          <p:cNvGrpSpPr/>
          <p:nvPr/>
        </p:nvGrpSpPr>
        <p:grpSpPr>
          <a:xfrm>
            <a:off x="6456044" y="2922264"/>
            <a:ext cx="791135" cy="192419"/>
            <a:chOff x="6456044" y="2922264"/>
            <a:chExt cx="791135" cy="192419"/>
          </a:xfrm>
        </p:grpSpPr>
        <p:sp>
          <p:nvSpPr>
            <p:cNvPr id="64" name="Oval 63">
              <a:extLst>
                <a:ext uri="{FF2B5EF4-FFF2-40B4-BE49-F238E27FC236}">
                  <a16:creationId xmlns:a16="http://schemas.microsoft.com/office/drawing/2014/main" id="{4EE10651-CC33-FE93-77D8-36069FA36244}"/>
                </a:ext>
              </a:extLst>
            </p:cNvPr>
            <p:cNvSpPr/>
            <p:nvPr/>
          </p:nvSpPr>
          <p:spPr>
            <a:xfrm>
              <a:off x="6456044" y="2978613"/>
              <a:ext cx="108000" cy="108000"/>
            </a:xfrm>
            <a:prstGeom prst="ellipse">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Rounded Corners 72">
              <a:extLst>
                <a:ext uri="{FF2B5EF4-FFF2-40B4-BE49-F238E27FC236}">
                  <a16:creationId xmlns:a16="http://schemas.microsoft.com/office/drawing/2014/main" id="{19F5846B-841B-5449-3B21-777A5824A9A1}"/>
                </a:ext>
              </a:extLst>
            </p:cNvPr>
            <p:cNvSpPr/>
            <p:nvPr/>
          </p:nvSpPr>
          <p:spPr>
            <a:xfrm>
              <a:off x="6617098" y="2922264"/>
              <a:ext cx="630081" cy="192419"/>
            </a:xfrm>
            <a:prstGeom prst="roundRect">
              <a:avLst>
                <a:gd name="adj" fmla="val 50000"/>
              </a:avLst>
            </a:prstGeom>
            <a:solidFill>
              <a:srgbClr val="7F46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latin typeface="Inter" panose="02000503000000020004" pitchFamily="2" charset="0"/>
                  <a:ea typeface="Inter" panose="02000503000000020004" pitchFamily="2" charset="0"/>
                </a:rPr>
                <a:t>2022</a:t>
              </a:r>
              <a:endParaRPr lang="en-US" sz="1100" dirty="0">
                <a:latin typeface="Inter" panose="02000503000000020004" pitchFamily="2" charset="0"/>
                <a:ea typeface="Inter" panose="02000503000000020004" pitchFamily="2" charset="0"/>
              </a:endParaRPr>
            </a:p>
          </p:txBody>
        </p:sp>
      </p:grpSp>
      <p:grpSp>
        <p:nvGrpSpPr>
          <p:cNvPr id="87" name="Group 86">
            <a:extLst>
              <a:ext uri="{FF2B5EF4-FFF2-40B4-BE49-F238E27FC236}">
                <a16:creationId xmlns:a16="http://schemas.microsoft.com/office/drawing/2014/main" id="{45A6AE9D-BA2B-180A-FBCD-4253A0B42E2F}"/>
              </a:ext>
            </a:extLst>
          </p:cNvPr>
          <p:cNvGrpSpPr/>
          <p:nvPr/>
        </p:nvGrpSpPr>
        <p:grpSpPr>
          <a:xfrm>
            <a:off x="6456044" y="4028669"/>
            <a:ext cx="791135" cy="192419"/>
            <a:chOff x="6456044" y="4028669"/>
            <a:chExt cx="791135" cy="192419"/>
          </a:xfrm>
        </p:grpSpPr>
        <p:sp>
          <p:nvSpPr>
            <p:cNvPr id="65" name="Oval 64">
              <a:extLst>
                <a:ext uri="{FF2B5EF4-FFF2-40B4-BE49-F238E27FC236}">
                  <a16:creationId xmlns:a16="http://schemas.microsoft.com/office/drawing/2014/main" id="{D9B81E29-41FB-70E8-632E-3CD22BBCF06E}"/>
                </a:ext>
              </a:extLst>
            </p:cNvPr>
            <p:cNvSpPr/>
            <p:nvPr/>
          </p:nvSpPr>
          <p:spPr>
            <a:xfrm>
              <a:off x="6456044" y="4068054"/>
              <a:ext cx="108000" cy="108000"/>
            </a:xfrm>
            <a:prstGeom prst="ellipse">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Rounded Corners 75">
              <a:extLst>
                <a:ext uri="{FF2B5EF4-FFF2-40B4-BE49-F238E27FC236}">
                  <a16:creationId xmlns:a16="http://schemas.microsoft.com/office/drawing/2014/main" id="{70E178BA-854C-82FB-D67B-628EE67E11E8}"/>
                </a:ext>
              </a:extLst>
            </p:cNvPr>
            <p:cNvSpPr/>
            <p:nvPr/>
          </p:nvSpPr>
          <p:spPr>
            <a:xfrm>
              <a:off x="6617098" y="4028669"/>
              <a:ext cx="630081" cy="192419"/>
            </a:xfrm>
            <a:prstGeom prst="roundRect">
              <a:avLst>
                <a:gd name="adj" fmla="val 50000"/>
              </a:avLst>
            </a:prstGeom>
            <a:solidFill>
              <a:srgbClr val="7F46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latin typeface="Inter" panose="02000503000000020004" pitchFamily="2" charset="0"/>
                  <a:ea typeface="Inter" panose="02000503000000020004" pitchFamily="2" charset="0"/>
                </a:rPr>
                <a:t>2023</a:t>
              </a:r>
              <a:endParaRPr lang="en-US" sz="1100" dirty="0">
                <a:latin typeface="Inter" panose="02000503000000020004" pitchFamily="2" charset="0"/>
                <a:ea typeface="Inter" panose="02000503000000020004" pitchFamily="2" charset="0"/>
              </a:endParaRPr>
            </a:p>
          </p:txBody>
        </p:sp>
      </p:grpSp>
      <p:grpSp>
        <p:nvGrpSpPr>
          <p:cNvPr id="88" name="Group 87">
            <a:extLst>
              <a:ext uri="{FF2B5EF4-FFF2-40B4-BE49-F238E27FC236}">
                <a16:creationId xmlns:a16="http://schemas.microsoft.com/office/drawing/2014/main" id="{C46C3B96-9D03-3E86-3DC5-F9E179EDA240}"/>
              </a:ext>
            </a:extLst>
          </p:cNvPr>
          <p:cNvGrpSpPr/>
          <p:nvPr/>
        </p:nvGrpSpPr>
        <p:grpSpPr>
          <a:xfrm>
            <a:off x="6456044" y="5108789"/>
            <a:ext cx="791135" cy="192419"/>
            <a:chOff x="6456044" y="5108789"/>
            <a:chExt cx="791135" cy="192419"/>
          </a:xfrm>
        </p:grpSpPr>
        <p:sp>
          <p:nvSpPr>
            <p:cNvPr id="66" name="Oval 65">
              <a:extLst>
                <a:ext uri="{FF2B5EF4-FFF2-40B4-BE49-F238E27FC236}">
                  <a16:creationId xmlns:a16="http://schemas.microsoft.com/office/drawing/2014/main" id="{3C2B9E51-227C-73E4-AB79-B430605AB003}"/>
                </a:ext>
              </a:extLst>
            </p:cNvPr>
            <p:cNvSpPr/>
            <p:nvPr/>
          </p:nvSpPr>
          <p:spPr>
            <a:xfrm>
              <a:off x="6456044" y="5131210"/>
              <a:ext cx="108000" cy="108000"/>
            </a:xfrm>
            <a:prstGeom prst="ellipse">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Rounded Corners 76">
              <a:extLst>
                <a:ext uri="{FF2B5EF4-FFF2-40B4-BE49-F238E27FC236}">
                  <a16:creationId xmlns:a16="http://schemas.microsoft.com/office/drawing/2014/main" id="{0DFF190B-C573-673A-BD18-834B188F6320}"/>
                </a:ext>
              </a:extLst>
            </p:cNvPr>
            <p:cNvSpPr/>
            <p:nvPr/>
          </p:nvSpPr>
          <p:spPr>
            <a:xfrm>
              <a:off x="6617098" y="5108789"/>
              <a:ext cx="630081" cy="192419"/>
            </a:xfrm>
            <a:prstGeom prst="roundRect">
              <a:avLst>
                <a:gd name="adj" fmla="val 50000"/>
              </a:avLst>
            </a:prstGeom>
            <a:solidFill>
              <a:srgbClr val="7F46E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latin typeface="Inter" panose="02000503000000020004" pitchFamily="2" charset="0"/>
                  <a:ea typeface="Inter" panose="02000503000000020004" pitchFamily="2" charset="0"/>
                </a:rPr>
                <a:t>2050</a:t>
              </a:r>
              <a:endParaRPr lang="en-US" sz="1100" dirty="0">
                <a:latin typeface="Inter" panose="02000503000000020004" pitchFamily="2" charset="0"/>
                <a:ea typeface="Inter" panose="02000503000000020004" pitchFamily="2" charset="0"/>
              </a:endParaRPr>
            </a:p>
          </p:txBody>
        </p:sp>
      </p:grpSp>
      <p:grpSp>
        <p:nvGrpSpPr>
          <p:cNvPr id="89" name="Group 88">
            <a:extLst>
              <a:ext uri="{FF2B5EF4-FFF2-40B4-BE49-F238E27FC236}">
                <a16:creationId xmlns:a16="http://schemas.microsoft.com/office/drawing/2014/main" id="{2A79BD08-8CC9-B5E0-A530-7BD59CC56866}"/>
              </a:ext>
            </a:extLst>
          </p:cNvPr>
          <p:cNvGrpSpPr/>
          <p:nvPr/>
        </p:nvGrpSpPr>
        <p:grpSpPr>
          <a:xfrm>
            <a:off x="6618602" y="3289565"/>
            <a:ext cx="3516994" cy="571483"/>
            <a:chOff x="6618602" y="3289565"/>
            <a:chExt cx="3516994" cy="571483"/>
          </a:xfrm>
        </p:grpSpPr>
        <p:sp>
          <p:nvSpPr>
            <p:cNvPr id="78" name="Rectangle: Rounded Corners 77">
              <a:extLst>
                <a:ext uri="{FF2B5EF4-FFF2-40B4-BE49-F238E27FC236}">
                  <a16:creationId xmlns:a16="http://schemas.microsoft.com/office/drawing/2014/main" id="{3647C0F9-A899-4337-E618-11732FF89080}"/>
                </a:ext>
              </a:extLst>
            </p:cNvPr>
            <p:cNvSpPr/>
            <p:nvPr/>
          </p:nvSpPr>
          <p:spPr>
            <a:xfrm>
              <a:off x="6618602" y="3289565"/>
              <a:ext cx="1142966" cy="571483"/>
            </a:xfrm>
            <a:prstGeom prst="roundRect">
              <a:avLst>
                <a:gd name="adj" fmla="val 7067"/>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100" b="1" dirty="0">
                  <a:solidFill>
                    <a:schemeClr val="bg1">
                      <a:lumMod val="95000"/>
                    </a:schemeClr>
                  </a:solidFill>
                  <a:latin typeface="Inter" panose="02000503000000020004" pitchFamily="2" charset="0"/>
                  <a:ea typeface="Inter" panose="02000503000000020004" pitchFamily="2" charset="0"/>
                </a:rPr>
                <a:t>GB  </a:t>
              </a:r>
              <a:r>
                <a:rPr lang="en-GB" sz="1100" b="1" dirty="0">
                  <a:solidFill>
                    <a:srgbClr val="FFC000"/>
                  </a:solidFill>
                  <a:latin typeface="Inter" panose="02000503000000020004" pitchFamily="2" charset="0"/>
                  <a:ea typeface="Inter" panose="02000503000000020004" pitchFamily="2" charset="0"/>
                </a:rPr>
                <a:t>       </a:t>
              </a:r>
              <a:r>
                <a:rPr lang="en-US" sz="1100" b="1" dirty="0">
                  <a:solidFill>
                    <a:srgbClr val="00B0F0"/>
                  </a:solidFill>
                  <a:latin typeface="Inter" panose="02000503000000020004" pitchFamily="2" charset="0"/>
                  <a:ea typeface="Inter" panose="02000503000000020004" pitchFamily="2" charset="0"/>
                </a:rPr>
                <a:t>€</a:t>
              </a:r>
              <a:r>
                <a:rPr lang="en-GB" sz="1100" b="1" i="1" dirty="0">
                  <a:solidFill>
                    <a:srgbClr val="00B0F0"/>
                  </a:solidFill>
                  <a:latin typeface="Inter" panose="02000503000000020004" pitchFamily="2" charset="0"/>
                  <a:ea typeface="Inter" panose="02000503000000020004" pitchFamily="2" charset="0"/>
                </a:rPr>
                <a:t>283</a:t>
              </a:r>
              <a:endParaRPr lang="en-GB" sz="1100" b="1" dirty="0">
                <a:solidFill>
                  <a:srgbClr val="00B0F0"/>
                </a:solidFill>
                <a:latin typeface="Inter" panose="02000503000000020004" pitchFamily="2" charset="0"/>
                <a:ea typeface="Inter" panose="02000503000000020004" pitchFamily="2" charset="0"/>
              </a:endParaRPr>
            </a:p>
            <a:p>
              <a:pPr>
                <a:lnSpc>
                  <a:spcPct val="150000"/>
                </a:lnSpc>
              </a:pPr>
              <a:r>
                <a:rPr lang="en-GB" sz="1100" b="1" i="1" dirty="0">
                  <a:solidFill>
                    <a:schemeClr val="bg1">
                      <a:lumMod val="95000"/>
                    </a:schemeClr>
                  </a:solidFill>
                  <a:latin typeface="Inter" panose="02000503000000020004" pitchFamily="2" charset="0"/>
                  <a:ea typeface="Inter" panose="02000503000000020004" pitchFamily="2" charset="0"/>
                </a:rPr>
                <a:t>DE</a:t>
              </a:r>
              <a:r>
                <a:rPr lang="en-GB" sz="1100" b="1" i="1" dirty="0">
                  <a:solidFill>
                    <a:srgbClr val="00B0F0"/>
                  </a:solidFill>
                  <a:latin typeface="Inter" panose="02000503000000020004" pitchFamily="2" charset="0"/>
                  <a:ea typeface="Inter" panose="02000503000000020004" pitchFamily="2" charset="0"/>
                </a:rPr>
                <a:t>          </a:t>
              </a:r>
              <a:r>
                <a:rPr lang="en-US" sz="1100" b="1" dirty="0">
                  <a:solidFill>
                    <a:srgbClr val="FFC000"/>
                  </a:solidFill>
                  <a:latin typeface="Inter" panose="02000503000000020004" pitchFamily="2" charset="0"/>
                  <a:ea typeface="Inter" panose="02000503000000020004" pitchFamily="2" charset="0"/>
                </a:rPr>
                <a:t>€</a:t>
              </a:r>
              <a:r>
                <a:rPr lang="en-GB" sz="1100" b="1" i="1" dirty="0">
                  <a:solidFill>
                    <a:srgbClr val="FFC000"/>
                  </a:solidFill>
                  <a:latin typeface="Inter" panose="02000503000000020004" pitchFamily="2" charset="0"/>
                  <a:ea typeface="Inter" panose="02000503000000020004" pitchFamily="2" charset="0"/>
                </a:rPr>
                <a:t>197    </a:t>
              </a:r>
            </a:p>
          </p:txBody>
        </p:sp>
        <p:sp>
          <p:nvSpPr>
            <p:cNvPr id="83" name="TextBox 82">
              <a:extLst>
                <a:ext uri="{FF2B5EF4-FFF2-40B4-BE49-F238E27FC236}">
                  <a16:creationId xmlns:a16="http://schemas.microsoft.com/office/drawing/2014/main" id="{28CB4D33-142C-ED3A-C255-786C8C1EE2E6}"/>
                </a:ext>
              </a:extLst>
            </p:cNvPr>
            <p:cNvSpPr txBox="1"/>
            <p:nvPr/>
          </p:nvSpPr>
          <p:spPr>
            <a:xfrm>
              <a:off x="8184232" y="3444501"/>
              <a:ext cx="1951364" cy="261610"/>
            </a:xfrm>
            <a:prstGeom prst="rect">
              <a:avLst/>
            </a:prstGeom>
            <a:noFill/>
          </p:spPr>
          <p:txBody>
            <a:bodyPr wrap="square" rtlCol="0">
              <a:spAutoFit/>
            </a:bodyPr>
            <a:lstStyle/>
            <a:p>
              <a:r>
                <a:rPr lang="en-GB" sz="1100" i="1" dirty="0">
                  <a:solidFill>
                    <a:schemeClr val="bg1">
                      <a:lumMod val="95000"/>
                    </a:schemeClr>
                  </a:solidFill>
                  <a:latin typeface="Inter" panose="02000503000000020004" pitchFamily="2" charset="0"/>
                  <a:ea typeface="Inter" panose="02000503000000020004" pitchFamily="2" charset="0"/>
                </a:rPr>
                <a:t>DE started 44% higher</a:t>
              </a:r>
              <a:endParaRPr lang="en-US" sz="1100" i="1" dirty="0">
                <a:solidFill>
                  <a:schemeClr val="bg1">
                    <a:lumMod val="95000"/>
                  </a:schemeClr>
                </a:solidFill>
                <a:latin typeface="Inter" panose="02000503000000020004" pitchFamily="2" charset="0"/>
                <a:ea typeface="Inter" panose="02000503000000020004" pitchFamily="2" charset="0"/>
              </a:endParaRPr>
            </a:p>
          </p:txBody>
        </p:sp>
      </p:grpSp>
      <p:grpSp>
        <p:nvGrpSpPr>
          <p:cNvPr id="90" name="Group 89">
            <a:extLst>
              <a:ext uri="{FF2B5EF4-FFF2-40B4-BE49-F238E27FC236}">
                <a16:creationId xmlns:a16="http://schemas.microsoft.com/office/drawing/2014/main" id="{C16B78A6-7877-739A-43BE-337358B3C137}"/>
              </a:ext>
            </a:extLst>
          </p:cNvPr>
          <p:cNvGrpSpPr/>
          <p:nvPr/>
        </p:nvGrpSpPr>
        <p:grpSpPr>
          <a:xfrm>
            <a:off x="6617098" y="4362620"/>
            <a:ext cx="3799378" cy="571483"/>
            <a:chOff x="6617098" y="4362620"/>
            <a:chExt cx="3799378" cy="571483"/>
          </a:xfrm>
        </p:grpSpPr>
        <p:sp>
          <p:nvSpPr>
            <p:cNvPr id="81" name="Rectangle: Rounded Corners 80">
              <a:extLst>
                <a:ext uri="{FF2B5EF4-FFF2-40B4-BE49-F238E27FC236}">
                  <a16:creationId xmlns:a16="http://schemas.microsoft.com/office/drawing/2014/main" id="{F3B7F06F-758C-1A08-0304-CE8416E05989}"/>
                </a:ext>
              </a:extLst>
            </p:cNvPr>
            <p:cNvSpPr/>
            <p:nvPr/>
          </p:nvSpPr>
          <p:spPr>
            <a:xfrm>
              <a:off x="6617098" y="4362620"/>
              <a:ext cx="1142966" cy="571483"/>
            </a:xfrm>
            <a:prstGeom prst="roundRect">
              <a:avLst>
                <a:gd name="adj" fmla="val 7067"/>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100" b="1" dirty="0">
                  <a:solidFill>
                    <a:schemeClr val="bg1">
                      <a:lumMod val="95000"/>
                    </a:schemeClr>
                  </a:solidFill>
                  <a:latin typeface="Inter" panose="02000503000000020004" pitchFamily="2" charset="0"/>
                  <a:ea typeface="Inter" panose="02000503000000020004" pitchFamily="2" charset="0"/>
                </a:rPr>
                <a:t>GB  </a:t>
              </a:r>
              <a:r>
                <a:rPr lang="en-GB" sz="1100" b="1" dirty="0">
                  <a:solidFill>
                    <a:srgbClr val="FFC000"/>
                  </a:solidFill>
                  <a:latin typeface="Inter" panose="02000503000000020004" pitchFamily="2" charset="0"/>
                  <a:ea typeface="Inter" panose="02000503000000020004" pitchFamily="2" charset="0"/>
                </a:rPr>
                <a:t>       </a:t>
              </a:r>
              <a:r>
                <a:rPr lang="en-US" sz="1100" b="1" dirty="0">
                  <a:solidFill>
                    <a:srgbClr val="00B0F0"/>
                  </a:solidFill>
                  <a:latin typeface="Inter" panose="02000503000000020004" pitchFamily="2" charset="0"/>
                  <a:ea typeface="Inter" panose="02000503000000020004" pitchFamily="2" charset="0"/>
                </a:rPr>
                <a:t>€</a:t>
              </a:r>
              <a:r>
                <a:rPr lang="en-GB" sz="1100" b="1" i="1" dirty="0">
                  <a:solidFill>
                    <a:srgbClr val="00B0F0"/>
                  </a:solidFill>
                  <a:latin typeface="Inter" panose="02000503000000020004" pitchFamily="2" charset="0"/>
                  <a:ea typeface="Inter" panose="02000503000000020004" pitchFamily="2" charset="0"/>
                </a:rPr>
                <a:t>283</a:t>
              </a:r>
              <a:endParaRPr lang="en-GB" sz="1100" b="1" dirty="0">
                <a:solidFill>
                  <a:srgbClr val="00B0F0"/>
                </a:solidFill>
                <a:latin typeface="Inter" panose="02000503000000020004" pitchFamily="2" charset="0"/>
                <a:ea typeface="Inter" panose="02000503000000020004" pitchFamily="2" charset="0"/>
              </a:endParaRPr>
            </a:p>
            <a:p>
              <a:pPr>
                <a:lnSpc>
                  <a:spcPct val="150000"/>
                </a:lnSpc>
              </a:pPr>
              <a:r>
                <a:rPr lang="en-GB" sz="1100" b="1" i="1" dirty="0">
                  <a:solidFill>
                    <a:schemeClr val="bg1">
                      <a:lumMod val="95000"/>
                    </a:schemeClr>
                  </a:solidFill>
                  <a:latin typeface="Inter" panose="02000503000000020004" pitchFamily="2" charset="0"/>
                  <a:ea typeface="Inter" panose="02000503000000020004" pitchFamily="2" charset="0"/>
                </a:rPr>
                <a:t>DE</a:t>
              </a:r>
              <a:r>
                <a:rPr lang="en-GB" sz="1100" b="1" i="1" dirty="0">
                  <a:solidFill>
                    <a:srgbClr val="00B0F0"/>
                  </a:solidFill>
                  <a:latin typeface="Inter" panose="02000503000000020004" pitchFamily="2" charset="0"/>
                  <a:ea typeface="Inter" panose="02000503000000020004" pitchFamily="2" charset="0"/>
                </a:rPr>
                <a:t>          </a:t>
              </a:r>
              <a:r>
                <a:rPr lang="en-US" sz="1100" b="1" dirty="0">
                  <a:solidFill>
                    <a:srgbClr val="FFC000"/>
                  </a:solidFill>
                  <a:latin typeface="Inter" panose="02000503000000020004" pitchFamily="2" charset="0"/>
                  <a:ea typeface="Inter" panose="02000503000000020004" pitchFamily="2" charset="0"/>
                </a:rPr>
                <a:t>€</a:t>
              </a:r>
              <a:r>
                <a:rPr lang="en-GB" sz="1100" b="1" i="1" dirty="0">
                  <a:solidFill>
                    <a:srgbClr val="FFC000"/>
                  </a:solidFill>
                  <a:latin typeface="Inter" panose="02000503000000020004" pitchFamily="2" charset="0"/>
                  <a:ea typeface="Inter" panose="02000503000000020004" pitchFamily="2" charset="0"/>
                </a:rPr>
                <a:t>197    </a:t>
              </a:r>
            </a:p>
          </p:txBody>
        </p:sp>
        <p:sp>
          <p:nvSpPr>
            <p:cNvPr id="84" name="TextBox 83">
              <a:extLst>
                <a:ext uri="{FF2B5EF4-FFF2-40B4-BE49-F238E27FC236}">
                  <a16:creationId xmlns:a16="http://schemas.microsoft.com/office/drawing/2014/main" id="{DF296FAB-E828-C327-8F3F-D798CB5D8061}"/>
                </a:ext>
              </a:extLst>
            </p:cNvPr>
            <p:cNvSpPr txBox="1"/>
            <p:nvPr/>
          </p:nvSpPr>
          <p:spPr>
            <a:xfrm>
              <a:off x="8184231" y="4521318"/>
              <a:ext cx="2232245" cy="261610"/>
            </a:xfrm>
            <a:prstGeom prst="rect">
              <a:avLst/>
            </a:prstGeom>
            <a:noFill/>
          </p:spPr>
          <p:txBody>
            <a:bodyPr wrap="square" rtlCol="0">
              <a:spAutoFit/>
            </a:bodyPr>
            <a:lstStyle/>
            <a:p>
              <a:r>
                <a:rPr lang="en-GB" sz="1100" i="1" dirty="0">
                  <a:solidFill>
                    <a:schemeClr val="bg1">
                      <a:lumMod val="95000"/>
                    </a:schemeClr>
                  </a:solidFill>
                  <a:latin typeface="Inter" panose="02000503000000020004" pitchFamily="2" charset="0"/>
                  <a:ea typeface="Inter" panose="02000503000000020004" pitchFamily="2" charset="0"/>
                </a:rPr>
                <a:t>DE picked while GB declined</a:t>
              </a:r>
              <a:endParaRPr lang="en-US" sz="1100" i="1" dirty="0">
                <a:solidFill>
                  <a:schemeClr val="bg1">
                    <a:lumMod val="95000"/>
                  </a:schemeClr>
                </a:solidFill>
                <a:latin typeface="Inter" panose="02000503000000020004" pitchFamily="2" charset="0"/>
                <a:ea typeface="Inter" panose="02000503000000020004" pitchFamily="2" charset="0"/>
              </a:endParaRPr>
            </a:p>
          </p:txBody>
        </p:sp>
      </p:grpSp>
      <p:grpSp>
        <p:nvGrpSpPr>
          <p:cNvPr id="91" name="Group 90">
            <a:extLst>
              <a:ext uri="{FF2B5EF4-FFF2-40B4-BE49-F238E27FC236}">
                <a16:creationId xmlns:a16="http://schemas.microsoft.com/office/drawing/2014/main" id="{4ED6DE3E-E9BB-71F8-0A67-53AFC48B6FF2}"/>
              </a:ext>
            </a:extLst>
          </p:cNvPr>
          <p:cNvGrpSpPr/>
          <p:nvPr/>
        </p:nvGrpSpPr>
        <p:grpSpPr>
          <a:xfrm>
            <a:off x="6617098" y="5467450"/>
            <a:ext cx="3727374" cy="571483"/>
            <a:chOff x="6617098" y="5467450"/>
            <a:chExt cx="3727374" cy="571483"/>
          </a:xfrm>
        </p:grpSpPr>
        <p:sp>
          <p:nvSpPr>
            <p:cNvPr id="82" name="Rectangle: Rounded Corners 81">
              <a:extLst>
                <a:ext uri="{FF2B5EF4-FFF2-40B4-BE49-F238E27FC236}">
                  <a16:creationId xmlns:a16="http://schemas.microsoft.com/office/drawing/2014/main" id="{56FC5569-4EED-187D-BCAE-2696563A61AD}"/>
                </a:ext>
              </a:extLst>
            </p:cNvPr>
            <p:cNvSpPr/>
            <p:nvPr/>
          </p:nvSpPr>
          <p:spPr>
            <a:xfrm>
              <a:off x="6617098" y="5467450"/>
              <a:ext cx="1142966" cy="571483"/>
            </a:xfrm>
            <a:prstGeom prst="roundRect">
              <a:avLst>
                <a:gd name="adj" fmla="val 7067"/>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100" b="1" dirty="0">
                  <a:solidFill>
                    <a:schemeClr val="bg1">
                      <a:lumMod val="95000"/>
                    </a:schemeClr>
                  </a:solidFill>
                  <a:latin typeface="Inter" panose="02000503000000020004" pitchFamily="2" charset="0"/>
                  <a:ea typeface="Inter" panose="02000503000000020004" pitchFamily="2" charset="0"/>
                </a:rPr>
                <a:t>GB  </a:t>
              </a:r>
              <a:r>
                <a:rPr lang="en-GB" sz="1100" b="1" dirty="0">
                  <a:solidFill>
                    <a:srgbClr val="FFC000"/>
                  </a:solidFill>
                  <a:latin typeface="Inter" panose="02000503000000020004" pitchFamily="2" charset="0"/>
                  <a:ea typeface="Inter" panose="02000503000000020004" pitchFamily="2" charset="0"/>
                </a:rPr>
                <a:t>       </a:t>
              </a:r>
              <a:r>
                <a:rPr lang="en-US" sz="1100" b="1" dirty="0">
                  <a:solidFill>
                    <a:srgbClr val="00B0F0"/>
                  </a:solidFill>
                  <a:latin typeface="Inter" panose="02000503000000020004" pitchFamily="2" charset="0"/>
                  <a:ea typeface="Inter" panose="02000503000000020004" pitchFamily="2" charset="0"/>
                </a:rPr>
                <a:t>€</a:t>
              </a:r>
              <a:r>
                <a:rPr lang="en-GB" sz="1100" b="1" i="1" dirty="0">
                  <a:solidFill>
                    <a:srgbClr val="00B0F0"/>
                  </a:solidFill>
                  <a:latin typeface="Inter" panose="02000503000000020004" pitchFamily="2" charset="0"/>
                  <a:ea typeface="Inter" panose="02000503000000020004" pitchFamily="2" charset="0"/>
                </a:rPr>
                <a:t>283</a:t>
              </a:r>
              <a:endParaRPr lang="en-GB" sz="1100" b="1" dirty="0">
                <a:solidFill>
                  <a:srgbClr val="00B0F0"/>
                </a:solidFill>
                <a:latin typeface="Inter" panose="02000503000000020004" pitchFamily="2" charset="0"/>
                <a:ea typeface="Inter" panose="02000503000000020004" pitchFamily="2" charset="0"/>
              </a:endParaRPr>
            </a:p>
            <a:p>
              <a:pPr>
                <a:lnSpc>
                  <a:spcPct val="150000"/>
                </a:lnSpc>
              </a:pPr>
              <a:r>
                <a:rPr lang="en-GB" sz="1100" b="1" i="1" dirty="0">
                  <a:solidFill>
                    <a:schemeClr val="bg1">
                      <a:lumMod val="95000"/>
                    </a:schemeClr>
                  </a:solidFill>
                  <a:latin typeface="Inter" panose="02000503000000020004" pitchFamily="2" charset="0"/>
                  <a:ea typeface="Inter" panose="02000503000000020004" pitchFamily="2" charset="0"/>
                </a:rPr>
                <a:t>DE</a:t>
              </a:r>
              <a:r>
                <a:rPr lang="en-GB" sz="1100" b="1" i="1" dirty="0">
                  <a:solidFill>
                    <a:srgbClr val="00B0F0"/>
                  </a:solidFill>
                  <a:latin typeface="Inter" panose="02000503000000020004" pitchFamily="2" charset="0"/>
                  <a:ea typeface="Inter" panose="02000503000000020004" pitchFamily="2" charset="0"/>
                </a:rPr>
                <a:t>          </a:t>
              </a:r>
              <a:r>
                <a:rPr lang="en-US" sz="1100" b="1" dirty="0">
                  <a:solidFill>
                    <a:srgbClr val="FFC000"/>
                  </a:solidFill>
                  <a:latin typeface="Inter" panose="02000503000000020004" pitchFamily="2" charset="0"/>
                  <a:ea typeface="Inter" panose="02000503000000020004" pitchFamily="2" charset="0"/>
                </a:rPr>
                <a:t>€</a:t>
              </a:r>
              <a:r>
                <a:rPr lang="en-GB" sz="1100" b="1" i="1" dirty="0">
                  <a:solidFill>
                    <a:srgbClr val="FFC000"/>
                  </a:solidFill>
                  <a:latin typeface="Inter" panose="02000503000000020004" pitchFamily="2" charset="0"/>
                  <a:ea typeface="Inter" panose="02000503000000020004" pitchFamily="2" charset="0"/>
                </a:rPr>
                <a:t>197    </a:t>
              </a:r>
            </a:p>
          </p:txBody>
        </p:sp>
        <p:sp>
          <p:nvSpPr>
            <p:cNvPr id="85" name="TextBox 84">
              <a:extLst>
                <a:ext uri="{FF2B5EF4-FFF2-40B4-BE49-F238E27FC236}">
                  <a16:creationId xmlns:a16="http://schemas.microsoft.com/office/drawing/2014/main" id="{B28F0582-0654-2155-B224-A5A763A90539}"/>
                </a:ext>
              </a:extLst>
            </p:cNvPr>
            <p:cNvSpPr txBox="1"/>
            <p:nvPr/>
          </p:nvSpPr>
          <p:spPr>
            <a:xfrm>
              <a:off x="8184232" y="5597019"/>
              <a:ext cx="2160240" cy="261610"/>
            </a:xfrm>
            <a:prstGeom prst="rect">
              <a:avLst/>
            </a:prstGeom>
            <a:noFill/>
          </p:spPr>
          <p:txBody>
            <a:bodyPr wrap="square" rtlCol="0">
              <a:spAutoFit/>
            </a:bodyPr>
            <a:lstStyle/>
            <a:p>
              <a:r>
                <a:rPr lang="en-GB" sz="1100" i="1" dirty="0">
                  <a:solidFill>
                    <a:schemeClr val="bg1">
                      <a:lumMod val="95000"/>
                    </a:schemeClr>
                  </a:solidFill>
                  <a:latin typeface="Inter" panose="02000503000000020004" pitchFamily="2" charset="0"/>
                  <a:ea typeface="Inter" panose="02000503000000020004" pitchFamily="2" charset="0"/>
                </a:rPr>
                <a:t>Converged, GB slightly higher</a:t>
              </a:r>
              <a:endParaRPr lang="en-US" sz="1100" i="1" dirty="0">
                <a:solidFill>
                  <a:schemeClr val="bg1">
                    <a:lumMod val="95000"/>
                  </a:schemeClr>
                </a:solidFill>
                <a:latin typeface="Inter" panose="02000503000000020004" pitchFamily="2" charset="0"/>
                <a:ea typeface="Inter" panose="02000503000000020004" pitchFamily="2" charset="0"/>
              </a:endParaRPr>
            </a:p>
          </p:txBody>
        </p:sp>
      </p:grpSp>
    </p:spTree>
    <p:extLst>
      <p:ext uri="{BB962C8B-B14F-4D97-AF65-F5344CB8AC3E}">
        <p14:creationId xmlns:p14="http://schemas.microsoft.com/office/powerpoint/2010/main" val="3880840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500"/>
                                        <p:tgtEl>
                                          <p:spTgt spid="70"/>
                                        </p:tgtEl>
                                      </p:cBhvr>
                                    </p:animEffect>
                                    <p:anim calcmode="lin" valueType="num">
                                      <p:cBhvr>
                                        <p:cTn id="8" dur="500" fill="hold"/>
                                        <p:tgtEl>
                                          <p:spTgt spid="70"/>
                                        </p:tgtEl>
                                        <p:attrNameLst>
                                          <p:attrName>ppt_x</p:attrName>
                                        </p:attrNameLst>
                                      </p:cBhvr>
                                      <p:tavLst>
                                        <p:tav tm="0">
                                          <p:val>
                                            <p:strVal val="#ppt_x"/>
                                          </p:val>
                                        </p:tav>
                                        <p:tav tm="100000">
                                          <p:val>
                                            <p:strVal val="#ppt_x"/>
                                          </p:val>
                                        </p:tav>
                                      </p:tavLst>
                                    </p:anim>
                                    <p:anim calcmode="lin" valueType="num">
                                      <p:cBhvr>
                                        <p:cTn id="9" dur="500" fill="hold"/>
                                        <p:tgtEl>
                                          <p:spTgt spid="7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2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par>
                          <p:cTn id="14" fill="hold">
                            <p:stCondLst>
                              <p:cond delay="1200"/>
                            </p:stCondLst>
                            <p:childTnLst>
                              <p:par>
                                <p:cTn id="15" presetID="10" presetClass="entr" presetSubtype="0" fill="hold" grpId="0" nodeType="afterEffect">
                                  <p:stCondLst>
                                    <p:cond delay="2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1900"/>
                            </p:stCondLst>
                            <p:childTnLst>
                              <p:par>
                                <p:cTn id="19" presetID="10" presetClass="entr" presetSubtype="0" fill="hold" nodeType="afterEffect">
                                  <p:stCondLst>
                                    <p:cond delay="20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par>
                          <p:cTn id="22" fill="hold">
                            <p:stCondLst>
                              <p:cond delay="3300"/>
                            </p:stCondLst>
                            <p:childTnLst>
                              <p:par>
                                <p:cTn id="23" presetID="22" presetClass="entr" presetSubtype="8" fill="hold" grpId="0" nodeType="afterEffect">
                                  <p:stCondLst>
                                    <p:cond delay="200"/>
                                  </p:stCondLst>
                                  <p:childTnLst>
                                    <p:set>
                                      <p:cBhvr>
                                        <p:cTn id="24" dur="1" fill="hold">
                                          <p:stCondLst>
                                            <p:cond delay="0"/>
                                          </p:stCondLst>
                                        </p:cTn>
                                        <p:tgtEl>
                                          <p:spTgt spid="9">
                                            <p:graphicEl>
                                              <a:chart seriesIdx="-3" categoryIdx="-3" bldStep="gridLegend"/>
                                            </p:graphicEl>
                                          </p:spTgt>
                                        </p:tgtEl>
                                        <p:attrNameLst>
                                          <p:attrName>style.visibility</p:attrName>
                                        </p:attrNameLst>
                                      </p:cBhvr>
                                      <p:to>
                                        <p:strVal val="visible"/>
                                      </p:to>
                                    </p:set>
                                    <p:animEffect transition="in" filter="wipe(left)">
                                      <p:cBhvr>
                                        <p:cTn id="25" dur="500"/>
                                        <p:tgtEl>
                                          <p:spTgt spid="9">
                                            <p:graphicEl>
                                              <a:chart seriesIdx="-3" categoryIdx="-3" bldStep="gridLegend"/>
                                            </p:graphicEl>
                                          </p:spTgt>
                                        </p:tgtEl>
                                      </p:cBhvr>
                                    </p:animEffect>
                                  </p:childTnLst>
                                </p:cTn>
                              </p:par>
                            </p:childTnLst>
                          </p:cTn>
                        </p:par>
                        <p:par>
                          <p:cTn id="26" fill="hold">
                            <p:stCondLst>
                              <p:cond delay="4000"/>
                            </p:stCondLst>
                            <p:childTnLst>
                              <p:par>
                                <p:cTn id="27" presetID="22" presetClass="entr" presetSubtype="8" fill="hold" grpId="0" nodeType="afterEffect">
                                  <p:stCondLst>
                                    <p:cond delay="200"/>
                                  </p:stCondLst>
                                  <p:childTnLst>
                                    <p:set>
                                      <p:cBhvr>
                                        <p:cTn id="28" dur="1" fill="hold">
                                          <p:stCondLst>
                                            <p:cond delay="0"/>
                                          </p:stCondLst>
                                        </p:cTn>
                                        <p:tgtEl>
                                          <p:spTgt spid="9">
                                            <p:graphicEl>
                                              <a:chart seriesIdx="0" categoryIdx="-4" bldStep="series"/>
                                            </p:graphicEl>
                                          </p:spTgt>
                                        </p:tgtEl>
                                        <p:attrNameLst>
                                          <p:attrName>style.visibility</p:attrName>
                                        </p:attrNameLst>
                                      </p:cBhvr>
                                      <p:to>
                                        <p:strVal val="visible"/>
                                      </p:to>
                                    </p:set>
                                    <p:animEffect transition="in" filter="wipe(left)">
                                      <p:cBhvr>
                                        <p:cTn id="29" dur="500"/>
                                        <p:tgtEl>
                                          <p:spTgt spid="9">
                                            <p:graphicEl>
                                              <a:chart seriesIdx="0" categoryIdx="-4" bldStep="series"/>
                                            </p:graphicEl>
                                          </p:spTgt>
                                        </p:tgtEl>
                                      </p:cBhvr>
                                    </p:animEffect>
                                  </p:childTnLst>
                                </p:cTn>
                              </p:par>
                            </p:childTnLst>
                          </p:cTn>
                        </p:par>
                        <p:par>
                          <p:cTn id="30" fill="hold">
                            <p:stCondLst>
                              <p:cond delay="4700"/>
                            </p:stCondLst>
                            <p:childTnLst>
                              <p:par>
                                <p:cTn id="31" presetID="22" presetClass="entr" presetSubtype="8" fill="hold" grpId="0" nodeType="afterEffect">
                                  <p:stCondLst>
                                    <p:cond delay="200"/>
                                  </p:stCondLst>
                                  <p:childTnLst>
                                    <p:set>
                                      <p:cBhvr>
                                        <p:cTn id="32" dur="1" fill="hold">
                                          <p:stCondLst>
                                            <p:cond delay="0"/>
                                          </p:stCondLst>
                                        </p:cTn>
                                        <p:tgtEl>
                                          <p:spTgt spid="9">
                                            <p:graphicEl>
                                              <a:chart seriesIdx="1" categoryIdx="-4" bldStep="series"/>
                                            </p:graphicEl>
                                          </p:spTgt>
                                        </p:tgtEl>
                                        <p:attrNameLst>
                                          <p:attrName>style.visibility</p:attrName>
                                        </p:attrNameLst>
                                      </p:cBhvr>
                                      <p:to>
                                        <p:strVal val="visible"/>
                                      </p:to>
                                    </p:set>
                                    <p:animEffect transition="in" filter="wipe(left)">
                                      <p:cBhvr>
                                        <p:cTn id="33" dur="500"/>
                                        <p:tgtEl>
                                          <p:spTgt spid="9">
                                            <p:graphicEl>
                                              <a:chart seriesIdx="1" categoryIdx="-4" bldStep="series"/>
                                            </p:graphicEl>
                                          </p:spTgt>
                                        </p:tgtEl>
                                      </p:cBhvr>
                                    </p:animEffect>
                                  </p:childTnLst>
                                </p:cTn>
                              </p:par>
                            </p:childTnLst>
                          </p:cTn>
                        </p:par>
                        <p:par>
                          <p:cTn id="34" fill="hold">
                            <p:stCondLst>
                              <p:cond delay="5400"/>
                            </p:stCondLst>
                            <p:childTnLst>
                              <p:par>
                                <p:cTn id="35" presetID="10" presetClass="entr" presetSubtype="0" fill="hold" nodeType="after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fade">
                                      <p:cBhvr>
                                        <p:cTn id="37" dur="500"/>
                                        <p:tgtEl>
                                          <p:spTgt spid="46"/>
                                        </p:tgtEl>
                                      </p:cBhvr>
                                    </p:animEffect>
                                  </p:childTnLst>
                                </p:cTn>
                              </p:par>
                            </p:childTnLst>
                          </p:cTn>
                        </p:par>
                        <p:par>
                          <p:cTn id="38" fill="hold">
                            <p:stCondLst>
                              <p:cond delay="5900"/>
                            </p:stCondLst>
                            <p:childTnLst>
                              <p:par>
                                <p:cTn id="39" presetID="10" presetClass="entr" presetSubtype="0" fill="hold" nodeType="afterEffect">
                                  <p:stCondLst>
                                    <p:cond delay="0"/>
                                  </p:stCondLst>
                                  <p:childTnLst>
                                    <p:set>
                                      <p:cBhvr>
                                        <p:cTn id="40" dur="1" fill="hold">
                                          <p:stCondLst>
                                            <p:cond delay="0"/>
                                          </p:stCondLst>
                                        </p:cTn>
                                        <p:tgtEl>
                                          <p:spTgt spid="45"/>
                                        </p:tgtEl>
                                        <p:attrNameLst>
                                          <p:attrName>style.visibility</p:attrName>
                                        </p:attrNameLst>
                                      </p:cBhvr>
                                      <p:to>
                                        <p:strVal val="visible"/>
                                      </p:to>
                                    </p:set>
                                    <p:animEffect transition="in" filter="fade">
                                      <p:cBhvr>
                                        <p:cTn id="41" dur="500"/>
                                        <p:tgtEl>
                                          <p:spTgt spid="45"/>
                                        </p:tgtEl>
                                      </p:cBhvr>
                                    </p:animEffect>
                                  </p:childTnLst>
                                </p:cTn>
                              </p:par>
                            </p:childTnLst>
                          </p:cTn>
                        </p:par>
                        <p:par>
                          <p:cTn id="42" fill="hold">
                            <p:stCondLst>
                              <p:cond delay="6400"/>
                            </p:stCondLst>
                            <p:childTnLst>
                              <p:par>
                                <p:cTn id="43" presetID="10" presetClass="entr" presetSubtype="0" fill="hold" grpId="0" nodeType="after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fade">
                                      <p:cBhvr>
                                        <p:cTn id="45" dur="500"/>
                                        <p:tgtEl>
                                          <p:spTgt spid="44"/>
                                        </p:tgtEl>
                                      </p:cBhvr>
                                    </p:animEffect>
                                  </p:childTnLst>
                                </p:cTn>
                              </p:par>
                            </p:childTnLst>
                          </p:cTn>
                        </p:par>
                        <p:par>
                          <p:cTn id="46" fill="hold">
                            <p:stCondLst>
                              <p:cond delay="6900"/>
                            </p:stCondLst>
                            <p:childTnLst>
                              <p:par>
                                <p:cTn id="47" presetID="10" presetClass="entr" presetSubtype="0" fill="hold" nodeType="afterEffect">
                                  <p:stCondLst>
                                    <p:cond delay="200"/>
                                  </p:stCondLst>
                                  <p:childTnLst>
                                    <p:set>
                                      <p:cBhvr>
                                        <p:cTn id="48" dur="1" fill="hold">
                                          <p:stCondLst>
                                            <p:cond delay="0"/>
                                          </p:stCondLst>
                                        </p:cTn>
                                        <p:tgtEl>
                                          <p:spTgt spid="63"/>
                                        </p:tgtEl>
                                        <p:attrNameLst>
                                          <p:attrName>style.visibility</p:attrName>
                                        </p:attrNameLst>
                                      </p:cBhvr>
                                      <p:to>
                                        <p:strVal val="visible"/>
                                      </p:to>
                                    </p:set>
                                    <p:animEffect transition="in" filter="fade">
                                      <p:cBhvr>
                                        <p:cTn id="49" dur="500"/>
                                        <p:tgtEl>
                                          <p:spTgt spid="63"/>
                                        </p:tgtEl>
                                      </p:cBhvr>
                                    </p:animEffect>
                                  </p:childTnLst>
                                </p:cTn>
                              </p:par>
                            </p:childTnLst>
                          </p:cTn>
                        </p:par>
                        <p:par>
                          <p:cTn id="50" fill="hold">
                            <p:stCondLst>
                              <p:cond delay="7600"/>
                            </p:stCondLst>
                            <p:childTnLst>
                              <p:par>
                                <p:cTn id="51" presetID="10" presetClass="entr" presetSubtype="0" fill="hold" nodeType="afterEffect">
                                  <p:stCondLst>
                                    <p:cond delay="200"/>
                                  </p:stCondLst>
                                  <p:childTnLst>
                                    <p:set>
                                      <p:cBhvr>
                                        <p:cTn id="52" dur="1" fill="hold">
                                          <p:stCondLst>
                                            <p:cond delay="0"/>
                                          </p:stCondLst>
                                        </p:cTn>
                                        <p:tgtEl>
                                          <p:spTgt spid="86"/>
                                        </p:tgtEl>
                                        <p:attrNameLst>
                                          <p:attrName>style.visibility</p:attrName>
                                        </p:attrNameLst>
                                      </p:cBhvr>
                                      <p:to>
                                        <p:strVal val="visible"/>
                                      </p:to>
                                    </p:set>
                                    <p:animEffect transition="in" filter="fade">
                                      <p:cBhvr>
                                        <p:cTn id="53" dur="400"/>
                                        <p:tgtEl>
                                          <p:spTgt spid="86"/>
                                        </p:tgtEl>
                                      </p:cBhvr>
                                    </p:animEffect>
                                  </p:childTnLst>
                                </p:cTn>
                              </p:par>
                            </p:childTnLst>
                          </p:cTn>
                        </p:par>
                        <p:par>
                          <p:cTn id="54" fill="hold">
                            <p:stCondLst>
                              <p:cond delay="8200"/>
                            </p:stCondLst>
                            <p:childTnLst>
                              <p:par>
                                <p:cTn id="55" presetID="2" presetClass="entr" presetSubtype="2" fill="hold" nodeType="afterEffect">
                                  <p:stCondLst>
                                    <p:cond delay="200"/>
                                  </p:stCondLst>
                                  <p:childTnLst>
                                    <p:set>
                                      <p:cBhvr>
                                        <p:cTn id="56" dur="1" fill="hold">
                                          <p:stCondLst>
                                            <p:cond delay="0"/>
                                          </p:stCondLst>
                                        </p:cTn>
                                        <p:tgtEl>
                                          <p:spTgt spid="89"/>
                                        </p:tgtEl>
                                        <p:attrNameLst>
                                          <p:attrName>style.visibility</p:attrName>
                                        </p:attrNameLst>
                                      </p:cBhvr>
                                      <p:to>
                                        <p:strVal val="visible"/>
                                      </p:to>
                                    </p:set>
                                    <p:anim calcmode="lin" valueType="num">
                                      <p:cBhvr additive="base">
                                        <p:cTn id="57" dur="600" fill="hold"/>
                                        <p:tgtEl>
                                          <p:spTgt spid="89"/>
                                        </p:tgtEl>
                                        <p:attrNameLst>
                                          <p:attrName>ppt_x</p:attrName>
                                        </p:attrNameLst>
                                      </p:cBhvr>
                                      <p:tavLst>
                                        <p:tav tm="0">
                                          <p:val>
                                            <p:strVal val="1+#ppt_w/2"/>
                                          </p:val>
                                        </p:tav>
                                        <p:tav tm="100000">
                                          <p:val>
                                            <p:strVal val="#ppt_x"/>
                                          </p:val>
                                        </p:tav>
                                      </p:tavLst>
                                    </p:anim>
                                    <p:anim calcmode="lin" valueType="num">
                                      <p:cBhvr additive="base">
                                        <p:cTn id="58" dur="600" fill="hold"/>
                                        <p:tgtEl>
                                          <p:spTgt spid="89"/>
                                        </p:tgtEl>
                                        <p:attrNameLst>
                                          <p:attrName>ppt_y</p:attrName>
                                        </p:attrNameLst>
                                      </p:cBhvr>
                                      <p:tavLst>
                                        <p:tav tm="0">
                                          <p:val>
                                            <p:strVal val="#ppt_y"/>
                                          </p:val>
                                        </p:tav>
                                        <p:tav tm="100000">
                                          <p:val>
                                            <p:strVal val="#ppt_y"/>
                                          </p:val>
                                        </p:tav>
                                      </p:tavLst>
                                    </p:anim>
                                  </p:childTnLst>
                                </p:cTn>
                              </p:par>
                            </p:childTnLst>
                          </p:cTn>
                        </p:par>
                        <p:par>
                          <p:cTn id="59" fill="hold">
                            <p:stCondLst>
                              <p:cond delay="9000"/>
                            </p:stCondLst>
                            <p:childTnLst>
                              <p:par>
                                <p:cTn id="60" presetID="10" presetClass="entr" presetSubtype="0" fill="hold" nodeType="afterEffect">
                                  <p:stCondLst>
                                    <p:cond delay="200"/>
                                  </p:stCondLst>
                                  <p:childTnLst>
                                    <p:set>
                                      <p:cBhvr>
                                        <p:cTn id="61" dur="1" fill="hold">
                                          <p:stCondLst>
                                            <p:cond delay="0"/>
                                          </p:stCondLst>
                                        </p:cTn>
                                        <p:tgtEl>
                                          <p:spTgt spid="87"/>
                                        </p:tgtEl>
                                        <p:attrNameLst>
                                          <p:attrName>style.visibility</p:attrName>
                                        </p:attrNameLst>
                                      </p:cBhvr>
                                      <p:to>
                                        <p:strVal val="visible"/>
                                      </p:to>
                                    </p:set>
                                    <p:animEffect transition="in" filter="fade">
                                      <p:cBhvr>
                                        <p:cTn id="62" dur="400"/>
                                        <p:tgtEl>
                                          <p:spTgt spid="87"/>
                                        </p:tgtEl>
                                      </p:cBhvr>
                                    </p:animEffect>
                                  </p:childTnLst>
                                </p:cTn>
                              </p:par>
                            </p:childTnLst>
                          </p:cTn>
                        </p:par>
                        <p:par>
                          <p:cTn id="63" fill="hold">
                            <p:stCondLst>
                              <p:cond delay="9600"/>
                            </p:stCondLst>
                            <p:childTnLst>
                              <p:par>
                                <p:cTn id="64" presetID="2" presetClass="entr" presetSubtype="2" fill="hold" nodeType="afterEffect">
                                  <p:stCondLst>
                                    <p:cond delay="0"/>
                                  </p:stCondLst>
                                  <p:childTnLst>
                                    <p:set>
                                      <p:cBhvr>
                                        <p:cTn id="65" dur="1" fill="hold">
                                          <p:stCondLst>
                                            <p:cond delay="0"/>
                                          </p:stCondLst>
                                        </p:cTn>
                                        <p:tgtEl>
                                          <p:spTgt spid="90"/>
                                        </p:tgtEl>
                                        <p:attrNameLst>
                                          <p:attrName>style.visibility</p:attrName>
                                        </p:attrNameLst>
                                      </p:cBhvr>
                                      <p:to>
                                        <p:strVal val="visible"/>
                                      </p:to>
                                    </p:set>
                                    <p:anim calcmode="lin" valueType="num">
                                      <p:cBhvr additive="base">
                                        <p:cTn id="66" dur="600" fill="hold"/>
                                        <p:tgtEl>
                                          <p:spTgt spid="90"/>
                                        </p:tgtEl>
                                        <p:attrNameLst>
                                          <p:attrName>ppt_x</p:attrName>
                                        </p:attrNameLst>
                                      </p:cBhvr>
                                      <p:tavLst>
                                        <p:tav tm="0">
                                          <p:val>
                                            <p:strVal val="1+#ppt_w/2"/>
                                          </p:val>
                                        </p:tav>
                                        <p:tav tm="100000">
                                          <p:val>
                                            <p:strVal val="#ppt_x"/>
                                          </p:val>
                                        </p:tav>
                                      </p:tavLst>
                                    </p:anim>
                                    <p:anim calcmode="lin" valueType="num">
                                      <p:cBhvr additive="base">
                                        <p:cTn id="67" dur="600" fill="hold"/>
                                        <p:tgtEl>
                                          <p:spTgt spid="90"/>
                                        </p:tgtEl>
                                        <p:attrNameLst>
                                          <p:attrName>ppt_y</p:attrName>
                                        </p:attrNameLst>
                                      </p:cBhvr>
                                      <p:tavLst>
                                        <p:tav tm="0">
                                          <p:val>
                                            <p:strVal val="#ppt_y"/>
                                          </p:val>
                                        </p:tav>
                                        <p:tav tm="100000">
                                          <p:val>
                                            <p:strVal val="#ppt_y"/>
                                          </p:val>
                                        </p:tav>
                                      </p:tavLst>
                                    </p:anim>
                                  </p:childTnLst>
                                </p:cTn>
                              </p:par>
                            </p:childTnLst>
                          </p:cTn>
                        </p:par>
                        <p:par>
                          <p:cTn id="68" fill="hold">
                            <p:stCondLst>
                              <p:cond delay="10200"/>
                            </p:stCondLst>
                            <p:childTnLst>
                              <p:par>
                                <p:cTn id="69" presetID="10" presetClass="entr" presetSubtype="0" fill="hold" nodeType="afterEffect">
                                  <p:stCondLst>
                                    <p:cond delay="200"/>
                                  </p:stCondLst>
                                  <p:childTnLst>
                                    <p:set>
                                      <p:cBhvr>
                                        <p:cTn id="70" dur="1" fill="hold">
                                          <p:stCondLst>
                                            <p:cond delay="0"/>
                                          </p:stCondLst>
                                        </p:cTn>
                                        <p:tgtEl>
                                          <p:spTgt spid="88"/>
                                        </p:tgtEl>
                                        <p:attrNameLst>
                                          <p:attrName>style.visibility</p:attrName>
                                        </p:attrNameLst>
                                      </p:cBhvr>
                                      <p:to>
                                        <p:strVal val="visible"/>
                                      </p:to>
                                    </p:set>
                                    <p:animEffect transition="in" filter="fade">
                                      <p:cBhvr>
                                        <p:cTn id="71" dur="400"/>
                                        <p:tgtEl>
                                          <p:spTgt spid="88"/>
                                        </p:tgtEl>
                                      </p:cBhvr>
                                    </p:animEffect>
                                  </p:childTnLst>
                                </p:cTn>
                              </p:par>
                            </p:childTnLst>
                          </p:cTn>
                        </p:par>
                        <p:par>
                          <p:cTn id="72" fill="hold">
                            <p:stCondLst>
                              <p:cond delay="10800"/>
                            </p:stCondLst>
                            <p:childTnLst>
                              <p:par>
                                <p:cTn id="73" presetID="2" presetClass="entr" presetSubtype="2" fill="hold" nodeType="afterEffect">
                                  <p:stCondLst>
                                    <p:cond delay="200"/>
                                  </p:stCondLst>
                                  <p:childTnLst>
                                    <p:set>
                                      <p:cBhvr>
                                        <p:cTn id="74" dur="1" fill="hold">
                                          <p:stCondLst>
                                            <p:cond delay="0"/>
                                          </p:stCondLst>
                                        </p:cTn>
                                        <p:tgtEl>
                                          <p:spTgt spid="91"/>
                                        </p:tgtEl>
                                        <p:attrNameLst>
                                          <p:attrName>style.visibility</p:attrName>
                                        </p:attrNameLst>
                                      </p:cBhvr>
                                      <p:to>
                                        <p:strVal val="visible"/>
                                      </p:to>
                                    </p:set>
                                    <p:anim calcmode="lin" valueType="num">
                                      <p:cBhvr additive="base">
                                        <p:cTn id="75" dur="600" fill="hold"/>
                                        <p:tgtEl>
                                          <p:spTgt spid="91"/>
                                        </p:tgtEl>
                                        <p:attrNameLst>
                                          <p:attrName>ppt_x</p:attrName>
                                        </p:attrNameLst>
                                      </p:cBhvr>
                                      <p:tavLst>
                                        <p:tav tm="0">
                                          <p:val>
                                            <p:strVal val="1+#ppt_w/2"/>
                                          </p:val>
                                        </p:tav>
                                        <p:tav tm="100000">
                                          <p:val>
                                            <p:strVal val="#ppt_x"/>
                                          </p:val>
                                        </p:tav>
                                      </p:tavLst>
                                    </p:anim>
                                    <p:anim calcmode="lin" valueType="num">
                                      <p:cBhvr additive="base">
                                        <p:cTn id="76" dur="600" fill="hold"/>
                                        <p:tgtEl>
                                          <p:spTgt spid="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Sub>
          <a:bldChart bld="series"/>
        </p:bldSub>
      </p:bldGraphic>
      <p:bldP spid="13" grpId="0" animBg="1"/>
      <p:bldP spid="44" grpId="0" animBg="1"/>
      <p:bldP spid="7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2F4C"/>
        </a:solidFill>
        <a:effectLst/>
      </p:bgPr>
    </p:bg>
    <p:spTree>
      <p:nvGrpSpPr>
        <p:cNvPr id="1" name="">
          <a:extLst>
            <a:ext uri="{FF2B5EF4-FFF2-40B4-BE49-F238E27FC236}">
              <a16:creationId xmlns:a16="http://schemas.microsoft.com/office/drawing/2014/main" id="{40739163-4AD1-DF65-30B9-E933052E09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E1588E-F944-7ED2-3D5F-8EE20C0B256D}"/>
              </a:ext>
            </a:extLst>
          </p:cNvPr>
          <p:cNvSpPr>
            <a:spLocks noGrp="1"/>
          </p:cNvSpPr>
          <p:nvPr>
            <p:ph type="title"/>
          </p:nvPr>
        </p:nvSpPr>
        <p:spPr>
          <a:xfrm>
            <a:off x="1316804" y="365126"/>
            <a:ext cx="9558392" cy="611567"/>
          </a:xfrm>
        </p:spPr>
        <p:txBody>
          <a:bodyPr>
            <a:normAutofit/>
          </a:bodyPr>
          <a:lstStyle/>
          <a:p>
            <a:pPr algn="ctr"/>
            <a:r>
              <a:rPr lang="en-US" sz="2000" dirty="0">
                <a:solidFill>
                  <a:schemeClr val="bg1"/>
                </a:solidFill>
                <a:latin typeface="Inter ExtraBold" panose="02000503000000020004" pitchFamily="2" charset="0"/>
                <a:ea typeface="Inter ExtraBold" panose="02000503000000020004" pitchFamily="2" charset="0"/>
              </a:rPr>
              <a:t>Baseload Price Comparison: GB VS DE</a:t>
            </a:r>
            <a:br>
              <a:rPr lang="en-US" sz="1600" dirty="0">
                <a:solidFill>
                  <a:srgbClr val="FFC000"/>
                </a:solidFill>
                <a:latin typeface="Inter" panose="02000503000000020004" pitchFamily="2" charset="0"/>
                <a:ea typeface="Inter" panose="02000503000000020004" pitchFamily="2" charset="0"/>
              </a:rPr>
            </a:br>
            <a:r>
              <a:rPr lang="en-US" sz="1600" i="1" dirty="0">
                <a:solidFill>
                  <a:srgbClr val="FFC000"/>
                </a:solidFill>
                <a:latin typeface="Inter" panose="02000503000000020004" pitchFamily="2" charset="0"/>
                <a:ea typeface="Inter" panose="02000503000000020004" pitchFamily="2" charset="0"/>
              </a:rPr>
              <a:t>How do wholesale power prices (baseload) compare between GB and DE?</a:t>
            </a:r>
          </a:p>
        </p:txBody>
      </p:sp>
      <p:sp>
        <p:nvSpPr>
          <p:cNvPr id="16" name="Rectangle: Rounded Corners 15">
            <a:extLst>
              <a:ext uri="{FF2B5EF4-FFF2-40B4-BE49-F238E27FC236}">
                <a16:creationId xmlns:a16="http://schemas.microsoft.com/office/drawing/2014/main" id="{4D80EC42-FCE3-0D64-57DA-A871F1015140}"/>
              </a:ext>
            </a:extLst>
          </p:cNvPr>
          <p:cNvSpPr/>
          <p:nvPr/>
        </p:nvSpPr>
        <p:spPr>
          <a:xfrm>
            <a:off x="4043772" y="2402912"/>
            <a:ext cx="900000" cy="234000"/>
          </a:xfrm>
          <a:prstGeom prst="roundRect">
            <a:avLst>
              <a:gd name="adj" fmla="val 50000"/>
            </a:avLst>
          </a:prstGeom>
          <a:solidFill>
            <a:srgbClr val="09A472">
              <a:alpha val="50000"/>
            </a:srgbClr>
          </a:solidFill>
          <a:ln w="25400">
            <a:solidFill>
              <a:srgbClr val="09A4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atin typeface="Inter" panose="02000503000000020004" pitchFamily="2" charset="0"/>
                <a:ea typeface="Inter" panose="02000503000000020004" pitchFamily="2" charset="0"/>
              </a:rPr>
              <a:t>2023 Q1</a:t>
            </a:r>
            <a:endParaRPr lang="en-US" sz="1200" dirty="0">
              <a:latin typeface="Inter" panose="02000503000000020004" pitchFamily="2" charset="0"/>
              <a:ea typeface="Inter" panose="02000503000000020004" pitchFamily="2" charset="0"/>
            </a:endParaRPr>
          </a:p>
        </p:txBody>
      </p:sp>
      <p:cxnSp>
        <p:nvCxnSpPr>
          <p:cNvPr id="17" name="Straight Connector 16">
            <a:extLst>
              <a:ext uri="{FF2B5EF4-FFF2-40B4-BE49-F238E27FC236}">
                <a16:creationId xmlns:a16="http://schemas.microsoft.com/office/drawing/2014/main" id="{23B97CA7-003B-85AD-B1B6-319A7E96E66C}"/>
              </a:ext>
            </a:extLst>
          </p:cNvPr>
          <p:cNvCxnSpPr>
            <a:cxnSpLocks/>
          </p:cNvCxnSpPr>
          <p:nvPr/>
        </p:nvCxnSpPr>
        <p:spPr>
          <a:xfrm>
            <a:off x="1955540" y="2708920"/>
            <a:ext cx="3204256" cy="0"/>
          </a:xfrm>
          <a:prstGeom prst="line">
            <a:avLst/>
          </a:prstGeom>
          <a:ln>
            <a:solidFill>
              <a:srgbClr val="FFC000">
                <a:alpha val="50000"/>
              </a:srgbClr>
            </a:solidFill>
          </a:ln>
        </p:spPr>
        <p:style>
          <a:lnRef idx="1">
            <a:schemeClr val="accent1"/>
          </a:lnRef>
          <a:fillRef idx="0">
            <a:schemeClr val="accent1"/>
          </a:fillRef>
          <a:effectRef idx="0">
            <a:schemeClr val="accent1"/>
          </a:effectRef>
          <a:fontRef idx="minor">
            <a:schemeClr val="tx1"/>
          </a:fontRef>
        </p:style>
      </p:cxnSp>
      <p:grpSp>
        <p:nvGrpSpPr>
          <p:cNvPr id="84" name="Group 83">
            <a:extLst>
              <a:ext uri="{FF2B5EF4-FFF2-40B4-BE49-F238E27FC236}">
                <a16:creationId xmlns:a16="http://schemas.microsoft.com/office/drawing/2014/main" id="{704877E1-B8D9-F369-B479-8957C12E8097}"/>
              </a:ext>
            </a:extLst>
          </p:cNvPr>
          <p:cNvGrpSpPr/>
          <p:nvPr/>
        </p:nvGrpSpPr>
        <p:grpSpPr>
          <a:xfrm>
            <a:off x="1307468" y="2114515"/>
            <a:ext cx="4536504" cy="4122797"/>
            <a:chOff x="695400" y="2114515"/>
            <a:chExt cx="4536504" cy="4122797"/>
          </a:xfrm>
        </p:grpSpPr>
        <p:sp>
          <p:nvSpPr>
            <p:cNvPr id="19" name="Rectangle: Rounded Corners 18">
              <a:extLst>
                <a:ext uri="{FF2B5EF4-FFF2-40B4-BE49-F238E27FC236}">
                  <a16:creationId xmlns:a16="http://schemas.microsoft.com/office/drawing/2014/main" id="{0E594EEA-B10F-213C-604E-676CE35620C6}"/>
                </a:ext>
              </a:extLst>
            </p:cNvPr>
            <p:cNvSpPr/>
            <p:nvPr/>
          </p:nvSpPr>
          <p:spPr>
            <a:xfrm>
              <a:off x="695400" y="2239903"/>
              <a:ext cx="4536504" cy="3876987"/>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Baseload Price Trend</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21" name="Group 20">
              <a:extLst>
                <a:ext uri="{FF2B5EF4-FFF2-40B4-BE49-F238E27FC236}">
                  <a16:creationId xmlns:a16="http://schemas.microsoft.com/office/drawing/2014/main" id="{D43DFB6F-1822-257A-1D5B-562C360CCA80}"/>
                </a:ext>
              </a:extLst>
            </p:cNvPr>
            <p:cNvGrpSpPr/>
            <p:nvPr/>
          </p:nvGrpSpPr>
          <p:grpSpPr>
            <a:xfrm>
              <a:off x="696724" y="2114515"/>
              <a:ext cx="523702" cy="4122797"/>
              <a:chOff x="4878000" y="1468232"/>
              <a:chExt cx="457200" cy="2970669"/>
            </a:xfrm>
          </p:grpSpPr>
          <p:sp>
            <p:nvSpPr>
              <p:cNvPr id="22" name="Arc 29">
                <a:extLst>
                  <a:ext uri="{FF2B5EF4-FFF2-40B4-BE49-F238E27FC236}">
                    <a16:creationId xmlns:a16="http://schemas.microsoft.com/office/drawing/2014/main" id="{2E98AB4D-6625-FF54-C34E-41B09EF92F7B}"/>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09A472"/>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26" name="Group 25">
                <a:extLst>
                  <a:ext uri="{FF2B5EF4-FFF2-40B4-BE49-F238E27FC236}">
                    <a16:creationId xmlns:a16="http://schemas.microsoft.com/office/drawing/2014/main" id="{0BEEBFC2-79E6-94A6-2D40-68B8C6BB5503}"/>
                  </a:ext>
                </a:extLst>
              </p:cNvPr>
              <p:cNvGrpSpPr/>
              <p:nvPr/>
            </p:nvGrpSpPr>
            <p:grpSpPr>
              <a:xfrm>
                <a:off x="4878000" y="1917596"/>
                <a:ext cx="457200" cy="2521305"/>
                <a:chOff x="4871440" y="1917596"/>
                <a:chExt cx="457200" cy="2521305"/>
              </a:xfrm>
            </p:grpSpPr>
            <p:cxnSp>
              <p:nvCxnSpPr>
                <p:cNvPr id="28" name="Straight Connector 27">
                  <a:extLst>
                    <a:ext uri="{FF2B5EF4-FFF2-40B4-BE49-F238E27FC236}">
                      <a16:creationId xmlns:a16="http://schemas.microsoft.com/office/drawing/2014/main" id="{D892C692-5EC5-7FBA-8440-DFEB3EE3D5AA}"/>
                    </a:ext>
                  </a:extLst>
                </p:cNvPr>
                <p:cNvCxnSpPr>
                  <a:cxnSpLocks/>
                </p:cNvCxnSpPr>
                <p:nvPr/>
              </p:nvCxnSpPr>
              <p:spPr>
                <a:xfrm>
                  <a:off x="4871440" y="1917596"/>
                  <a:ext cx="0" cy="2106015"/>
                </a:xfrm>
                <a:prstGeom prst="line">
                  <a:avLst/>
                </a:prstGeom>
                <a:ln w="25400">
                  <a:solidFill>
                    <a:srgbClr val="09A472"/>
                  </a:solidFill>
                </a:ln>
              </p:spPr>
              <p:style>
                <a:lnRef idx="1">
                  <a:schemeClr val="accent1"/>
                </a:lnRef>
                <a:fillRef idx="0">
                  <a:schemeClr val="accent1"/>
                </a:fillRef>
                <a:effectRef idx="0">
                  <a:schemeClr val="accent1"/>
                </a:effectRef>
                <a:fontRef idx="minor">
                  <a:schemeClr val="tx1"/>
                </a:fontRef>
              </p:style>
            </p:cxnSp>
            <p:sp>
              <p:nvSpPr>
                <p:cNvPr id="29" name="Arc 29">
                  <a:extLst>
                    <a:ext uri="{FF2B5EF4-FFF2-40B4-BE49-F238E27FC236}">
                      <a16:creationId xmlns:a16="http://schemas.microsoft.com/office/drawing/2014/main" id="{A7511B60-E3D6-DD22-8100-7541F54F0D53}"/>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09A472"/>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graphicFrame>
        <p:nvGraphicFramePr>
          <p:cNvPr id="10" name="Chart 9">
            <a:extLst>
              <a:ext uri="{FF2B5EF4-FFF2-40B4-BE49-F238E27FC236}">
                <a16:creationId xmlns:a16="http://schemas.microsoft.com/office/drawing/2014/main" id="{BBB6D940-60AD-9628-3BFA-AA9256F0225E}"/>
              </a:ext>
            </a:extLst>
          </p:cNvPr>
          <p:cNvGraphicFramePr/>
          <p:nvPr/>
        </p:nvGraphicFramePr>
        <p:xfrm>
          <a:off x="1414868" y="2638872"/>
          <a:ext cx="4392000" cy="3276000"/>
        </p:xfrm>
        <a:graphic>
          <a:graphicData uri="http://schemas.openxmlformats.org/drawingml/2006/chart">
            <c:chart xmlns:c="http://schemas.openxmlformats.org/drawingml/2006/chart" xmlns:r="http://schemas.openxmlformats.org/officeDocument/2006/relationships" r:id="rId2"/>
          </a:graphicData>
        </a:graphic>
      </p:graphicFrame>
      <p:sp>
        <p:nvSpPr>
          <p:cNvPr id="39" name="Rectangle: Rounded Corners 38">
            <a:extLst>
              <a:ext uri="{FF2B5EF4-FFF2-40B4-BE49-F238E27FC236}">
                <a16:creationId xmlns:a16="http://schemas.microsoft.com/office/drawing/2014/main" id="{F8A11787-EEFD-5287-A71F-1C643E4311DD}"/>
              </a:ext>
            </a:extLst>
          </p:cNvPr>
          <p:cNvSpPr/>
          <p:nvPr/>
        </p:nvSpPr>
        <p:spPr>
          <a:xfrm>
            <a:off x="9084932" y="2402912"/>
            <a:ext cx="900000" cy="234000"/>
          </a:xfrm>
          <a:prstGeom prst="roundRect">
            <a:avLst>
              <a:gd name="adj" fmla="val 50000"/>
            </a:avLst>
          </a:prstGeom>
          <a:solidFill>
            <a:srgbClr val="09A472">
              <a:alpha val="50000"/>
            </a:srgbClr>
          </a:solidFill>
          <a:ln w="25400">
            <a:solidFill>
              <a:srgbClr val="09A4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atin typeface="Inter" panose="02000503000000020004" pitchFamily="2" charset="0"/>
                <a:ea typeface="Inter" panose="02000503000000020004" pitchFamily="2" charset="0"/>
              </a:rPr>
              <a:t>2023 Q1</a:t>
            </a:r>
            <a:endParaRPr lang="en-US" sz="1200" dirty="0">
              <a:latin typeface="Inter" panose="02000503000000020004" pitchFamily="2" charset="0"/>
              <a:ea typeface="Inter" panose="02000503000000020004" pitchFamily="2" charset="0"/>
            </a:endParaRPr>
          </a:p>
        </p:txBody>
      </p:sp>
      <p:cxnSp>
        <p:nvCxnSpPr>
          <p:cNvPr id="40" name="Straight Connector 39">
            <a:extLst>
              <a:ext uri="{FF2B5EF4-FFF2-40B4-BE49-F238E27FC236}">
                <a16:creationId xmlns:a16="http://schemas.microsoft.com/office/drawing/2014/main" id="{B7B86360-F72C-CD4E-4C99-06B25C88762A}"/>
              </a:ext>
            </a:extLst>
          </p:cNvPr>
          <p:cNvCxnSpPr>
            <a:cxnSpLocks/>
          </p:cNvCxnSpPr>
          <p:nvPr/>
        </p:nvCxnSpPr>
        <p:spPr>
          <a:xfrm>
            <a:off x="6996700" y="2708920"/>
            <a:ext cx="3204256" cy="0"/>
          </a:xfrm>
          <a:prstGeom prst="line">
            <a:avLst/>
          </a:prstGeom>
          <a:ln>
            <a:solidFill>
              <a:srgbClr val="FFC000">
                <a:alpha val="50000"/>
              </a:srgbClr>
            </a:solidFill>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166705DB-0C0F-8A0E-761E-E872803AF43B}"/>
              </a:ext>
            </a:extLst>
          </p:cNvPr>
          <p:cNvGrpSpPr/>
          <p:nvPr/>
        </p:nvGrpSpPr>
        <p:grpSpPr>
          <a:xfrm>
            <a:off x="6348028" y="2113272"/>
            <a:ext cx="4536504" cy="4122797"/>
            <a:chOff x="5735960" y="2113272"/>
            <a:chExt cx="4536504" cy="4122797"/>
          </a:xfrm>
        </p:grpSpPr>
        <p:sp>
          <p:nvSpPr>
            <p:cNvPr id="42" name="Rectangle: Rounded Corners 41">
              <a:extLst>
                <a:ext uri="{FF2B5EF4-FFF2-40B4-BE49-F238E27FC236}">
                  <a16:creationId xmlns:a16="http://schemas.microsoft.com/office/drawing/2014/main" id="{05ECBBB1-4D3E-1C94-8342-CDBF405320C2}"/>
                </a:ext>
              </a:extLst>
            </p:cNvPr>
            <p:cNvSpPr/>
            <p:nvPr/>
          </p:nvSpPr>
          <p:spPr>
            <a:xfrm>
              <a:off x="5735960" y="2238660"/>
              <a:ext cx="4536504" cy="3876987"/>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r>
                <a:rPr lang="en-GB" sz="1200" b="1" dirty="0">
                  <a:solidFill>
                    <a:schemeClr val="bg2"/>
                  </a:solidFill>
                  <a:latin typeface="Inter" panose="02000503000000020004" pitchFamily="2" charset="0"/>
                  <a:ea typeface="Inter" panose="02000503000000020004" pitchFamily="2" charset="0"/>
                </a:rPr>
                <a:t>                     Price Evolution</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43" name="Group 42">
              <a:extLst>
                <a:ext uri="{FF2B5EF4-FFF2-40B4-BE49-F238E27FC236}">
                  <a16:creationId xmlns:a16="http://schemas.microsoft.com/office/drawing/2014/main" id="{9BC67FA3-98EF-44C8-4C3D-B13B3F795CAB}"/>
                </a:ext>
              </a:extLst>
            </p:cNvPr>
            <p:cNvGrpSpPr/>
            <p:nvPr/>
          </p:nvGrpSpPr>
          <p:grpSpPr>
            <a:xfrm>
              <a:off x="5737284" y="2113272"/>
              <a:ext cx="523702" cy="4122797"/>
              <a:chOff x="4878000" y="1468232"/>
              <a:chExt cx="457200" cy="2970669"/>
            </a:xfrm>
          </p:grpSpPr>
          <p:sp>
            <p:nvSpPr>
              <p:cNvPr id="44" name="Arc 29">
                <a:extLst>
                  <a:ext uri="{FF2B5EF4-FFF2-40B4-BE49-F238E27FC236}">
                    <a16:creationId xmlns:a16="http://schemas.microsoft.com/office/drawing/2014/main" id="{E9DE5F23-1480-C251-34F7-C20921D441D5}"/>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09A472"/>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45" name="Group 44">
                <a:extLst>
                  <a:ext uri="{FF2B5EF4-FFF2-40B4-BE49-F238E27FC236}">
                    <a16:creationId xmlns:a16="http://schemas.microsoft.com/office/drawing/2014/main" id="{9A2452EF-E9B2-9A75-6F52-5CF58843D611}"/>
                  </a:ext>
                </a:extLst>
              </p:cNvPr>
              <p:cNvGrpSpPr/>
              <p:nvPr/>
            </p:nvGrpSpPr>
            <p:grpSpPr>
              <a:xfrm>
                <a:off x="4878000" y="1917596"/>
                <a:ext cx="457200" cy="2521305"/>
                <a:chOff x="4871440" y="1917596"/>
                <a:chExt cx="457200" cy="2521305"/>
              </a:xfrm>
            </p:grpSpPr>
            <p:cxnSp>
              <p:nvCxnSpPr>
                <p:cNvPr id="46" name="Straight Connector 45">
                  <a:extLst>
                    <a:ext uri="{FF2B5EF4-FFF2-40B4-BE49-F238E27FC236}">
                      <a16:creationId xmlns:a16="http://schemas.microsoft.com/office/drawing/2014/main" id="{4916FD40-FC7C-8748-C8AE-A6E6DDE10AD9}"/>
                    </a:ext>
                  </a:extLst>
                </p:cNvPr>
                <p:cNvCxnSpPr>
                  <a:cxnSpLocks/>
                </p:cNvCxnSpPr>
                <p:nvPr/>
              </p:nvCxnSpPr>
              <p:spPr>
                <a:xfrm>
                  <a:off x="4871440" y="1917596"/>
                  <a:ext cx="0" cy="2106015"/>
                </a:xfrm>
                <a:prstGeom prst="line">
                  <a:avLst/>
                </a:prstGeom>
                <a:ln w="25400">
                  <a:solidFill>
                    <a:srgbClr val="09A472"/>
                  </a:solidFill>
                </a:ln>
              </p:spPr>
              <p:style>
                <a:lnRef idx="1">
                  <a:schemeClr val="accent1"/>
                </a:lnRef>
                <a:fillRef idx="0">
                  <a:schemeClr val="accent1"/>
                </a:fillRef>
                <a:effectRef idx="0">
                  <a:schemeClr val="accent1"/>
                </a:effectRef>
                <a:fontRef idx="minor">
                  <a:schemeClr val="tx1"/>
                </a:fontRef>
              </p:style>
            </p:cxnSp>
            <p:sp>
              <p:nvSpPr>
                <p:cNvPr id="47" name="Arc 29">
                  <a:extLst>
                    <a:ext uri="{FF2B5EF4-FFF2-40B4-BE49-F238E27FC236}">
                      <a16:creationId xmlns:a16="http://schemas.microsoft.com/office/drawing/2014/main" id="{0E1CA39E-E35B-8989-50C5-20C9FEF499F4}"/>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09A472"/>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sp>
        <p:nvSpPr>
          <p:cNvPr id="82" name="Rectangle: Diagonal Corners Rounded 81">
            <a:extLst>
              <a:ext uri="{FF2B5EF4-FFF2-40B4-BE49-F238E27FC236}">
                <a16:creationId xmlns:a16="http://schemas.microsoft.com/office/drawing/2014/main" id="{43E8FF2B-5081-1FD4-2BCF-2C4264D05AB8}"/>
              </a:ext>
            </a:extLst>
          </p:cNvPr>
          <p:cNvSpPr/>
          <p:nvPr/>
        </p:nvSpPr>
        <p:spPr>
          <a:xfrm>
            <a:off x="1316804" y="1096626"/>
            <a:ext cx="9558392" cy="946147"/>
          </a:xfrm>
          <a:prstGeom prst="round2DiagRect">
            <a:avLst/>
          </a:prstGeom>
          <a:solidFill>
            <a:srgbClr val="16586B"/>
          </a:solidFill>
          <a:ln w="76200">
            <a:solidFill>
              <a:srgbClr val="16586B">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dirty="0"/>
              <a:t>💡</a:t>
            </a:r>
            <a:r>
              <a:rPr lang="en-US" sz="1400" b="0" i="0" dirty="0">
                <a:solidFill>
                  <a:srgbClr val="FFFFFF"/>
                </a:solidFill>
                <a:effectLst/>
                <a:latin typeface="Segoe UI" panose="020B0502040204020203" pitchFamily="34" charset="0"/>
              </a:rPr>
              <a:t>GB and DE wholesale prices start from </a:t>
            </a:r>
            <a:r>
              <a:rPr lang="en-US" sz="1400" b="1" i="0" dirty="0">
                <a:solidFill>
                  <a:srgbClr val="6EE7B7"/>
                </a:solidFill>
                <a:effectLst/>
                <a:latin typeface="Segoe UI" panose="020B0502040204020203" pitchFamily="34" charset="0"/>
              </a:rPr>
              <a:t>opposite positions</a:t>
            </a:r>
            <a:r>
              <a:rPr lang="en-US" sz="1400" b="0" i="0" dirty="0">
                <a:solidFill>
                  <a:srgbClr val="FFFFFF"/>
                </a:solidFill>
                <a:effectLst/>
                <a:latin typeface="Segoe UI" panose="020B0502040204020203" pitchFamily="34" charset="0"/>
              </a:rPr>
              <a:t> (GB higher), then </a:t>
            </a:r>
            <a:r>
              <a:rPr lang="en-US" sz="1400" b="1" i="0" dirty="0">
                <a:solidFill>
                  <a:srgbClr val="6EE7B7"/>
                </a:solidFill>
                <a:effectLst/>
                <a:latin typeface="Segoe UI" panose="020B0502040204020203" pitchFamily="34" charset="0"/>
              </a:rPr>
              <a:t>rapidly converge</a:t>
            </a:r>
            <a:r>
              <a:rPr lang="en-US" sz="1400" b="0" i="0" dirty="0">
                <a:solidFill>
                  <a:srgbClr val="FFFFFF"/>
                </a:solidFill>
                <a:effectLst/>
                <a:latin typeface="Segoe UI" panose="020B0502040204020203" pitchFamily="34" charset="0"/>
              </a:rPr>
              <a:t> and remain closely aligned throughout the forecast period.</a:t>
            </a:r>
            <a:endParaRPr lang="en-US" sz="1400" dirty="0">
              <a:latin typeface="Inter" panose="02000503000000020004" pitchFamily="2" charset="0"/>
              <a:ea typeface="Inter" panose="02000503000000020004" pitchFamily="2" charset="0"/>
            </a:endParaRPr>
          </a:p>
        </p:txBody>
      </p:sp>
      <p:cxnSp>
        <p:nvCxnSpPr>
          <p:cNvPr id="100" name="Straight Connector 99">
            <a:extLst>
              <a:ext uri="{FF2B5EF4-FFF2-40B4-BE49-F238E27FC236}">
                <a16:creationId xmlns:a16="http://schemas.microsoft.com/office/drawing/2014/main" id="{4CE0C6F3-BE49-3A2D-C89F-AE3B32352985}"/>
              </a:ext>
            </a:extLst>
          </p:cNvPr>
          <p:cNvCxnSpPr>
            <a:cxnSpLocks/>
          </p:cNvCxnSpPr>
          <p:nvPr/>
        </p:nvCxnSpPr>
        <p:spPr>
          <a:xfrm>
            <a:off x="6654064" y="2840624"/>
            <a:ext cx="0" cy="3061304"/>
          </a:xfrm>
          <a:prstGeom prst="line">
            <a:avLst/>
          </a:prstGeom>
          <a:ln w="19050">
            <a:gradFill>
              <a:gsLst>
                <a:gs pos="0">
                  <a:srgbClr val="FFC000"/>
                </a:gs>
                <a:gs pos="64000">
                  <a:srgbClr val="FFC000">
                    <a:alpha val="35000"/>
                  </a:srgbClr>
                </a:gs>
                <a:gs pos="100000">
                  <a:srgbClr val="FFC000">
                    <a:alpha val="20000"/>
                  </a:srgbClr>
                </a:gs>
              </a:gsLst>
              <a:lin ang="5400000" scaled="1"/>
            </a:gradFill>
          </a:ln>
        </p:spPr>
        <p:style>
          <a:lnRef idx="1">
            <a:schemeClr val="accent1"/>
          </a:lnRef>
          <a:fillRef idx="0">
            <a:schemeClr val="accent1"/>
          </a:fillRef>
          <a:effectRef idx="0">
            <a:schemeClr val="accent1"/>
          </a:effectRef>
          <a:fontRef idx="minor">
            <a:schemeClr val="tx1"/>
          </a:fontRef>
        </p:style>
      </p:cxnSp>
      <p:grpSp>
        <p:nvGrpSpPr>
          <p:cNvPr id="113" name="Group 112">
            <a:extLst>
              <a:ext uri="{FF2B5EF4-FFF2-40B4-BE49-F238E27FC236}">
                <a16:creationId xmlns:a16="http://schemas.microsoft.com/office/drawing/2014/main" id="{0BCFCDBB-4018-888E-1298-4EAF16079D17}"/>
              </a:ext>
            </a:extLst>
          </p:cNvPr>
          <p:cNvGrpSpPr/>
          <p:nvPr/>
        </p:nvGrpSpPr>
        <p:grpSpPr>
          <a:xfrm>
            <a:off x="6600064" y="2780928"/>
            <a:ext cx="791135" cy="192419"/>
            <a:chOff x="6600064" y="2780928"/>
            <a:chExt cx="791135" cy="192419"/>
          </a:xfrm>
        </p:grpSpPr>
        <p:sp>
          <p:nvSpPr>
            <p:cNvPr id="101" name="Oval 100">
              <a:extLst>
                <a:ext uri="{FF2B5EF4-FFF2-40B4-BE49-F238E27FC236}">
                  <a16:creationId xmlns:a16="http://schemas.microsoft.com/office/drawing/2014/main" id="{FC25DE31-E422-7E28-C01B-6DC30A4B06DD}"/>
                </a:ext>
              </a:extLst>
            </p:cNvPr>
            <p:cNvSpPr/>
            <p:nvPr/>
          </p:nvSpPr>
          <p:spPr>
            <a:xfrm>
              <a:off x="6600064" y="2837277"/>
              <a:ext cx="108000" cy="108000"/>
            </a:xfrm>
            <a:prstGeom prst="ellipse">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Rounded Corners 103">
              <a:extLst>
                <a:ext uri="{FF2B5EF4-FFF2-40B4-BE49-F238E27FC236}">
                  <a16:creationId xmlns:a16="http://schemas.microsoft.com/office/drawing/2014/main" id="{7D7F4286-EF5B-DF82-EE67-7A58E81B1FF6}"/>
                </a:ext>
              </a:extLst>
            </p:cNvPr>
            <p:cNvSpPr/>
            <p:nvPr/>
          </p:nvSpPr>
          <p:spPr>
            <a:xfrm>
              <a:off x="6761118" y="2780928"/>
              <a:ext cx="630081" cy="192419"/>
            </a:xfrm>
            <a:prstGeom prst="roundRect">
              <a:avLst>
                <a:gd name="adj" fmla="val 50000"/>
              </a:avLst>
            </a:prstGeom>
            <a:solidFill>
              <a:srgbClr val="09A4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latin typeface="Inter" panose="02000503000000020004" pitchFamily="2" charset="0"/>
                  <a:ea typeface="Inter" panose="02000503000000020004" pitchFamily="2" charset="0"/>
                </a:rPr>
                <a:t>2023</a:t>
              </a:r>
              <a:endParaRPr lang="en-US" sz="1100" dirty="0">
                <a:latin typeface="Inter" panose="02000503000000020004" pitchFamily="2" charset="0"/>
                <a:ea typeface="Inter" panose="02000503000000020004" pitchFamily="2" charset="0"/>
              </a:endParaRPr>
            </a:p>
          </p:txBody>
        </p:sp>
      </p:grpSp>
      <p:grpSp>
        <p:nvGrpSpPr>
          <p:cNvPr id="114" name="Group 113">
            <a:extLst>
              <a:ext uri="{FF2B5EF4-FFF2-40B4-BE49-F238E27FC236}">
                <a16:creationId xmlns:a16="http://schemas.microsoft.com/office/drawing/2014/main" id="{153C494B-C7F6-86BE-A6B4-67E807207C13}"/>
              </a:ext>
            </a:extLst>
          </p:cNvPr>
          <p:cNvGrpSpPr/>
          <p:nvPr/>
        </p:nvGrpSpPr>
        <p:grpSpPr>
          <a:xfrm>
            <a:off x="6600064" y="3887333"/>
            <a:ext cx="791135" cy="192419"/>
            <a:chOff x="6600064" y="3887333"/>
            <a:chExt cx="791135" cy="192419"/>
          </a:xfrm>
        </p:grpSpPr>
        <p:sp>
          <p:nvSpPr>
            <p:cNvPr id="102" name="Oval 101">
              <a:extLst>
                <a:ext uri="{FF2B5EF4-FFF2-40B4-BE49-F238E27FC236}">
                  <a16:creationId xmlns:a16="http://schemas.microsoft.com/office/drawing/2014/main" id="{1A3EC76B-67E7-F16D-CF87-0B218641DDD6}"/>
                </a:ext>
              </a:extLst>
            </p:cNvPr>
            <p:cNvSpPr/>
            <p:nvPr/>
          </p:nvSpPr>
          <p:spPr>
            <a:xfrm>
              <a:off x="6600064" y="3926718"/>
              <a:ext cx="108000" cy="108000"/>
            </a:xfrm>
            <a:prstGeom prst="ellipse">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Rounded Corners 104">
              <a:extLst>
                <a:ext uri="{FF2B5EF4-FFF2-40B4-BE49-F238E27FC236}">
                  <a16:creationId xmlns:a16="http://schemas.microsoft.com/office/drawing/2014/main" id="{DF5EA4E6-09C6-F387-D63B-A90598121938}"/>
                </a:ext>
              </a:extLst>
            </p:cNvPr>
            <p:cNvSpPr/>
            <p:nvPr/>
          </p:nvSpPr>
          <p:spPr>
            <a:xfrm>
              <a:off x="6761118" y="3887333"/>
              <a:ext cx="630081" cy="192419"/>
            </a:xfrm>
            <a:prstGeom prst="roundRect">
              <a:avLst>
                <a:gd name="adj" fmla="val 50000"/>
              </a:avLst>
            </a:prstGeom>
            <a:solidFill>
              <a:srgbClr val="09A4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latin typeface="Inter" panose="02000503000000020004" pitchFamily="2" charset="0"/>
                  <a:ea typeface="Inter" panose="02000503000000020004" pitchFamily="2" charset="0"/>
                </a:rPr>
                <a:t>2025</a:t>
              </a:r>
              <a:endParaRPr lang="en-US" sz="1100" dirty="0">
                <a:latin typeface="Inter" panose="02000503000000020004" pitchFamily="2" charset="0"/>
                <a:ea typeface="Inter" panose="02000503000000020004" pitchFamily="2" charset="0"/>
              </a:endParaRPr>
            </a:p>
          </p:txBody>
        </p:sp>
      </p:grpSp>
      <p:grpSp>
        <p:nvGrpSpPr>
          <p:cNvPr id="115" name="Group 114">
            <a:extLst>
              <a:ext uri="{FF2B5EF4-FFF2-40B4-BE49-F238E27FC236}">
                <a16:creationId xmlns:a16="http://schemas.microsoft.com/office/drawing/2014/main" id="{5B950EB9-84F1-32E5-6C4F-DAA0BF2BF9F7}"/>
              </a:ext>
            </a:extLst>
          </p:cNvPr>
          <p:cNvGrpSpPr/>
          <p:nvPr/>
        </p:nvGrpSpPr>
        <p:grpSpPr>
          <a:xfrm>
            <a:off x="6600064" y="4967453"/>
            <a:ext cx="791135" cy="192419"/>
            <a:chOff x="6600064" y="4967453"/>
            <a:chExt cx="791135" cy="192419"/>
          </a:xfrm>
        </p:grpSpPr>
        <p:sp>
          <p:nvSpPr>
            <p:cNvPr id="103" name="Oval 102">
              <a:extLst>
                <a:ext uri="{FF2B5EF4-FFF2-40B4-BE49-F238E27FC236}">
                  <a16:creationId xmlns:a16="http://schemas.microsoft.com/office/drawing/2014/main" id="{81F530C7-20A5-37B4-070C-BF47A116B3B0}"/>
                </a:ext>
              </a:extLst>
            </p:cNvPr>
            <p:cNvSpPr/>
            <p:nvPr/>
          </p:nvSpPr>
          <p:spPr>
            <a:xfrm>
              <a:off x="6600064" y="4989874"/>
              <a:ext cx="108000" cy="108000"/>
            </a:xfrm>
            <a:prstGeom prst="ellipse">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Rounded Corners 105">
              <a:extLst>
                <a:ext uri="{FF2B5EF4-FFF2-40B4-BE49-F238E27FC236}">
                  <a16:creationId xmlns:a16="http://schemas.microsoft.com/office/drawing/2014/main" id="{4B95BD9F-8F73-EDA5-8A47-A61CF2EFBC40}"/>
                </a:ext>
              </a:extLst>
            </p:cNvPr>
            <p:cNvSpPr/>
            <p:nvPr/>
          </p:nvSpPr>
          <p:spPr>
            <a:xfrm>
              <a:off x="6761118" y="4967453"/>
              <a:ext cx="630081" cy="192419"/>
            </a:xfrm>
            <a:prstGeom prst="roundRect">
              <a:avLst>
                <a:gd name="adj" fmla="val 50000"/>
              </a:avLst>
            </a:prstGeom>
            <a:solidFill>
              <a:srgbClr val="09A4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latin typeface="Inter" panose="02000503000000020004" pitchFamily="2" charset="0"/>
                  <a:ea typeface="Inter" panose="02000503000000020004" pitchFamily="2" charset="0"/>
                </a:rPr>
                <a:t>2050</a:t>
              </a:r>
              <a:endParaRPr lang="en-US" sz="1100" dirty="0">
                <a:latin typeface="Inter" panose="02000503000000020004" pitchFamily="2" charset="0"/>
                <a:ea typeface="Inter" panose="02000503000000020004" pitchFamily="2" charset="0"/>
              </a:endParaRPr>
            </a:p>
          </p:txBody>
        </p:sp>
      </p:grpSp>
      <p:grpSp>
        <p:nvGrpSpPr>
          <p:cNvPr id="116" name="Group 115">
            <a:extLst>
              <a:ext uri="{FF2B5EF4-FFF2-40B4-BE49-F238E27FC236}">
                <a16:creationId xmlns:a16="http://schemas.microsoft.com/office/drawing/2014/main" id="{7827C0E9-FA8A-B860-34B6-F20A4831F5AA}"/>
              </a:ext>
            </a:extLst>
          </p:cNvPr>
          <p:cNvGrpSpPr/>
          <p:nvPr/>
        </p:nvGrpSpPr>
        <p:grpSpPr>
          <a:xfrm>
            <a:off x="6762622" y="3148229"/>
            <a:ext cx="3516994" cy="571483"/>
            <a:chOff x="6762622" y="3148229"/>
            <a:chExt cx="3516994" cy="571483"/>
          </a:xfrm>
        </p:grpSpPr>
        <p:sp>
          <p:nvSpPr>
            <p:cNvPr id="107" name="Rectangle: Rounded Corners 106">
              <a:extLst>
                <a:ext uri="{FF2B5EF4-FFF2-40B4-BE49-F238E27FC236}">
                  <a16:creationId xmlns:a16="http://schemas.microsoft.com/office/drawing/2014/main" id="{75D52A27-EA80-5C00-AF80-4E3F5D99BDD1}"/>
                </a:ext>
              </a:extLst>
            </p:cNvPr>
            <p:cNvSpPr/>
            <p:nvPr/>
          </p:nvSpPr>
          <p:spPr>
            <a:xfrm>
              <a:off x="6762622" y="3148229"/>
              <a:ext cx="1142966" cy="571483"/>
            </a:xfrm>
            <a:prstGeom prst="roundRect">
              <a:avLst>
                <a:gd name="adj" fmla="val 7067"/>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100" b="1" dirty="0">
                  <a:solidFill>
                    <a:schemeClr val="bg1">
                      <a:lumMod val="95000"/>
                    </a:schemeClr>
                  </a:solidFill>
                  <a:latin typeface="Inter" panose="02000503000000020004" pitchFamily="2" charset="0"/>
                  <a:ea typeface="Inter" panose="02000503000000020004" pitchFamily="2" charset="0"/>
                </a:rPr>
                <a:t>GB  </a:t>
              </a:r>
              <a:r>
                <a:rPr lang="en-GB" sz="1100" b="1" dirty="0">
                  <a:solidFill>
                    <a:srgbClr val="FFC000"/>
                  </a:solidFill>
                  <a:latin typeface="Inter" panose="02000503000000020004" pitchFamily="2" charset="0"/>
                  <a:ea typeface="Inter" panose="02000503000000020004" pitchFamily="2" charset="0"/>
                </a:rPr>
                <a:t>       </a:t>
              </a:r>
              <a:r>
                <a:rPr lang="en-US" sz="1100" b="1" dirty="0">
                  <a:solidFill>
                    <a:srgbClr val="00B0F0"/>
                  </a:solidFill>
                  <a:latin typeface="Inter" panose="02000503000000020004" pitchFamily="2" charset="0"/>
                  <a:ea typeface="Inter" panose="02000503000000020004" pitchFamily="2" charset="0"/>
                </a:rPr>
                <a:t>€</a:t>
              </a:r>
              <a:r>
                <a:rPr lang="en-GB" sz="1100" b="1" i="1" dirty="0">
                  <a:solidFill>
                    <a:srgbClr val="00B0F0"/>
                  </a:solidFill>
                  <a:latin typeface="Inter" panose="02000503000000020004" pitchFamily="2" charset="0"/>
                  <a:ea typeface="Inter" panose="02000503000000020004" pitchFamily="2" charset="0"/>
                </a:rPr>
                <a:t>260</a:t>
              </a:r>
              <a:endParaRPr lang="en-GB" sz="1100" b="1" dirty="0">
                <a:solidFill>
                  <a:srgbClr val="00B0F0"/>
                </a:solidFill>
                <a:latin typeface="Inter" panose="02000503000000020004" pitchFamily="2" charset="0"/>
                <a:ea typeface="Inter" panose="02000503000000020004" pitchFamily="2" charset="0"/>
              </a:endParaRPr>
            </a:p>
            <a:p>
              <a:pPr>
                <a:lnSpc>
                  <a:spcPct val="150000"/>
                </a:lnSpc>
              </a:pPr>
              <a:r>
                <a:rPr lang="en-GB" sz="1100" b="1" i="1" dirty="0">
                  <a:solidFill>
                    <a:schemeClr val="bg1">
                      <a:lumMod val="95000"/>
                    </a:schemeClr>
                  </a:solidFill>
                  <a:latin typeface="Inter" panose="02000503000000020004" pitchFamily="2" charset="0"/>
                  <a:ea typeface="Inter" panose="02000503000000020004" pitchFamily="2" charset="0"/>
                </a:rPr>
                <a:t>DE</a:t>
              </a:r>
              <a:r>
                <a:rPr lang="en-GB" sz="1100" b="1" i="1" dirty="0">
                  <a:solidFill>
                    <a:srgbClr val="00B0F0"/>
                  </a:solidFill>
                  <a:latin typeface="Inter" panose="02000503000000020004" pitchFamily="2" charset="0"/>
                  <a:ea typeface="Inter" panose="02000503000000020004" pitchFamily="2" charset="0"/>
                </a:rPr>
                <a:t>          </a:t>
              </a:r>
              <a:r>
                <a:rPr lang="en-US" sz="1100" b="1" dirty="0">
                  <a:solidFill>
                    <a:srgbClr val="FFC000"/>
                  </a:solidFill>
                  <a:latin typeface="Inter" panose="02000503000000020004" pitchFamily="2" charset="0"/>
                  <a:ea typeface="Inter" panose="02000503000000020004" pitchFamily="2" charset="0"/>
                </a:rPr>
                <a:t>€</a:t>
              </a:r>
              <a:r>
                <a:rPr lang="en-GB" sz="1100" b="1" i="1" dirty="0">
                  <a:solidFill>
                    <a:srgbClr val="FFC000"/>
                  </a:solidFill>
                  <a:latin typeface="Inter" panose="02000503000000020004" pitchFamily="2" charset="0"/>
                  <a:ea typeface="Inter" panose="02000503000000020004" pitchFamily="2" charset="0"/>
                </a:rPr>
                <a:t>116    </a:t>
              </a:r>
            </a:p>
          </p:txBody>
        </p:sp>
        <p:sp>
          <p:nvSpPr>
            <p:cNvPr id="110" name="TextBox 109">
              <a:extLst>
                <a:ext uri="{FF2B5EF4-FFF2-40B4-BE49-F238E27FC236}">
                  <a16:creationId xmlns:a16="http://schemas.microsoft.com/office/drawing/2014/main" id="{B0070D86-D455-2B63-18B4-5837F490EC05}"/>
                </a:ext>
              </a:extLst>
            </p:cNvPr>
            <p:cNvSpPr txBox="1"/>
            <p:nvPr/>
          </p:nvSpPr>
          <p:spPr>
            <a:xfrm>
              <a:off x="8328252" y="3303165"/>
              <a:ext cx="1951364" cy="261610"/>
            </a:xfrm>
            <a:prstGeom prst="rect">
              <a:avLst/>
            </a:prstGeom>
            <a:noFill/>
          </p:spPr>
          <p:txBody>
            <a:bodyPr wrap="square" rtlCol="0">
              <a:spAutoFit/>
            </a:bodyPr>
            <a:lstStyle/>
            <a:p>
              <a:r>
                <a:rPr lang="en-GB" sz="1100" i="1" dirty="0">
                  <a:solidFill>
                    <a:schemeClr val="bg1">
                      <a:lumMod val="95000"/>
                    </a:schemeClr>
                  </a:solidFill>
                  <a:latin typeface="Inter" panose="02000503000000020004" pitchFamily="2" charset="0"/>
                  <a:ea typeface="Inter" panose="02000503000000020004" pitchFamily="2" charset="0"/>
                </a:rPr>
                <a:t>GB Started 124% higher</a:t>
              </a:r>
              <a:endParaRPr lang="en-US" sz="1100" i="1" dirty="0">
                <a:solidFill>
                  <a:schemeClr val="bg1">
                    <a:lumMod val="95000"/>
                  </a:schemeClr>
                </a:solidFill>
                <a:latin typeface="Inter" panose="02000503000000020004" pitchFamily="2" charset="0"/>
                <a:ea typeface="Inter" panose="02000503000000020004" pitchFamily="2" charset="0"/>
              </a:endParaRPr>
            </a:p>
          </p:txBody>
        </p:sp>
      </p:grpSp>
      <p:grpSp>
        <p:nvGrpSpPr>
          <p:cNvPr id="117" name="Group 116">
            <a:extLst>
              <a:ext uri="{FF2B5EF4-FFF2-40B4-BE49-F238E27FC236}">
                <a16:creationId xmlns:a16="http://schemas.microsoft.com/office/drawing/2014/main" id="{D0DEEC10-B4C8-90C1-471B-C2497F15B76A}"/>
              </a:ext>
            </a:extLst>
          </p:cNvPr>
          <p:cNvGrpSpPr/>
          <p:nvPr/>
        </p:nvGrpSpPr>
        <p:grpSpPr>
          <a:xfrm>
            <a:off x="6761118" y="4221284"/>
            <a:ext cx="3799378" cy="571483"/>
            <a:chOff x="6761118" y="4221284"/>
            <a:chExt cx="3799378" cy="571483"/>
          </a:xfrm>
        </p:grpSpPr>
        <p:sp>
          <p:nvSpPr>
            <p:cNvPr id="108" name="Rectangle: Rounded Corners 107">
              <a:extLst>
                <a:ext uri="{FF2B5EF4-FFF2-40B4-BE49-F238E27FC236}">
                  <a16:creationId xmlns:a16="http://schemas.microsoft.com/office/drawing/2014/main" id="{513513A2-21C7-D5F9-4ABA-2B00D7D5CD95}"/>
                </a:ext>
              </a:extLst>
            </p:cNvPr>
            <p:cNvSpPr/>
            <p:nvPr/>
          </p:nvSpPr>
          <p:spPr>
            <a:xfrm>
              <a:off x="6761118" y="4221284"/>
              <a:ext cx="1142966" cy="571483"/>
            </a:xfrm>
            <a:prstGeom prst="roundRect">
              <a:avLst>
                <a:gd name="adj" fmla="val 7067"/>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100" b="1" dirty="0">
                  <a:solidFill>
                    <a:schemeClr val="bg1">
                      <a:lumMod val="95000"/>
                    </a:schemeClr>
                  </a:solidFill>
                  <a:latin typeface="Inter" panose="02000503000000020004" pitchFamily="2" charset="0"/>
                  <a:ea typeface="Inter" panose="02000503000000020004" pitchFamily="2" charset="0"/>
                </a:rPr>
                <a:t>GB  </a:t>
              </a:r>
              <a:r>
                <a:rPr lang="en-GB" sz="1100" b="1" dirty="0">
                  <a:solidFill>
                    <a:srgbClr val="FFC000"/>
                  </a:solidFill>
                  <a:latin typeface="Inter" panose="02000503000000020004" pitchFamily="2" charset="0"/>
                  <a:ea typeface="Inter" panose="02000503000000020004" pitchFamily="2" charset="0"/>
                </a:rPr>
                <a:t>       </a:t>
              </a:r>
              <a:r>
                <a:rPr lang="en-US" sz="1100" b="1" dirty="0">
                  <a:solidFill>
                    <a:srgbClr val="00B0F0"/>
                  </a:solidFill>
                  <a:latin typeface="Inter" panose="02000503000000020004" pitchFamily="2" charset="0"/>
                  <a:ea typeface="Inter" panose="02000503000000020004" pitchFamily="2" charset="0"/>
                </a:rPr>
                <a:t>€</a:t>
              </a:r>
              <a:r>
                <a:rPr lang="en-GB" sz="1100" b="1" i="1" dirty="0">
                  <a:solidFill>
                    <a:srgbClr val="00B0F0"/>
                  </a:solidFill>
                  <a:latin typeface="Inter" panose="02000503000000020004" pitchFamily="2" charset="0"/>
                  <a:ea typeface="Inter" panose="02000503000000020004" pitchFamily="2" charset="0"/>
                </a:rPr>
                <a:t>93</a:t>
              </a:r>
              <a:endParaRPr lang="en-GB" sz="1100" b="1" dirty="0">
                <a:solidFill>
                  <a:srgbClr val="00B0F0"/>
                </a:solidFill>
                <a:latin typeface="Inter" panose="02000503000000020004" pitchFamily="2" charset="0"/>
                <a:ea typeface="Inter" panose="02000503000000020004" pitchFamily="2" charset="0"/>
              </a:endParaRPr>
            </a:p>
            <a:p>
              <a:pPr>
                <a:lnSpc>
                  <a:spcPct val="150000"/>
                </a:lnSpc>
              </a:pPr>
              <a:r>
                <a:rPr lang="en-GB" sz="1100" b="1" i="1" dirty="0">
                  <a:solidFill>
                    <a:schemeClr val="bg1">
                      <a:lumMod val="95000"/>
                    </a:schemeClr>
                  </a:solidFill>
                  <a:latin typeface="Inter" panose="02000503000000020004" pitchFamily="2" charset="0"/>
                  <a:ea typeface="Inter" panose="02000503000000020004" pitchFamily="2" charset="0"/>
                </a:rPr>
                <a:t>DE</a:t>
              </a:r>
              <a:r>
                <a:rPr lang="en-GB" sz="1100" b="1" i="1" dirty="0">
                  <a:solidFill>
                    <a:srgbClr val="00B0F0"/>
                  </a:solidFill>
                  <a:latin typeface="Inter" panose="02000503000000020004" pitchFamily="2" charset="0"/>
                  <a:ea typeface="Inter" panose="02000503000000020004" pitchFamily="2" charset="0"/>
                </a:rPr>
                <a:t>          </a:t>
              </a:r>
              <a:r>
                <a:rPr lang="en-US" sz="1100" b="1" dirty="0">
                  <a:solidFill>
                    <a:srgbClr val="FFC000"/>
                  </a:solidFill>
                  <a:latin typeface="Inter" panose="02000503000000020004" pitchFamily="2" charset="0"/>
                  <a:ea typeface="Inter" panose="02000503000000020004" pitchFamily="2" charset="0"/>
                </a:rPr>
                <a:t>€</a:t>
              </a:r>
              <a:r>
                <a:rPr lang="en-GB" sz="1100" b="1" i="1" dirty="0">
                  <a:solidFill>
                    <a:srgbClr val="FFC000"/>
                  </a:solidFill>
                  <a:latin typeface="Inter" panose="02000503000000020004" pitchFamily="2" charset="0"/>
                  <a:ea typeface="Inter" panose="02000503000000020004" pitchFamily="2" charset="0"/>
                </a:rPr>
                <a:t>93    </a:t>
              </a:r>
            </a:p>
          </p:txBody>
        </p:sp>
        <p:sp>
          <p:nvSpPr>
            <p:cNvPr id="111" name="TextBox 110">
              <a:extLst>
                <a:ext uri="{FF2B5EF4-FFF2-40B4-BE49-F238E27FC236}">
                  <a16:creationId xmlns:a16="http://schemas.microsoft.com/office/drawing/2014/main" id="{7B5BF32C-D0F7-F49D-EC99-72A97821C3A6}"/>
                </a:ext>
              </a:extLst>
            </p:cNvPr>
            <p:cNvSpPr txBox="1"/>
            <p:nvPr/>
          </p:nvSpPr>
          <p:spPr>
            <a:xfrm>
              <a:off x="8328251" y="4379982"/>
              <a:ext cx="2232245" cy="261610"/>
            </a:xfrm>
            <a:prstGeom prst="rect">
              <a:avLst/>
            </a:prstGeom>
            <a:noFill/>
          </p:spPr>
          <p:txBody>
            <a:bodyPr wrap="square" rtlCol="0">
              <a:spAutoFit/>
            </a:bodyPr>
            <a:lstStyle/>
            <a:p>
              <a:r>
                <a:rPr lang="en-GB" sz="1100" i="1" dirty="0">
                  <a:solidFill>
                    <a:schemeClr val="bg1">
                      <a:lumMod val="95000"/>
                    </a:schemeClr>
                  </a:solidFill>
                  <a:latin typeface="Inter" panose="02000503000000020004" pitchFamily="2" charset="0"/>
                  <a:ea typeface="Inter" panose="02000503000000020004" pitchFamily="2" charset="0"/>
                </a:rPr>
                <a:t>Both converged rapidly</a:t>
              </a:r>
              <a:endParaRPr lang="en-US" sz="1100" i="1" dirty="0">
                <a:solidFill>
                  <a:schemeClr val="bg1">
                    <a:lumMod val="95000"/>
                  </a:schemeClr>
                </a:solidFill>
                <a:latin typeface="Inter" panose="02000503000000020004" pitchFamily="2" charset="0"/>
                <a:ea typeface="Inter" panose="02000503000000020004" pitchFamily="2" charset="0"/>
              </a:endParaRPr>
            </a:p>
          </p:txBody>
        </p:sp>
      </p:grpSp>
      <p:grpSp>
        <p:nvGrpSpPr>
          <p:cNvPr id="118" name="Group 117">
            <a:extLst>
              <a:ext uri="{FF2B5EF4-FFF2-40B4-BE49-F238E27FC236}">
                <a16:creationId xmlns:a16="http://schemas.microsoft.com/office/drawing/2014/main" id="{2BEC47AE-2E38-BA66-9D21-06584C1CDBE8}"/>
              </a:ext>
            </a:extLst>
          </p:cNvPr>
          <p:cNvGrpSpPr/>
          <p:nvPr/>
        </p:nvGrpSpPr>
        <p:grpSpPr>
          <a:xfrm>
            <a:off x="6761118" y="5326114"/>
            <a:ext cx="3727374" cy="571483"/>
            <a:chOff x="6761118" y="5326114"/>
            <a:chExt cx="3727374" cy="571483"/>
          </a:xfrm>
        </p:grpSpPr>
        <p:sp>
          <p:nvSpPr>
            <p:cNvPr id="109" name="Rectangle: Rounded Corners 108">
              <a:extLst>
                <a:ext uri="{FF2B5EF4-FFF2-40B4-BE49-F238E27FC236}">
                  <a16:creationId xmlns:a16="http://schemas.microsoft.com/office/drawing/2014/main" id="{6DE18C59-C82D-97FA-DEAC-CC20446B31F3}"/>
                </a:ext>
              </a:extLst>
            </p:cNvPr>
            <p:cNvSpPr/>
            <p:nvPr/>
          </p:nvSpPr>
          <p:spPr>
            <a:xfrm>
              <a:off x="6761118" y="5326114"/>
              <a:ext cx="1142966" cy="571483"/>
            </a:xfrm>
            <a:prstGeom prst="roundRect">
              <a:avLst>
                <a:gd name="adj" fmla="val 7067"/>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100" b="1" dirty="0">
                  <a:solidFill>
                    <a:schemeClr val="bg1">
                      <a:lumMod val="95000"/>
                    </a:schemeClr>
                  </a:solidFill>
                  <a:latin typeface="Inter" panose="02000503000000020004" pitchFamily="2" charset="0"/>
                  <a:ea typeface="Inter" panose="02000503000000020004" pitchFamily="2" charset="0"/>
                </a:rPr>
                <a:t>GB  </a:t>
              </a:r>
              <a:r>
                <a:rPr lang="en-GB" sz="1100" b="1" dirty="0">
                  <a:solidFill>
                    <a:srgbClr val="FFC000"/>
                  </a:solidFill>
                  <a:latin typeface="Inter" panose="02000503000000020004" pitchFamily="2" charset="0"/>
                  <a:ea typeface="Inter" panose="02000503000000020004" pitchFamily="2" charset="0"/>
                </a:rPr>
                <a:t>       </a:t>
              </a:r>
              <a:r>
                <a:rPr lang="en-US" sz="1100" b="1" dirty="0">
                  <a:solidFill>
                    <a:srgbClr val="00B0F0"/>
                  </a:solidFill>
                  <a:latin typeface="Inter" panose="02000503000000020004" pitchFamily="2" charset="0"/>
                  <a:ea typeface="Inter" panose="02000503000000020004" pitchFamily="2" charset="0"/>
                </a:rPr>
                <a:t>€</a:t>
              </a:r>
              <a:r>
                <a:rPr lang="en-GB" sz="1100" b="1" i="1" dirty="0">
                  <a:solidFill>
                    <a:srgbClr val="00B0F0"/>
                  </a:solidFill>
                  <a:latin typeface="Inter" panose="02000503000000020004" pitchFamily="2" charset="0"/>
                  <a:ea typeface="Inter" panose="02000503000000020004" pitchFamily="2" charset="0"/>
                </a:rPr>
                <a:t>70</a:t>
              </a:r>
              <a:endParaRPr lang="en-GB" sz="1100" b="1" dirty="0">
                <a:solidFill>
                  <a:srgbClr val="00B0F0"/>
                </a:solidFill>
                <a:latin typeface="Inter" panose="02000503000000020004" pitchFamily="2" charset="0"/>
                <a:ea typeface="Inter" panose="02000503000000020004" pitchFamily="2" charset="0"/>
              </a:endParaRPr>
            </a:p>
            <a:p>
              <a:pPr>
                <a:lnSpc>
                  <a:spcPct val="150000"/>
                </a:lnSpc>
              </a:pPr>
              <a:r>
                <a:rPr lang="en-GB" sz="1100" b="1" i="1" dirty="0">
                  <a:solidFill>
                    <a:schemeClr val="bg1">
                      <a:lumMod val="95000"/>
                    </a:schemeClr>
                  </a:solidFill>
                  <a:latin typeface="Inter" panose="02000503000000020004" pitchFamily="2" charset="0"/>
                  <a:ea typeface="Inter" panose="02000503000000020004" pitchFamily="2" charset="0"/>
                </a:rPr>
                <a:t>DE</a:t>
              </a:r>
              <a:r>
                <a:rPr lang="en-GB" sz="1100" b="1" i="1" dirty="0">
                  <a:solidFill>
                    <a:srgbClr val="00B0F0"/>
                  </a:solidFill>
                  <a:latin typeface="Inter" panose="02000503000000020004" pitchFamily="2" charset="0"/>
                  <a:ea typeface="Inter" panose="02000503000000020004" pitchFamily="2" charset="0"/>
                </a:rPr>
                <a:t>          </a:t>
              </a:r>
              <a:r>
                <a:rPr lang="en-US" sz="1100" b="1" dirty="0">
                  <a:solidFill>
                    <a:srgbClr val="FFC000"/>
                  </a:solidFill>
                  <a:latin typeface="Inter" panose="02000503000000020004" pitchFamily="2" charset="0"/>
                  <a:ea typeface="Inter" panose="02000503000000020004" pitchFamily="2" charset="0"/>
                </a:rPr>
                <a:t>€</a:t>
              </a:r>
              <a:r>
                <a:rPr lang="en-GB" sz="1100" b="1" i="1" dirty="0">
                  <a:solidFill>
                    <a:srgbClr val="FFC000"/>
                  </a:solidFill>
                  <a:latin typeface="Inter" panose="02000503000000020004" pitchFamily="2" charset="0"/>
                  <a:ea typeface="Inter" panose="02000503000000020004" pitchFamily="2" charset="0"/>
                </a:rPr>
                <a:t>77    </a:t>
              </a:r>
            </a:p>
          </p:txBody>
        </p:sp>
        <p:sp>
          <p:nvSpPr>
            <p:cNvPr id="112" name="TextBox 111">
              <a:extLst>
                <a:ext uri="{FF2B5EF4-FFF2-40B4-BE49-F238E27FC236}">
                  <a16:creationId xmlns:a16="http://schemas.microsoft.com/office/drawing/2014/main" id="{D1D896DE-95C2-DE00-3D91-D8E7B58F3BC9}"/>
                </a:ext>
              </a:extLst>
            </p:cNvPr>
            <p:cNvSpPr txBox="1"/>
            <p:nvPr/>
          </p:nvSpPr>
          <p:spPr>
            <a:xfrm>
              <a:off x="8328252" y="5455683"/>
              <a:ext cx="2160240" cy="261610"/>
            </a:xfrm>
            <a:prstGeom prst="rect">
              <a:avLst/>
            </a:prstGeom>
            <a:noFill/>
          </p:spPr>
          <p:txBody>
            <a:bodyPr wrap="square" rtlCol="0">
              <a:spAutoFit/>
            </a:bodyPr>
            <a:lstStyle/>
            <a:p>
              <a:r>
                <a:rPr lang="en-GB" sz="1100" i="1" dirty="0">
                  <a:solidFill>
                    <a:schemeClr val="bg1">
                      <a:lumMod val="95000"/>
                    </a:schemeClr>
                  </a:solidFill>
                  <a:latin typeface="Inter" panose="02000503000000020004" pitchFamily="2" charset="0"/>
                  <a:ea typeface="Inter" panose="02000503000000020004" pitchFamily="2" charset="0"/>
                </a:rPr>
                <a:t>Remained closely aligned</a:t>
              </a:r>
              <a:endParaRPr lang="en-US" sz="1100" i="1" dirty="0">
                <a:solidFill>
                  <a:schemeClr val="bg1">
                    <a:lumMod val="95000"/>
                  </a:schemeClr>
                </a:solidFill>
                <a:latin typeface="Inter" panose="02000503000000020004" pitchFamily="2" charset="0"/>
                <a:ea typeface="Inter" panose="02000503000000020004" pitchFamily="2" charset="0"/>
              </a:endParaRPr>
            </a:p>
          </p:txBody>
        </p:sp>
      </p:grpSp>
    </p:spTree>
    <p:extLst>
      <p:ext uri="{BB962C8B-B14F-4D97-AF65-F5344CB8AC3E}">
        <p14:creationId xmlns:p14="http://schemas.microsoft.com/office/powerpoint/2010/main" val="1399138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500"/>
                                        <p:tgtEl>
                                          <p:spTgt spid="82"/>
                                        </p:tgtEl>
                                      </p:cBhvr>
                                    </p:animEffect>
                                    <p:anim calcmode="lin" valueType="num">
                                      <p:cBhvr>
                                        <p:cTn id="8" dur="500" fill="hold"/>
                                        <p:tgtEl>
                                          <p:spTgt spid="82"/>
                                        </p:tgtEl>
                                        <p:attrNameLst>
                                          <p:attrName>ppt_x</p:attrName>
                                        </p:attrNameLst>
                                      </p:cBhvr>
                                      <p:tavLst>
                                        <p:tav tm="0">
                                          <p:val>
                                            <p:strVal val="#ppt_x"/>
                                          </p:val>
                                        </p:tav>
                                        <p:tav tm="100000">
                                          <p:val>
                                            <p:strVal val="#ppt_x"/>
                                          </p:val>
                                        </p:tav>
                                      </p:tavLst>
                                    </p:anim>
                                    <p:anim calcmode="lin" valueType="num">
                                      <p:cBhvr>
                                        <p:cTn id="9" dur="500" fill="hold"/>
                                        <p:tgtEl>
                                          <p:spTgt spid="8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200"/>
                                  </p:stCondLst>
                                  <p:childTnLst>
                                    <p:set>
                                      <p:cBhvr>
                                        <p:cTn id="12" dur="1" fill="hold">
                                          <p:stCondLst>
                                            <p:cond delay="0"/>
                                          </p:stCondLst>
                                        </p:cTn>
                                        <p:tgtEl>
                                          <p:spTgt spid="84"/>
                                        </p:tgtEl>
                                        <p:attrNameLst>
                                          <p:attrName>style.visibility</p:attrName>
                                        </p:attrNameLst>
                                      </p:cBhvr>
                                      <p:to>
                                        <p:strVal val="visible"/>
                                      </p:to>
                                    </p:set>
                                    <p:animEffect transition="in" filter="fade">
                                      <p:cBhvr>
                                        <p:cTn id="13" dur="500"/>
                                        <p:tgtEl>
                                          <p:spTgt spid="84"/>
                                        </p:tgtEl>
                                      </p:cBhvr>
                                    </p:animEffect>
                                  </p:childTnLst>
                                </p:cTn>
                              </p:par>
                            </p:childTnLst>
                          </p:cTn>
                        </p:par>
                        <p:par>
                          <p:cTn id="14" fill="hold">
                            <p:stCondLst>
                              <p:cond delay="1200"/>
                            </p:stCondLst>
                            <p:childTnLst>
                              <p:par>
                                <p:cTn id="15" presetID="10" presetClass="entr" presetSubtype="0" fill="hold" grpId="0" nodeType="afterEffect">
                                  <p:stCondLst>
                                    <p:cond delay="20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1900"/>
                            </p:stCondLst>
                            <p:childTnLst>
                              <p:par>
                                <p:cTn id="19" presetID="10" presetClass="entr" presetSubtype="0" fill="hold" nodeType="afterEffect">
                                  <p:stCondLst>
                                    <p:cond delay="20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par>
                          <p:cTn id="22" fill="hold">
                            <p:stCondLst>
                              <p:cond delay="2600"/>
                            </p:stCondLst>
                            <p:childTnLst>
                              <p:par>
                                <p:cTn id="23" presetID="22" presetClass="entr" presetSubtype="8" fill="hold" grpId="0" nodeType="afterEffect">
                                  <p:stCondLst>
                                    <p:cond delay="200"/>
                                  </p:stCondLst>
                                  <p:childTnLst>
                                    <p:set>
                                      <p:cBhvr>
                                        <p:cTn id="24" dur="1" fill="hold">
                                          <p:stCondLst>
                                            <p:cond delay="0"/>
                                          </p:stCondLst>
                                        </p:cTn>
                                        <p:tgtEl>
                                          <p:spTgt spid="10">
                                            <p:graphicEl>
                                              <a:chart seriesIdx="-3" categoryIdx="-3" bldStep="gridLegend"/>
                                            </p:graphicEl>
                                          </p:spTgt>
                                        </p:tgtEl>
                                        <p:attrNameLst>
                                          <p:attrName>style.visibility</p:attrName>
                                        </p:attrNameLst>
                                      </p:cBhvr>
                                      <p:to>
                                        <p:strVal val="visible"/>
                                      </p:to>
                                    </p:set>
                                    <p:animEffect transition="in" filter="wipe(left)">
                                      <p:cBhvr>
                                        <p:cTn id="25" dur="500"/>
                                        <p:tgtEl>
                                          <p:spTgt spid="10">
                                            <p:graphicEl>
                                              <a:chart seriesIdx="-3" categoryIdx="-3" bldStep="gridLegend"/>
                                            </p:graphicEl>
                                          </p:spTgt>
                                        </p:tgtEl>
                                      </p:cBhvr>
                                    </p:animEffect>
                                  </p:childTnLst>
                                </p:cTn>
                              </p:par>
                            </p:childTnLst>
                          </p:cTn>
                        </p:par>
                        <p:par>
                          <p:cTn id="26" fill="hold">
                            <p:stCondLst>
                              <p:cond delay="3300"/>
                            </p:stCondLst>
                            <p:childTnLst>
                              <p:par>
                                <p:cTn id="27" presetID="22" presetClass="entr" presetSubtype="8" fill="hold" grpId="0" nodeType="afterEffect">
                                  <p:stCondLst>
                                    <p:cond delay="200"/>
                                  </p:stCondLst>
                                  <p:childTnLst>
                                    <p:set>
                                      <p:cBhvr>
                                        <p:cTn id="28" dur="1" fill="hold">
                                          <p:stCondLst>
                                            <p:cond delay="0"/>
                                          </p:stCondLst>
                                        </p:cTn>
                                        <p:tgtEl>
                                          <p:spTgt spid="10">
                                            <p:graphicEl>
                                              <a:chart seriesIdx="0" categoryIdx="-4" bldStep="series"/>
                                            </p:graphicEl>
                                          </p:spTgt>
                                        </p:tgtEl>
                                        <p:attrNameLst>
                                          <p:attrName>style.visibility</p:attrName>
                                        </p:attrNameLst>
                                      </p:cBhvr>
                                      <p:to>
                                        <p:strVal val="visible"/>
                                      </p:to>
                                    </p:set>
                                    <p:animEffect transition="in" filter="wipe(left)">
                                      <p:cBhvr>
                                        <p:cTn id="29" dur="500"/>
                                        <p:tgtEl>
                                          <p:spTgt spid="10">
                                            <p:graphicEl>
                                              <a:chart seriesIdx="0" categoryIdx="-4" bldStep="series"/>
                                            </p:graphicEl>
                                          </p:spTgt>
                                        </p:tgtEl>
                                      </p:cBhvr>
                                    </p:animEffect>
                                  </p:childTnLst>
                                </p:cTn>
                              </p:par>
                            </p:childTnLst>
                          </p:cTn>
                        </p:par>
                        <p:par>
                          <p:cTn id="30" fill="hold">
                            <p:stCondLst>
                              <p:cond delay="4000"/>
                            </p:stCondLst>
                            <p:childTnLst>
                              <p:par>
                                <p:cTn id="31" presetID="22" presetClass="entr" presetSubtype="8" fill="hold" grpId="0" nodeType="afterEffect">
                                  <p:stCondLst>
                                    <p:cond delay="200"/>
                                  </p:stCondLst>
                                  <p:childTnLst>
                                    <p:set>
                                      <p:cBhvr>
                                        <p:cTn id="32" dur="1" fill="hold">
                                          <p:stCondLst>
                                            <p:cond delay="0"/>
                                          </p:stCondLst>
                                        </p:cTn>
                                        <p:tgtEl>
                                          <p:spTgt spid="10">
                                            <p:graphicEl>
                                              <a:chart seriesIdx="1" categoryIdx="-4" bldStep="series"/>
                                            </p:graphicEl>
                                          </p:spTgt>
                                        </p:tgtEl>
                                        <p:attrNameLst>
                                          <p:attrName>style.visibility</p:attrName>
                                        </p:attrNameLst>
                                      </p:cBhvr>
                                      <p:to>
                                        <p:strVal val="visible"/>
                                      </p:to>
                                    </p:set>
                                    <p:animEffect transition="in" filter="wipe(left)">
                                      <p:cBhvr>
                                        <p:cTn id="33" dur="500"/>
                                        <p:tgtEl>
                                          <p:spTgt spid="10">
                                            <p:graphicEl>
                                              <a:chart seriesIdx="1" categoryIdx="-4" bldStep="series"/>
                                            </p:graphicEl>
                                          </p:spTgt>
                                        </p:tgtEl>
                                      </p:cBhvr>
                                    </p:animEffect>
                                  </p:childTnLst>
                                </p:cTn>
                              </p:par>
                            </p:childTnLst>
                          </p:cTn>
                        </p:par>
                        <p:par>
                          <p:cTn id="34" fill="hold">
                            <p:stCondLst>
                              <p:cond delay="4700"/>
                            </p:stCondLst>
                            <p:childTnLst>
                              <p:par>
                                <p:cTn id="35" presetID="10" presetClass="entr" presetSubtype="0" fill="hold" nodeType="afterEffect">
                                  <p:stCondLst>
                                    <p:cond delay="200"/>
                                  </p:stCondLst>
                                  <p:childTnLst>
                                    <p:set>
                                      <p:cBhvr>
                                        <p:cTn id="36" dur="1" fill="hold">
                                          <p:stCondLst>
                                            <p:cond delay="0"/>
                                          </p:stCondLst>
                                        </p:cTn>
                                        <p:tgtEl>
                                          <p:spTgt spid="83"/>
                                        </p:tgtEl>
                                        <p:attrNameLst>
                                          <p:attrName>style.visibility</p:attrName>
                                        </p:attrNameLst>
                                      </p:cBhvr>
                                      <p:to>
                                        <p:strVal val="visible"/>
                                      </p:to>
                                    </p:set>
                                    <p:animEffect transition="in" filter="fade">
                                      <p:cBhvr>
                                        <p:cTn id="37" dur="500"/>
                                        <p:tgtEl>
                                          <p:spTgt spid="83"/>
                                        </p:tgtEl>
                                      </p:cBhvr>
                                    </p:animEffect>
                                  </p:childTnLst>
                                </p:cTn>
                              </p:par>
                            </p:childTnLst>
                          </p:cTn>
                        </p:par>
                        <p:par>
                          <p:cTn id="38" fill="hold">
                            <p:stCondLst>
                              <p:cond delay="5400"/>
                            </p:stCondLst>
                            <p:childTnLst>
                              <p:par>
                                <p:cTn id="39" presetID="10" presetClass="entr" presetSubtype="0" fill="hold" nodeType="afterEffect">
                                  <p:stCondLst>
                                    <p:cond delay="20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500"/>
                                        <p:tgtEl>
                                          <p:spTgt spid="40"/>
                                        </p:tgtEl>
                                      </p:cBhvr>
                                    </p:animEffect>
                                  </p:childTnLst>
                                </p:cTn>
                              </p:par>
                            </p:childTnLst>
                          </p:cTn>
                        </p:par>
                        <p:par>
                          <p:cTn id="42" fill="hold">
                            <p:stCondLst>
                              <p:cond delay="6100"/>
                            </p:stCondLst>
                            <p:childTnLst>
                              <p:par>
                                <p:cTn id="43" presetID="10" presetClass="entr" presetSubtype="0" fill="hold" grpId="0" nodeType="afterEffect">
                                  <p:stCondLst>
                                    <p:cond delay="200"/>
                                  </p:stCondLst>
                                  <p:childTnLst>
                                    <p:set>
                                      <p:cBhvr>
                                        <p:cTn id="44" dur="1" fill="hold">
                                          <p:stCondLst>
                                            <p:cond delay="0"/>
                                          </p:stCondLst>
                                        </p:cTn>
                                        <p:tgtEl>
                                          <p:spTgt spid="39"/>
                                        </p:tgtEl>
                                        <p:attrNameLst>
                                          <p:attrName>style.visibility</p:attrName>
                                        </p:attrNameLst>
                                      </p:cBhvr>
                                      <p:to>
                                        <p:strVal val="visible"/>
                                      </p:to>
                                    </p:set>
                                    <p:animEffect transition="in" filter="fade">
                                      <p:cBhvr>
                                        <p:cTn id="45" dur="500"/>
                                        <p:tgtEl>
                                          <p:spTgt spid="39"/>
                                        </p:tgtEl>
                                      </p:cBhvr>
                                    </p:animEffect>
                                  </p:childTnLst>
                                </p:cTn>
                              </p:par>
                            </p:childTnLst>
                          </p:cTn>
                        </p:par>
                        <p:par>
                          <p:cTn id="46" fill="hold">
                            <p:stCondLst>
                              <p:cond delay="6800"/>
                            </p:stCondLst>
                            <p:childTnLst>
                              <p:par>
                                <p:cTn id="47" presetID="10" presetClass="entr" presetSubtype="0" fill="hold" nodeType="afterEffect">
                                  <p:stCondLst>
                                    <p:cond delay="200"/>
                                  </p:stCondLst>
                                  <p:childTnLst>
                                    <p:set>
                                      <p:cBhvr>
                                        <p:cTn id="48" dur="1" fill="hold">
                                          <p:stCondLst>
                                            <p:cond delay="0"/>
                                          </p:stCondLst>
                                        </p:cTn>
                                        <p:tgtEl>
                                          <p:spTgt spid="100"/>
                                        </p:tgtEl>
                                        <p:attrNameLst>
                                          <p:attrName>style.visibility</p:attrName>
                                        </p:attrNameLst>
                                      </p:cBhvr>
                                      <p:to>
                                        <p:strVal val="visible"/>
                                      </p:to>
                                    </p:set>
                                    <p:animEffect transition="in" filter="fade">
                                      <p:cBhvr>
                                        <p:cTn id="49" dur="500"/>
                                        <p:tgtEl>
                                          <p:spTgt spid="100"/>
                                        </p:tgtEl>
                                      </p:cBhvr>
                                    </p:animEffect>
                                  </p:childTnLst>
                                </p:cTn>
                              </p:par>
                            </p:childTnLst>
                          </p:cTn>
                        </p:par>
                        <p:par>
                          <p:cTn id="50" fill="hold">
                            <p:stCondLst>
                              <p:cond delay="7500"/>
                            </p:stCondLst>
                            <p:childTnLst>
                              <p:par>
                                <p:cTn id="51" presetID="10" presetClass="entr" presetSubtype="0" fill="hold" nodeType="afterEffect">
                                  <p:stCondLst>
                                    <p:cond delay="200"/>
                                  </p:stCondLst>
                                  <p:childTnLst>
                                    <p:set>
                                      <p:cBhvr>
                                        <p:cTn id="52" dur="1" fill="hold">
                                          <p:stCondLst>
                                            <p:cond delay="0"/>
                                          </p:stCondLst>
                                        </p:cTn>
                                        <p:tgtEl>
                                          <p:spTgt spid="113"/>
                                        </p:tgtEl>
                                        <p:attrNameLst>
                                          <p:attrName>style.visibility</p:attrName>
                                        </p:attrNameLst>
                                      </p:cBhvr>
                                      <p:to>
                                        <p:strVal val="visible"/>
                                      </p:to>
                                    </p:set>
                                    <p:animEffect transition="in" filter="fade">
                                      <p:cBhvr>
                                        <p:cTn id="53" dur="400"/>
                                        <p:tgtEl>
                                          <p:spTgt spid="113"/>
                                        </p:tgtEl>
                                      </p:cBhvr>
                                    </p:animEffect>
                                  </p:childTnLst>
                                </p:cTn>
                              </p:par>
                            </p:childTnLst>
                          </p:cTn>
                        </p:par>
                        <p:par>
                          <p:cTn id="54" fill="hold">
                            <p:stCondLst>
                              <p:cond delay="8100"/>
                            </p:stCondLst>
                            <p:childTnLst>
                              <p:par>
                                <p:cTn id="55" presetID="2" presetClass="entr" presetSubtype="2" fill="hold" nodeType="afterEffect">
                                  <p:stCondLst>
                                    <p:cond delay="200"/>
                                  </p:stCondLst>
                                  <p:childTnLst>
                                    <p:set>
                                      <p:cBhvr>
                                        <p:cTn id="56" dur="1" fill="hold">
                                          <p:stCondLst>
                                            <p:cond delay="0"/>
                                          </p:stCondLst>
                                        </p:cTn>
                                        <p:tgtEl>
                                          <p:spTgt spid="116"/>
                                        </p:tgtEl>
                                        <p:attrNameLst>
                                          <p:attrName>style.visibility</p:attrName>
                                        </p:attrNameLst>
                                      </p:cBhvr>
                                      <p:to>
                                        <p:strVal val="visible"/>
                                      </p:to>
                                    </p:set>
                                    <p:anim calcmode="lin" valueType="num">
                                      <p:cBhvr additive="base">
                                        <p:cTn id="57" dur="600" fill="hold"/>
                                        <p:tgtEl>
                                          <p:spTgt spid="116"/>
                                        </p:tgtEl>
                                        <p:attrNameLst>
                                          <p:attrName>ppt_x</p:attrName>
                                        </p:attrNameLst>
                                      </p:cBhvr>
                                      <p:tavLst>
                                        <p:tav tm="0">
                                          <p:val>
                                            <p:strVal val="1+#ppt_w/2"/>
                                          </p:val>
                                        </p:tav>
                                        <p:tav tm="100000">
                                          <p:val>
                                            <p:strVal val="#ppt_x"/>
                                          </p:val>
                                        </p:tav>
                                      </p:tavLst>
                                    </p:anim>
                                    <p:anim calcmode="lin" valueType="num">
                                      <p:cBhvr additive="base">
                                        <p:cTn id="58" dur="600" fill="hold"/>
                                        <p:tgtEl>
                                          <p:spTgt spid="116"/>
                                        </p:tgtEl>
                                        <p:attrNameLst>
                                          <p:attrName>ppt_y</p:attrName>
                                        </p:attrNameLst>
                                      </p:cBhvr>
                                      <p:tavLst>
                                        <p:tav tm="0">
                                          <p:val>
                                            <p:strVal val="#ppt_y"/>
                                          </p:val>
                                        </p:tav>
                                        <p:tav tm="100000">
                                          <p:val>
                                            <p:strVal val="#ppt_y"/>
                                          </p:val>
                                        </p:tav>
                                      </p:tavLst>
                                    </p:anim>
                                  </p:childTnLst>
                                </p:cTn>
                              </p:par>
                            </p:childTnLst>
                          </p:cTn>
                        </p:par>
                        <p:par>
                          <p:cTn id="59" fill="hold">
                            <p:stCondLst>
                              <p:cond delay="8900"/>
                            </p:stCondLst>
                            <p:childTnLst>
                              <p:par>
                                <p:cTn id="60" presetID="10" presetClass="entr" presetSubtype="0" fill="hold" nodeType="afterEffect">
                                  <p:stCondLst>
                                    <p:cond delay="200"/>
                                  </p:stCondLst>
                                  <p:childTnLst>
                                    <p:set>
                                      <p:cBhvr>
                                        <p:cTn id="61" dur="1" fill="hold">
                                          <p:stCondLst>
                                            <p:cond delay="0"/>
                                          </p:stCondLst>
                                        </p:cTn>
                                        <p:tgtEl>
                                          <p:spTgt spid="114"/>
                                        </p:tgtEl>
                                        <p:attrNameLst>
                                          <p:attrName>style.visibility</p:attrName>
                                        </p:attrNameLst>
                                      </p:cBhvr>
                                      <p:to>
                                        <p:strVal val="visible"/>
                                      </p:to>
                                    </p:set>
                                    <p:animEffect transition="in" filter="fade">
                                      <p:cBhvr>
                                        <p:cTn id="62" dur="400"/>
                                        <p:tgtEl>
                                          <p:spTgt spid="114"/>
                                        </p:tgtEl>
                                      </p:cBhvr>
                                    </p:animEffect>
                                  </p:childTnLst>
                                </p:cTn>
                              </p:par>
                            </p:childTnLst>
                          </p:cTn>
                        </p:par>
                        <p:par>
                          <p:cTn id="63" fill="hold">
                            <p:stCondLst>
                              <p:cond delay="9500"/>
                            </p:stCondLst>
                            <p:childTnLst>
                              <p:par>
                                <p:cTn id="64" presetID="2" presetClass="entr" presetSubtype="2" fill="hold" nodeType="afterEffect">
                                  <p:stCondLst>
                                    <p:cond delay="200"/>
                                  </p:stCondLst>
                                  <p:childTnLst>
                                    <p:set>
                                      <p:cBhvr>
                                        <p:cTn id="65" dur="1" fill="hold">
                                          <p:stCondLst>
                                            <p:cond delay="0"/>
                                          </p:stCondLst>
                                        </p:cTn>
                                        <p:tgtEl>
                                          <p:spTgt spid="117"/>
                                        </p:tgtEl>
                                        <p:attrNameLst>
                                          <p:attrName>style.visibility</p:attrName>
                                        </p:attrNameLst>
                                      </p:cBhvr>
                                      <p:to>
                                        <p:strVal val="visible"/>
                                      </p:to>
                                    </p:set>
                                    <p:anim calcmode="lin" valueType="num">
                                      <p:cBhvr additive="base">
                                        <p:cTn id="66" dur="600" fill="hold"/>
                                        <p:tgtEl>
                                          <p:spTgt spid="117"/>
                                        </p:tgtEl>
                                        <p:attrNameLst>
                                          <p:attrName>ppt_x</p:attrName>
                                        </p:attrNameLst>
                                      </p:cBhvr>
                                      <p:tavLst>
                                        <p:tav tm="0">
                                          <p:val>
                                            <p:strVal val="1+#ppt_w/2"/>
                                          </p:val>
                                        </p:tav>
                                        <p:tav tm="100000">
                                          <p:val>
                                            <p:strVal val="#ppt_x"/>
                                          </p:val>
                                        </p:tav>
                                      </p:tavLst>
                                    </p:anim>
                                    <p:anim calcmode="lin" valueType="num">
                                      <p:cBhvr additive="base">
                                        <p:cTn id="67" dur="600" fill="hold"/>
                                        <p:tgtEl>
                                          <p:spTgt spid="117"/>
                                        </p:tgtEl>
                                        <p:attrNameLst>
                                          <p:attrName>ppt_y</p:attrName>
                                        </p:attrNameLst>
                                      </p:cBhvr>
                                      <p:tavLst>
                                        <p:tav tm="0">
                                          <p:val>
                                            <p:strVal val="#ppt_y"/>
                                          </p:val>
                                        </p:tav>
                                        <p:tav tm="100000">
                                          <p:val>
                                            <p:strVal val="#ppt_y"/>
                                          </p:val>
                                        </p:tav>
                                      </p:tavLst>
                                    </p:anim>
                                  </p:childTnLst>
                                </p:cTn>
                              </p:par>
                            </p:childTnLst>
                          </p:cTn>
                        </p:par>
                        <p:par>
                          <p:cTn id="68" fill="hold">
                            <p:stCondLst>
                              <p:cond delay="10300"/>
                            </p:stCondLst>
                            <p:childTnLst>
                              <p:par>
                                <p:cTn id="69" presetID="10" presetClass="entr" presetSubtype="0" fill="hold" nodeType="afterEffect">
                                  <p:stCondLst>
                                    <p:cond delay="200"/>
                                  </p:stCondLst>
                                  <p:childTnLst>
                                    <p:set>
                                      <p:cBhvr>
                                        <p:cTn id="70" dur="1" fill="hold">
                                          <p:stCondLst>
                                            <p:cond delay="0"/>
                                          </p:stCondLst>
                                        </p:cTn>
                                        <p:tgtEl>
                                          <p:spTgt spid="115"/>
                                        </p:tgtEl>
                                        <p:attrNameLst>
                                          <p:attrName>style.visibility</p:attrName>
                                        </p:attrNameLst>
                                      </p:cBhvr>
                                      <p:to>
                                        <p:strVal val="visible"/>
                                      </p:to>
                                    </p:set>
                                    <p:animEffect transition="in" filter="fade">
                                      <p:cBhvr>
                                        <p:cTn id="71" dur="400"/>
                                        <p:tgtEl>
                                          <p:spTgt spid="115"/>
                                        </p:tgtEl>
                                      </p:cBhvr>
                                    </p:animEffect>
                                  </p:childTnLst>
                                </p:cTn>
                              </p:par>
                            </p:childTnLst>
                          </p:cTn>
                        </p:par>
                        <p:par>
                          <p:cTn id="72" fill="hold">
                            <p:stCondLst>
                              <p:cond delay="10900"/>
                            </p:stCondLst>
                            <p:childTnLst>
                              <p:par>
                                <p:cTn id="73" presetID="2" presetClass="entr" presetSubtype="2" fill="hold" nodeType="afterEffect">
                                  <p:stCondLst>
                                    <p:cond delay="0"/>
                                  </p:stCondLst>
                                  <p:childTnLst>
                                    <p:set>
                                      <p:cBhvr>
                                        <p:cTn id="74" dur="1" fill="hold">
                                          <p:stCondLst>
                                            <p:cond delay="0"/>
                                          </p:stCondLst>
                                        </p:cTn>
                                        <p:tgtEl>
                                          <p:spTgt spid="118"/>
                                        </p:tgtEl>
                                        <p:attrNameLst>
                                          <p:attrName>style.visibility</p:attrName>
                                        </p:attrNameLst>
                                      </p:cBhvr>
                                      <p:to>
                                        <p:strVal val="visible"/>
                                      </p:to>
                                    </p:set>
                                    <p:anim calcmode="lin" valueType="num">
                                      <p:cBhvr additive="base">
                                        <p:cTn id="75" dur="600" fill="hold"/>
                                        <p:tgtEl>
                                          <p:spTgt spid="118"/>
                                        </p:tgtEl>
                                        <p:attrNameLst>
                                          <p:attrName>ppt_x</p:attrName>
                                        </p:attrNameLst>
                                      </p:cBhvr>
                                      <p:tavLst>
                                        <p:tav tm="0">
                                          <p:val>
                                            <p:strVal val="1+#ppt_w/2"/>
                                          </p:val>
                                        </p:tav>
                                        <p:tav tm="100000">
                                          <p:val>
                                            <p:strVal val="#ppt_x"/>
                                          </p:val>
                                        </p:tav>
                                      </p:tavLst>
                                    </p:anim>
                                    <p:anim calcmode="lin" valueType="num">
                                      <p:cBhvr additive="base">
                                        <p:cTn id="76" dur="600" fill="hold"/>
                                        <p:tgtEl>
                                          <p:spTgt spid="1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Graphic spid="10" grpId="0">
        <p:bldSub>
          <a:bldChart bld="series"/>
        </p:bldSub>
      </p:bldGraphic>
      <p:bldP spid="39" grpId="0" animBg="1"/>
      <p:bldP spid="8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2F4C"/>
        </a:solidFill>
        <a:effectLst/>
      </p:bgPr>
    </p:bg>
    <p:spTree>
      <p:nvGrpSpPr>
        <p:cNvPr id="1" name="">
          <a:extLst>
            <a:ext uri="{FF2B5EF4-FFF2-40B4-BE49-F238E27FC236}">
              <a16:creationId xmlns:a16="http://schemas.microsoft.com/office/drawing/2014/main" id="{65595816-C4CE-687B-660E-28EBDC50BBFB}"/>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353649EF-9C81-3E24-6313-8B8481F2A29B}"/>
              </a:ext>
            </a:extLst>
          </p:cNvPr>
          <p:cNvSpPr/>
          <p:nvPr/>
        </p:nvSpPr>
        <p:spPr>
          <a:xfrm>
            <a:off x="4115880" y="2531936"/>
            <a:ext cx="900000" cy="234000"/>
          </a:xfrm>
          <a:prstGeom prst="roundRect">
            <a:avLst>
              <a:gd name="adj" fmla="val 50000"/>
            </a:avLst>
          </a:prstGeom>
          <a:solidFill>
            <a:srgbClr val="7F46EA">
              <a:alpha val="50000"/>
            </a:srgbClr>
          </a:solidFill>
          <a:ln w="25400">
            <a:solidFill>
              <a:srgbClr val="7F46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atin typeface="Inter" panose="02000503000000020004" pitchFamily="2" charset="0"/>
                <a:ea typeface="Inter" panose="02000503000000020004" pitchFamily="2" charset="0"/>
              </a:rPr>
              <a:t>2022 Q3</a:t>
            </a:r>
            <a:endParaRPr lang="en-US" sz="1200" dirty="0">
              <a:latin typeface="Inter" panose="02000503000000020004" pitchFamily="2" charset="0"/>
              <a:ea typeface="Inter" panose="02000503000000020004" pitchFamily="2" charset="0"/>
            </a:endParaRPr>
          </a:p>
        </p:txBody>
      </p:sp>
      <p:cxnSp>
        <p:nvCxnSpPr>
          <p:cNvPr id="20" name="Straight Connector 19">
            <a:extLst>
              <a:ext uri="{FF2B5EF4-FFF2-40B4-BE49-F238E27FC236}">
                <a16:creationId xmlns:a16="http://schemas.microsoft.com/office/drawing/2014/main" id="{84C6D09F-E256-0D1D-BED6-8A093F0FBA8B}"/>
              </a:ext>
            </a:extLst>
          </p:cNvPr>
          <p:cNvCxnSpPr>
            <a:cxnSpLocks/>
          </p:cNvCxnSpPr>
          <p:nvPr/>
        </p:nvCxnSpPr>
        <p:spPr>
          <a:xfrm>
            <a:off x="1757516" y="2837944"/>
            <a:ext cx="3762420" cy="0"/>
          </a:xfrm>
          <a:prstGeom prst="line">
            <a:avLst/>
          </a:prstGeom>
          <a:ln>
            <a:solidFill>
              <a:srgbClr val="FFC000">
                <a:alpha val="50000"/>
              </a:srgbClr>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7C84C3FF-2196-9B0B-0309-B95A821054D1}"/>
              </a:ext>
            </a:extLst>
          </p:cNvPr>
          <p:cNvGrpSpPr/>
          <p:nvPr/>
        </p:nvGrpSpPr>
        <p:grpSpPr>
          <a:xfrm>
            <a:off x="1108844" y="2242296"/>
            <a:ext cx="4771132" cy="3546443"/>
            <a:chOff x="695400" y="1466443"/>
            <a:chExt cx="3960440" cy="2970669"/>
          </a:xfrm>
        </p:grpSpPr>
        <p:sp>
          <p:nvSpPr>
            <p:cNvPr id="5" name="Rectangle: Rounded Corners 4">
              <a:extLst>
                <a:ext uri="{FF2B5EF4-FFF2-40B4-BE49-F238E27FC236}">
                  <a16:creationId xmlns:a16="http://schemas.microsoft.com/office/drawing/2014/main" id="{D7D06452-0888-F07F-1D16-9A67B86C8632}"/>
                </a:ext>
              </a:extLst>
            </p:cNvPr>
            <p:cNvSpPr/>
            <p:nvPr/>
          </p:nvSpPr>
          <p:spPr>
            <a:xfrm>
              <a:off x="695400" y="1556791"/>
              <a:ext cx="3960440" cy="2793551"/>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r>
                <a:rPr lang="en-GB" sz="1200" b="1" dirty="0">
                  <a:solidFill>
                    <a:schemeClr val="bg2"/>
                  </a:solidFill>
                  <a:latin typeface="Inter" panose="02000503000000020004" pitchFamily="2" charset="0"/>
                  <a:ea typeface="Inter" panose="02000503000000020004" pitchFamily="2" charset="0"/>
                </a:rPr>
                <a:t>                        Generation Mix in </a:t>
              </a:r>
              <a:r>
                <a:rPr lang="en-GB" sz="1200" b="1" dirty="0">
                  <a:solidFill>
                    <a:srgbClr val="00B0F0"/>
                  </a:solidFill>
                  <a:latin typeface="Inter" panose="02000503000000020004" pitchFamily="2" charset="0"/>
                  <a:ea typeface="Inter" panose="02000503000000020004" pitchFamily="2" charset="0"/>
                </a:rPr>
                <a:t>GB</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6" name="Group 5">
              <a:extLst>
                <a:ext uri="{FF2B5EF4-FFF2-40B4-BE49-F238E27FC236}">
                  <a16:creationId xmlns:a16="http://schemas.microsoft.com/office/drawing/2014/main" id="{E8D4DE5E-C271-D0E8-211C-7C5D809EAD41}"/>
                </a:ext>
              </a:extLst>
            </p:cNvPr>
            <p:cNvGrpSpPr/>
            <p:nvPr/>
          </p:nvGrpSpPr>
          <p:grpSpPr>
            <a:xfrm>
              <a:off x="696556" y="1466443"/>
              <a:ext cx="457200" cy="2970669"/>
              <a:chOff x="4878000" y="1468232"/>
              <a:chExt cx="457200" cy="2970669"/>
            </a:xfrm>
          </p:grpSpPr>
          <p:sp>
            <p:nvSpPr>
              <p:cNvPr id="7" name="Arc 29">
                <a:extLst>
                  <a:ext uri="{FF2B5EF4-FFF2-40B4-BE49-F238E27FC236}">
                    <a16:creationId xmlns:a16="http://schemas.microsoft.com/office/drawing/2014/main" id="{B9BFE05D-3E7C-B936-F0AC-FC5EB1FF2435}"/>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8" name="Group 7">
                <a:extLst>
                  <a:ext uri="{FF2B5EF4-FFF2-40B4-BE49-F238E27FC236}">
                    <a16:creationId xmlns:a16="http://schemas.microsoft.com/office/drawing/2014/main" id="{AD97B47C-6DD6-5859-613E-AF2AF1A09B30}"/>
                  </a:ext>
                </a:extLst>
              </p:cNvPr>
              <p:cNvGrpSpPr/>
              <p:nvPr/>
            </p:nvGrpSpPr>
            <p:grpSpPr>
              <a:xfrm>
                <a:off x="4878000" y="1917596"/>
                <a:ext cx="457200" cy="2521305"/>
                <a:chOff x="4871440" y="1917596"/>
                <a:chExt cx="457200" cy="2521305"/>
              </a:xfrm>
            </p:grpSpPr>
            <p:cxnSp>
              <p:nvCxnSpPr>
                <p:cNvPr id="12" name="Straight Connector 11">
                  <a:extLst>
                    <a:ext uri="{FF2B5EF4-FFF2-40B4-BE49-F238E27FC236}">
                      <a16:creationId xmlns:a16="http://schemas.microsoft.com/office/drawing/2014/main" id="{5BBE4790-A988-1A99-F0D5-015AD373B102}"/>
                    </a:ext>
                  </a:extLst>
                </p:cNvPr>
                <p:cNvCxnSpPr>
                  <a:cxnSpLocks/>
                </p:cNvCxnSpPr>
                <p:nvPr/>
              </p:nvCxnSpPr>
              <p:spPr>
                <a:xfrm>
                  <a:off x="4871440" y="1917596"/>
                  <a:ext cx="0" cy="2106015"/>
                </a:xfrm>
                <a:prstGeom prst="line">
                  <a:avLst/>
                </a:prstGeom>
                <a:ln w="25400">
                  <a:solidFill>
                    <a:srgbClr val="7F46EA"/>
                  </a:solidFill>
                </a:ln>
              </p:spPr>
              <p:style>
                <a:lnRef idx="1">
                  <a:schemeClr val="accent1"/>
                </a:lnRef>
                <a:fillRef idx="0">
                  <a:schemeClr val="accent1"/>
                </a:fillRef>
                <a:effectRef idx="0">
                  <a:schemeClr val="accent1"/>
                </a:effectRef>
                <a:fontRef idx="minor">
                  <a:schemeClr val="tx1"/>
                </a:fontRef>
              </p:style>
            </p:cxnSp>
            <p:sp>
              <p:nvSpPr>
                <p:cNvPr id="14" name="Arc 29">
                  <a:extLst>
                    <a:ext uri="{FF2B5EF4-FFF2-40B4-BE49-F238E27FC236}">
                      <a16:creationId xmlns:a16="http://schemas.microsoft.com/office/drawing/2014/main" id="{DE89C273-D8C3-63EE-59FF-83A79EB14D67}"/>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sp>
        <p:nvSpPr>
          <p:cNvPr id="69" name="Title 1">
            <a:extLst>
              <a:ext uri="{FF2B5EF4-FFF2-40B4-BE49-F238E27FC236}">
                <a16:creationId xmlns:a16="http://schemas.microsoft.com/office/drawing/2014/main" id="{CC270FB0-482B-065D-883B-78EE5E0F4C4B}"/>
              </a:ext>
            </a:extLst>
          </p:cNvPr>
          <p:cNvSpPr txBox="1">
            <a:spLocks/>
          </p:cNvSpPr>
          <p:nvPr/>
        </p:nvSpPr>
        <p:spPr>
          <a:xfrm>
            <a:off x="1181452" y="492907"/>
            <a:ext cx="9487662" cy="6115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dirty="0">
                <a:solidFill>
                  <a:schemeClr val="bg1"/>
                </a:solidFill>
                <a:latin typeface="Inter ExtraBold" panose="02000503000000020004" pitchFamily="2" charset="0"/>
                <a:ea typeface="Inter ExtraBold" panose="02000503000000020004" pitchFamily="2" charset="0"/>
              </a:rPr>
              <a:t>Baseload Price Comparison: GB VS DE</a:t>
            </a:r>
            <a:br>
              <a:rPr lang="en-US" sz="1600" dirty="0">
                <a:solidFill>
                  <a:srgbClr val="FFC000"/>
                </a:solidFill>
                <a:latin typeface="Inter" panose="02000503000000020004" pitchFamily="2" charset="0"/>
                <a:ea typeface="Inter" panose="02000503000000020004" pitchFamily="2" charset="0"/>
              </a:rPr>
            </a:br>
            <a:r>
              <a:rPr lang="en-US" sz="1600" i="1" dirty="0">
                <a:solidFill>
                  <a:srgbClr val="FFC000"/>
                </a:solidFill>
                <a:latin typeface="Inter ExtraBold" panose="02000503000000020004" pitchFamily="2" charset="0"/>
                <a:ea typeface="Inter ExtraBold" panose="02000503000000020004" pitchFamily="2" charset="0"/>
              </a:rPr>
              <a:t>Does their respective power generation mix  explain the difference?</a:t>
            </a:r>
            <a:endParaRPr lang="en-US" sz="1600" i="1" dirty="0">
              <a:solidFill>
                <a:srgbClr val="FFC000"/>
              </a:solidFill>
              <a:latin typeface="Inter" panose="02000503000000020004" pitchFamily="2" charset="0"/>
              <a:ea typeface="Inter" panose="02000503000000020004" pitchFamily="2" charset="0"/>
            </a:endParaRPr>
          </a:p>
        </p:txBody>
      </p:sp>
      <p:sp>
        <p:nvSpPr>
          <p:cNvPr id="70" name="Rectangle: Diagonal Corners Rounded 69">
            <a:extLst>
              <a:ext uri="{FF2B5EF4-FFF2-40B4-BE49-F238E27FC236}">
                <a16:creationId xmlns:a16="http://schemas.microsoft.com/office/drawing/2014/main" id="{D4BD2C28-D982-E6A3-7FC8-C714DC567742}"/>
              </a:ext>
            </a:extLst>
          </p:cNvPr>
          <p:cNvSpPr/>
          <p:nvPr/>
        </p:nvSpPr>
        <p:spPr>
          <a:xfrm>
            <a:off x="1128115" y="1224407"/>
            <a:ext cx="9988669" cy="946147"/>
          </a:xfrm>
          <a:prstGeom prst="round2DiagRect">
            <a:avLst/>
          </a:prstGeom>
          <a:solidFill>
            <a:srgbClr val="16586B"/>
          </a:solidFill>
          <a:ln w="76200">
            <a:solidFill>
              <a:srgbClr val="16586B">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50000"/>
              </a:lnSpc>
            </a:pPr>
            <a:r>
              <a:rPr lang="en-US" dirty="0"/>
              <a:t>✅ </a:t>
            </a:r>
            <a:r>
              <a:rPr lang="en-US" sz="1400" b="1" dirty="0">
                <a:solidFill>
                  <a:srgbClr val="6EE7B7"/>
                </a:solidFill>
                <a:latin typeface="Segoe UI" panose="020B0502040204020203" pitchFamily="34" charset="0"/>
              </a:rPr>
              <a:t>Yes.</a:t>
            </a:r>
            <a:r>
              <a:rPr lang="en-US" sz="1400" dirty="0">
                <a:solidFill>
                  <a:srgbClr val="FFFFFF"/>
                </a:solidFill>
                <a:latin typeface="Segoe UI" panose="020B0502040204020203" pitchFamily="34" charset="0"/>
              </a:rPr>
              <a:t> DE's lower initial renewable share (&lt;30%) explains the higher starting prices, while GB's </a:t>
            </a:r>
            <a:r>
              <a:rPr lang="en-US" sz="1400" b="1" dirty="0">
                <a:solidFill>
                  <a:srgbClr val="6EE7B7"/>
                </a:solidFill>
                <a:latin typeface="Segoe UI" panose="020B0502040204020203" pitchFamily="34" charset="0"/>
              </a:rPr>
              <a:t>offshore wind dominance</a:t>
            </a:r>
            <a:r>
              <a:rPr lang="en-US" sz="1400" dirty="0">
                <a:solidFill>
                  <a:srgbClr val="FFFFFF"/>
                </a:solidFill>
                <a:latin typeface="Segoe UI" panose="020B0502040204020203" pitchFamily="34" charset="0"/>
              </a:rPr>
              <a:t> and faster renewable growth drove earlier price declines and convergence</a:t>
            </a:r>
            <a:endParaRPr lang="en-US" sz="1400" dirty="0">
              <a:solidFill>
                <a:prstClr val="white"/>
              </a:solidFill>
              <a:latin typeface="Inter" panose="02000503000000020004" pitchFamily="2" charset="0"/>
              <a:ea typeface="Inter" panose="02000503000000020004" pitchFamily="2" charset="0"/>
            </a:endParaRPr>
          </a:p>
        </p:txBody>
      </p:sp>
      <p:graphicFrame>
        <p:nvGraphicFramePr>
          <p:cNvPr id="2" name="Chart 1">
            <a:extLst>
              <a:ext uri="{FF2B5EF4-FFF2-40B4-BE49-F238E27FC236}">
                <a16:creationId xmlns:a16="http://schemas.microsoft.com/office/drawing/2014/main" id="{2603CBA1-B207-2354-B019-5258F77D2A99}"/>
              </a:ext>
            </a:extLst>
          </p:cNvPr>
          <p:cNvGraphicFramePr>
            <a:graphicFrameLocks/>
          </p:cNvGraphicFramePr>
          <p:nvPr/>
        </p:nvGraphicFramePr>
        <p:xfrm>
          <a:off x="1180799" y="2764800"/>
          <a:ext cx="4627165" cy="2880000"/>
        </p:xfrm>
        <a:graphic>
          <a:graphicData uri="http://schemas.openxmlformats.org/drawingml/2006/chart">
            <c:chart xmlns:c="http://schemas.openxmlformats.org/drawingml/2006/chart" xmlns:r="http://schemas.openxmlformats.org/officeDocument/2006/relationships" r:id="rId2"/>
          </a:graphicData>
        </a:graphic>
      </p:graphicFrame>
      <p:sp>
        <p:nvSpPr>
          <p:cNvPr id="24" name="Rectangle: Rounded Corners 23">
            <a:extLst>
              <a:ext uri="{FF2B5EF4-FFF2-40B4-BE49-F238E27FC236}">
                <a16:creationId xmlns:a16="http://schemas.microsoft.com/office/drawing/2014/main" id="{170E402A-8779-828F-CCA2-00F1BF837430}"/>
              </a:ext>
            </a:extLst>
          </p:cNvPr>
          <p:cNvSpPr/>
          <p:nvPr/>
        </p:nvSpPr>
        <p:spPr>
          <a:xfrm>
            <a:off x="9426678" y="2536385"/>
            <a:ext cx="900000" cy="234000"/>
          </a:xfrm>
          <a:prstGeom prst="roundRect">
            <a:avLst>
              <a:gd name="adj" fmla="val 50000"/>
            </a:avLst>
          </a:prstGeom>
          <a:solidFill>
            <a:srgbClr val="7F46EA">
              <a:alpha val="50000"/>
            </a:srgbClr>
          </a:solidFill>
          <a:ln w="25400">
            <a:solidFill>
              <a:srgbClr val="7F46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atin typeface="Inter" panose="02000503000000020004" pitchFamily="2" charset="0"/>
                <a:ea typeface="Inter" panose="02000503000000020004" pitchFamily="2" charset="0"/>
              </a:rPr>
              <a:t>2022 Q3</a:t>
            </a:r>
            <a:endParaRPr lang="en-US" sz="1200" dirty="0">
              <a:latin typeface="Inter" panose="02000503000000020004" pitchFamily="2" charset="0"/>
              <a:ea typeface="Inter" panose="02000503000000020004" pitchFamily="2" charset="0"/>
            </a:endParaRPr>
          </a:p>
        </p:txBody>
      </p:sp>
      <p:cxnSp>
        <p:nvCxnSpPr>
          <p:cNvPr id="25" name="Straight Connector 24">
            <a:extLst>
              <a:ext uri="{FF2B5EF4-FFF2-40B4-BE49-F238E27FC236}">
                <a16:creationId xmlns:a16="http://schemas.microsoft.com/office/drawing/2014/main" id="{C4D3020C-11D1-8276-0E9F-16081A512EED}"/>
              </a:ext>
            </a:extLst>
          </p:cNvPr>
          <p:cNvCxnSpPr>
            <a:cxnSpLocks/>
          </p:cNvCxnSpPr>
          <p:nvPr/>
        </p:nvCxnSpPr>
        <p:spPr>
          <a:xfrm>
            <a:off x="7068314" y="2842393"/>
            <a:ext cx="3762420" cy="0"/>
          </a:xfrm>
          <a:prstGeom prst="line">
            <a:avLst/>
          </a:prstGeom>
          <a:ln>
            <a:solidFill>
              <a:srgbClr val="FFC000">
                <a:alpha val="50000"/>
              </a:srgbClr>
            </a:solidFill>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738FA4E9-EF7F-5220-9106-29F69010AB7C}"/>
              </a:ext>
            </a:extLst>
          </p:cNvPr>
          <p:cNvGrpSpPr/>
          <p:nvPr/>
        </p:nvGrpSpPr>
        <p:grpSpPr>
          <a:xfrm>
            <a:off x="6419642" y="2246745"/>
            <a:ext cx="4771132" cy="3546443"/>
            <a:chOff x="695400" y="1466443"/>
            <a:chExt cx="3960440" cy="2970669"/>
          </a:xfrm>
        </p:grpSpPr>
        <p:sp>
          <p:nvSpPr>
            <p:cNvPr id="27" name="Rectangle: Rounded Corners 26">
              <a:extLst>
                <a:ext uri="{FF2B5EF4-FFF2-40B4-BE49-F238E27FC236}">
                  <a16:creationId xmlns:a16="http://schemas.microsoft.com/office/drawing/2014/main" id="{81BE6083-3703-DDBB-4F78-A6DA8336CECF}"/>
                </a:ext>
              </a:extLst>
            </p:cNvPr>
            <p:cNvSpPr/>
            <p:nvPr/>
          </p:nvSpPr>
          <p:spPr>
            <a:xfrm>
              <a:off x="695400" y="1556791"/>
              <a:ext cx="3960440" cy="2793551"/>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r>
                <a:rPr lang="en-GB" sz="1200" b="1" dirty="0">
                  <a:solidFill>
                    <a:schemeClr val="bg2"/>
                  </a:solidFill>
                  <a:latin typeface="Inter" panose="02000503000000020004" pitchFamily="2" charset="0"/>
                  <a:ea typeface="Inter" panose="02000503000000020004" pitchFamily="2" charset="0"/>
                </a:rPr>
                <a:t>                        Generation Mix in </a:t>
              </a:r>
              <a:r>
                <a:rPr lang="en-GB" sz="1200" b="1" dirty="0">
                  <a:solidFill>
                    <a:srgbClr val="FFC000"/>
                  </a:solidFill>
                  <a:latin typeface="Inter" panose="02000503000000020004" pitchFamily="2" charset="0"/>
                  <a:ea typeface="Inter" panose="02000503000000020004" pitchFamily="2" charset="0"/>
                </a:rPr>
                <a:t>DE</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28" name="Group 27">
              <a:extLst>
                <a:ext uri="{FF2B5EF4-FFF2-40B4-BE49-F238E27FC236}">
                  <a16:creationId xmlns:a16="http://schemas.microsoft.com/office/drawing/2014/main" id="{19405E86-C716-1663-F834-A5DBA3A06C74}"/>
                </a:ext>
              </a:extLst>
            </p:cNvPr>
            <p:cNvGrpSpPr/>
            <p:nvPr/>
          </p:nvGrpSpPr>
          <p:grpSpPr>
            <a:xfrm>
              <a:off x="696556" y="1466443"/>
              <a:ext cx="457200" cy="2970669"/>
              <a:chOff x="4878000" y="1468232"/>
              <a:chExt cx="457200" cy="2970669"/>
            </a:xfrm>
          </p:grpSpPr>
          <p:sp>
            <p:nvSpPr>
              <p:cNvPr id="29" name="Arc 29">
                <a:extLst>
                  <a:ext uri="{FF2B5EF4-FFF2-40B4-BE49-F238E27FC236}">
                    <a16:creationId xmlns:a16="http://schemas.microsoft.com/office/drawing/2014/main" id="{05EA4D41-A35E-4051-4EF1-D3B1A5637C70}"/>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30" name="Group 29">
                <a:extLst>
                  <a:ext uri="{FF2B5EF4-FFF2-40B4-BE49-F238E27FC236}">
                    <a16:creationId xmlns:a16="http://schemas.microsoft.com/office/drawing/2014/main" id="{28E84D33-DE16-40B7-18F5-4DD50942347B}"/>
                  </a:ext>
                </a:extLst>
              </p:cNvPr>
              <p:cNvGrpSpPr/>
              <p:nvPr/>
            </p:nvGrpSpPr>
            <p:grpSpPr>
              <a:xfrm>
                <a:off x="4878000" y="1917596"/>
                <a:ext cx="457200" cy="2521305"/>
                <a:chOff x="4871440" y="1917596"/>
                <a:chExt cx="457200" cy="2521305"/>
              </a:xfrm>
            </p:grpSpPr>
            <p:cxnSp>
              <p:nvCxnSpPr>
                <p:cNvPr id="31" name="Straight Connector 30">
                  <a:extLst>
                    <a:ext uri="{FF2B5EF4-FFF2-40B4-BE49-F238E27FC236}">
                      <a16:creationId xmlns:a16="http://schemas.microsoft.com/office/drawing/2014/main" id="{ECAC38AE-7243-CE49-D529-32CA39D5E1EB}"/>
                    </a:ext>
                  </a:extLst>
                </p:cNvPr>
                <p:cNvCxnSpPr>
                  <a:cxnSpLocks/>
                </p:cNvCxnSpPr>
                <p:nvPr/>
              </p:nvCxnSpPr>
              <p:spPr>
                <a:xfrm>
                  <a:off x="4871440" y="1917596"/>
                  <a:ext cx="0" cy="2106015"/>
                </a:xfrm>
                <a:prstGeom prst="line">
                  <a:avLst/>
                </a:prstGeom>
                <a:ln w="25400">
                  <a:solidFill>
                    <a:srgbClr val="7F46EA"/>
                  </a:solidFill>
                </a:ln>
              </p:spPr>
              <p:style>
                <a:lnRef idx="1">
                  <a:schemeClr val="accent1"/>
                </a:lnRef>
                <a:fillRef idx="0">
                  <a:schemeClr val="accent1"/>
                </a:fillRef>
                <a:effectRef idx="0">
                  <a:schemeClr val="accent1"/>
                </a:effectRef>
                <a:fontRef idx="minor">
                  <a:schemeClr val="tx1"/>
                </a:fontRef>
              </p:style>
            </p:cxnSp>
            <p:sp>
              <p:nvSpPr>
                <p:cNvPr id="32" name="Arc 29">
                  <a:extLst>
                    <a:ext uri="{FF2B5EF4-FFF2-40B4-BE49-F238E27FC236}">
                      <a16:creationId xmlns:a16="http://schemas.microsoft.com/office/drawing/2014/main" id="{DBB93283-74A1-1579-F4BB-917815E87660}"/>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graphicFrame>
        <p:nvGraphicFramePr>
          <p:cNvPr id="34" name="Chart 33">
            <a:extLst>
              <a:ext uri="{FF2B5EF4-FFF2-40B4-BE49-F238E27FC236}">
                <a16:creationId xmlns:a16="http://schemas.microsoft.com/office/drawing/2014/main" id="{1A704358-ED2D-AC9C-F9D7-A32148FD4B6E}"/>
              </a:ext>
            </a:extLst>
          </p:cNvPr>
          <p:cNvGraphicFramePr>
            <a:graphicFrameLocks/>
          </p:cNvGraphicFramePr>
          <p:nvPr>
            <p:extLst>
              <p:ext uri="{D42A27DB-BD31-4B8C-83A1-F6EECF244321}">
                <p14:modId xmlns:p14="http://schemas.microsoft.com/office/powerpoint/2010/main" val="3674917927"/>
              </p:ext>
            </p:extLst>
          </p:nvPr>
        </p:nvGraphicFramePr>
        <p:xfrm>
          <a:off x="6490800" y="2768400"/>
          <a:ext cx="4626000" cy="2880000"/>
        </p:xfrm>
        <a:graphic>
          <a:graphicData uri="http://schemas.openxmlformats.org/drawingml/2006/chart">
            <c:chart xmlns:c="http://schemas.openxmlformats.org/drawingml/2006/chart" xmlns:r="http://schemas.openxmlformats.org/officeDocument/2006/relationships" r:id="rId3"/>
          </a:graphicData>
        </a:graphic>
      </p:graphicFrame>
      <p:sp>
        <p:nvSpPr>
          <p:cNvPr id="37" name="Rectangle: Diagonal Corners Rounded 36">
            <a:extLst>
              <a:ext uri="{FF2B5EF4-FFF2-40B4-BE49-F238E27FC236}">
                <a16:creationId xmlns:a16="http://schemas.microsoft.com/office/drawing/2014/main" id="{A82EE2A9-BDD4-86CB-E3A3-E12F0F91D9D3}"/>
              </a:ext>
            </a:extLst>
          </p:cNvPr>
          <p:cNvSpPr/>
          <p:nvPr/>
        </p:nvSpPr>
        <p:spPr>
          <a:xfrm>
            <a:off x="1046437" y="5788739"/>
            <a:ext cx="4833537" cy="952629"/>
          </a:xfrm>
          <a:prstGeom prst="round2DiagRect">
            <a:avLst/>
          </a:prstGeom>
          <a:solidFill>
            <a:srgbClr val="1A4877"/>
          </a:solidFill>
          <a:ln w="76200">
            <a:solidFill>
              <a:srgbClr val="1A4877">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1200" dirty="0">
                <a:solidFill>
                  <a:schemeClr val="bg2"/>
                </a:solidFill>
                <a:latin typeface="Inter  "/>
              </a:rPr>
              <a:t>▸</a:t>
            </a:r>
            <a:r>
              <a:rPr lang="en-US" sz="1200" b="1" dirty="0">
                <a:solidFill>
                  <a:srgbClr val="00B0F0"/>
                </a:solidFill>
                <a:latin typeface="Inter  "/>
              </a:rPr>
              <a:t>Offshore wind dominate</a:t>
            </a:r>
            <a:r>
              <a:rPr lang="en-US" sz="1200" dirty="0">
                <a:solidFill>
                  <a:srgbClr val="00B0F0"/>
                </a:solidFill>
                <a:latin typeface="Inter  "/>
              </a:rPr>
              <a:t> </a:t>
            </a:r>
            <a:r>
              <a:rPr lang="en-US" sz="1200" dirty="0">
                <a:solidFill>
                  <a:schemeClr val="bg2"/>
                </a:solidFill>
                <a:latin typeface="Inter  "/>
              </a:rPr>
              <a:t>(20% to 35%)</a:t>
            </a:r>
          </a:p>
          <a:p>
            <a:pPr>
              <a:lnSpc>
                <a:spcPct val="150000"/>
              </a:lnSpc>
            </a:pPr>
            <a:r>
              <a:rPr lang="en-US" sz="1200" dirty="0">
                <a:solidFill>
                  <a:schemeClr val="bg2"/>
                </a:solidFill>
                <a:latin typeface="Inter  "/>
              </a:rPr>
              <a:t>▸</a:t>
            </a:r>
            <a:r>
              <a:rPr lang="en-US" sz="1200" b="1" dirty="0">
                <a:solidFill>
                  <a:srgbClr val="00B0F0"/>
                </a:solidFill>
                <a:latin typeface="Inter  "/>
              </a:rPr>
              <a:t>Renewables grew </a:t>
            </a:r>
            <a:r>
              <a:rPr lang="en-US" sz="1200" dirty="0">
                <a:latin typeface="Inter  "/>
              </a:rPr>
              <a:t> </a:t>
            </a:r>
            <a:r>
              <a:rPr lang="en-US" sz="1200" dirty="0">
                <a:solidFill>
                  <a:schemeClr val="bg2"/>
                </a:solidFill>
                <a:latin typeface="Inter  "/>
              </a:rPr>
              <a:t>&lt;25% to 50%, displacing fossil</a:t>
            </a:r>
          </a:p>
          <a:p>
            <a:pPr>
              <a:lnSpc>
                <a:spcPct val="150000"/>
              </a:lnSpc>
            </a:pPr>
            <a:r>
              <a:rPr lang="en-US" sz="1200" dirty="0">
                <a:solidFill>
                  <a:schemeClr val="bg2"/>
                </a:solidFill>
                <a:latin typeface="Inter  "/>
              </a:rPr>
              <a:t>▸Diverse mix with </a:t>
            </a:r>
            <a:r>
              <a:rPr lang="en-US" sz="1200" b="1" dirty="0">
                <a:solidFill>
                  <a:srgbClr val="00B0F0"/>
                </a:solidFill>
                <a:latin typeface="Inter  "/>
              </a:rPr>
              <a:t>nuclear, gas and others</a:t>
            </a:r>
          </a:p>
        </p:txBody>
      </p:sp>
      <p:sp>
        <p:nvSpPr>
          <p:cNvPr id="38" name="Rectangle: Diagonal Corners Rounded 37">
            <a:extLst>
              <a:ext uri="{FF2B5EF4-FFF2-40B4-BE49-F238E27FC236}">
                <a16:creationId xmlns:a16="http://schemas.microsoft.com/office/drawing/2014/main" id="{D767AFDF-2D24-3CBD-AE63-2F1321B7EBD7}"/>
              </a:ext>
            </a:extLst>
          </p:cNvPr>
          <p:cNvSpPr/>
          <p:nvPr/>
        </p:nvSpPr>
        <p:spPr>
          <a:xfrm>
            <a:off x="6388439" y="5788739"/>
            <a:ext cx="4833537" cy="952629"/>
          </a:xfrm>
          <a:prstGeom prst="round2DiagRect">
            <a:avLst/>
          </a:prstGeom>
          <a:solidFill>
            <a:srgbClr val="1A4877"/>
          </a:solidFill>
          <a:ln w="76200">
            <a:solidFill>
              <a:srgbClr val="1A4877">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1200" b="0" i="0" dirty="0">
                <a:solidFill>
                  <a:schemeClr val="bg2"/>
                </a:solidFill>
                <a:effectLst/>
                <a:latin typeface="Inter  "/>
              </a:rPr>
              <a:t>▸</a:t>
            </a:r>
            <a:r>
              <a:rPr lang="en-US" sz="1200" b="1" dirty="0">
                <a:solidFill>
                  <a:srgbClr val="FFC000"/>
                </a:solidFill>
                <a:latin typeface="Inter  "/>
              </a:rPr>
              <a:t>Low starting point </a:t>
            </a:r>
            <a:r>
              <a:rPr lang="en-US" sz="1200" dirty="0">
                <a:solidFill>
                  <a:schemeClr val="bg2"/>
                </a:solidFill>
                <a:latin typeface="Inter  "/>
              </a:rPr>
              <a:t>(&lt;30% renewables = high prices</a:t>
            </a:r>
            <a:r>
              <a:rPr lang="en-US" sz="1200" b="1" dirty="0">
                <a:solidFill>
                  <a:schemeClr val="bg2"/>
                </a:solidFill>
                <a:latin typeface="Inter  "/>
              </a:rPr>
              <a:t>)</a:t>
            </a:r>
          </a:p>
          <a:p>
            <a:pPr algn="l">
              <a:lnSpc>
                <a:spcPct val="150000"/>
              </a:lnSpc>
              <a:buNone/>
            </a:pPr>
            <a:r>
              <a:rPr lang="en-US" sz="1200" b="0" i="0" dirty="0">
                <a:solidFill>
                  <a:schemeClr val="bg2"/>
                </a:solidFill>
                <a:effectLst/>
                <a:latin typeface="Inter  "/>
              </a:rPr>
              <a:t>▸</a:t>
            </a:r>
            <a:r>
              <a:rPr lang="en-US" sz="1200" b="1" i="0" dirty="0">
                <a:solidFill>
                  <a:srgbClr val="FFC000"/>
                </a:solidFill>
                <a:effectLst/>
                <a:latin typeface="Inter  "/>
              </a:rPr>
              <a:t>Balanced mix</a:t>
            </a:r>
            <a:r>
              <a:rPr lang="en-US" sz="1200" b="0" i="0" dirty="0">
                <a:solidFill>
                  <a:srgbClr val="FFC000"/>
                </a:solidFill>
                <a:effectLst/>
                <a:latin typeface="Inter  "/>
              </a:rPr>
              <a:t> </a:t>
            </a:r>
            <a:r>
              <a:rPr lang="en-US" sz="1200" b="0" i="0" dirty="0">
                <a:solidFill>
                  <a:srgbClr val="CBD5E1"/>
                </a:solidFill>
                <a:effectLst/>
                <a:latin typeface="Inter  "/>
              </a:rPr>
              <a:t>of solar, onshore &amp; offshore wind</a:t>
            </a:r>
            <a:endParaRPr lang="en-US" sz="1200" b="0" i="0" dirty="0">
              <a:solidFill>
                <a:srgbClr val="000000"/>
              </a:solidFill>
              <a:effectLst/>
              <a:latin typeface="Inter  "/>
            </a:endParaRPr>
          </a:p>
          <a:p>
            <a:pPr algn="l">
              <a:lnSpc>
                <a:spcPct val="150000"/>
              </a:lnSpc>
              <a:buNone/>
            </a:pPr>
            <a:r>
              <a:rPr lang="en-US" sz="1200" b="0" i="0" dirty="0">
                <a:solidFill>
                  <a:schemeClr val="bg2"/>
                </a:solidFill>
                <a:effectLst/>
                <a:latin typeface="Inter  "/>
              </a:rPr>
              <a:t>▸</a:t>
            </a:r>
            <a:r>
              <a:rPr lang="en-US" sz="1200" b="0" i="0" dirty="0">
                <a:solidFill>
                  <a:srgbClr val="CBD5E1"/>
                </a:solidFill>
                <a:effectLst/>
                <a:latin typeface="Inter  "/>
              </a:rPr>
              <a:t>Converges to </a:t>
            </a:r>
            <a:r>
              <a:rPr lang="en-US" sz="1200" b="1" i="0" dirty="0">
                <a:solidFill>
                  <a:srgbClr val="FFC000"/>
                </a:solidFill>
                <a:effectLst/>
                <a:latin typeface="Inter  "/>
              </a:rPr>
              <a:t>~60% renewables</a:t>
            </a:r>
            <a:r>
              <a:rPr lang="en-US" sz="1200" b="0" i="0" dirty="0">
                <a:solidFill>
                  <a:srgbClr val="FFC000"/>
                </a:solidFill>
                <a:effectLst/>
                <a:latin typeface="Inter  "/>
              </a:rPr>
              <a:t> </a:t>
            </a:r>
            <a:r>
              <a:rPr lang="en-US" sz="1200" b="0" i="0" dirty="0">
                <a:solidFill>
                  <a:srgbClr val="CBD5E1"/>
                </a:solidFill>
                <a:effectLst/>
                <a:latin typeface="Inter  "/>
              </a:rPr>
              <a:t>alongside GB</a:t>
            </a:r>
            <a:endParaRPr lang="en-US" sz="1200" b="0" i="0" dirty="0">
              <a:solidFill>
                <a:srgbClr val="000000"/>
              </a:solidFill>
              <a:effectLst/>
              <a:latin typeface="Inter  "/>
            </a:endParaRPr>
          </a:p>
        </p:txBody>
      </p:sp>
    </p:spTree>
    <p:extLst>
      <p:ext uri="{BB962C8B-B14F-4D97-AF65-F5344CB8AC3E}">
        <p14:creationId xmlns:p14="http://schemas.microsoft.com/office/powerpoint/2010/main" val="2897214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500"/>
                                        <p:tgtEl>
                                          <p:spTgt spid="70"/>
                                        </p:tgtEl>
                                      </p:cBhvr>
                                    </p:animEffect>
                                    <p:anim calcmode="lin" valueType="num">
                                      <p:cBhvr>
                                        <p:cTn id="8" dur="500" fill="hold"/>
                                        <p:tgtEl>
                                          <p:spTgt spid="70"/>
                                        </p:tgtEl>
                                        <p:attrNameLst>
                                          <p:attrName>ppt_x</p:attrName>
                                        </p:attrNameLst>
                                      </p:cBhvr>
                                      <p:tavLst>
                                        <p:tav tm="0">
                                          <p:val>
                                            <p:strVal val="#ppt_x"/>
                                          </p:val>
                                        </p:tav>
                                        <p:tav tm="100000">
                                          <p:val>
                                            <p:strVal val="#ppt_x"/>
                                          </p:val>
                                        </p:tav>
                                      </p:tavLst>
                                    </p:anim>
                                    <p:anim calcmode="lin" valueType="num">
                                      <p:cBhvr>
                                        <p:cTn id="9" dur="500" fill="hold"/>
                                        <p:tgtEl>
                                          <p:spTgt spid="7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2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par>
                          <p:cTn id="14" fill="hold">
                            <p:stCondLst>
                              <p:cond delay="1200"/>
                            </p:stCondLst>
                            <p:childTnLst>
                              <p:par>
                                <p:cTn id="15" presetID="10" presetClass="entr" presetSubtype="0" fill="hold" grpId="0" nodeType="afterEffect">
                                  <p:stCondLst>
                                    <p:cond delay="2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1900"/>
                            </p:stCondLst>
                            <p:childTnLst>
                              <p:par>
                                <p:cTn id="19" presetID="10" presetClass="entr" presetSubtype="0" fill="hold" nodeType="afterEffect">
                                  <p:stCondLst>
                                    <p:cond delay="20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par>
                          <p:cTn id="22" fill="hold">
                            <p:stCondLst>
                              <p:cond delay="2600"/>
                            </p:stCondLst>
                            <p:childTnLst>
                              <p:par>
                                <p:cTn id="23" presetID="42" presetClass="entr" presetSubtype="0" fill="hold" grpId="0" nodeType="afterEffect">
                                  <p:stCondLst>
                                    <p:cond delay="150"/>
                                  </p:stCondLst>
                                  <p:childTnLst>
                                    <p:set>
                                      <p:cBhvr>
                                        <p:cTn id="24" dur="1" fill="hold">
                                          <p:stCondLst>
                                            <p:cond delay="0"/>
                                          </p:stCondLst>
                                        </p:cTn>
                                        <p:tgtEl>
                                          <p:spTgt spid="2">
                                            <p:graphicEl>
                                              <a:chart seriesIdx="-3" categoryIdx="-3" bldStep="gridLegend"/>
                                            </p:graphicEl>
                                          </p:spTgt>
                                        </p:tgtEl>
                                        <p:attrNameLst>
                                          <p:attrName>style.visibility</p:attrName>
                                        </p:attrNameLst>
                                      </p:cBhvr>
                                      <p:to>
                                        <p:strVal val="visible"/>
                                      </p:to>
                                    </p:set>
                                    <p:animEffect transition="in" filter="fade">
                                      <p:cBhvr>
                                        <p:cTn id="25" dur="300"/>
                                        <p:tgtEl>
                                          <p:spTgt spid="2">
                                            <p:graphicEl>
                                              <a:chart seriesIdx="-3" categoryIdx="-3" bldStep="gridLegend"/>
                                            </p:graphicEl>
                                          </p:spTgt>
                                        </p:tgtEl>
                                      </p:cBhvr>
                                    </p:animEffect>
                                    <p:anim calcmode="lin" valueType="num">
                                      <p:cBhvr>
                                        <p:cTn id="26" dur="300" fill="hold"/>
                                        <p:tgtEl>
                                          <p:spTgt spid="2">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cBhvr>
                                        <p:cTn id="27" dur="300" fill="hold"/>
                                        <p:tgtEl>
                                          <p:spTgt spid="2">
                                            <p:graphicEl>
                                              <a:chart seriesIdx="-3" categoryIdx="-3" bldStep="gridLegend"/>
                                            </p:graphicEl>
                                          </p:spTgt>
                                        </p:tgtEl>
                                        <p:attrNameLst>
                                          <p:attrName>ppt_y</p:attrName>
                                        </p:attrNameLst>
                                      </p:cBhvr>
                                      <p:tavLst>
                                        <p:tav tm="0">
                                          <p:val>
                                            <p:strVal val="#ppt_y+.1"/>
                                          </p:val>
                                        </p:tav>
                                        <p:tav tm="100000">
                                          <p:val>
                                            <p:strVal val="#ppt_y"/>
                                          </p:val>
                                        </p:tav>
                                      </p:tavLst>
                                    </p:anim>
                                  </p:childTnLst>
                                </p:cTn>
                              </p:par>
                            </p:childTnLst>
                          </p:cTn>
                        </p:par>
                        <p:par>
                          <p:cTn id="28" fill="hold">
                            <p:stCondLst>
                              <p:cond delay="3050"/>
                            </p:stCondLst>
                            <p:childTnLst>
                              <p:par>
                                <p:cTn id="29" presetID="42" presetClass="entr" presetSubtype="0" fill="hold" grpId="0" nodeType="afterEffect">
                                  <p:stCondLst>
                                    <p:cond delay="150"/>
                                  </p:stCondLst>
                                  <p:childTnLst>
                                    <p:set>
                                      <p:cBhvr>
                                        <p:cTn id="30" dur="1" fill="hold">
                                          <p:stCondLst>
                                            <p:cond delay="0"/>
                                          </p:stCondLst>
                                        </p:cTn>
                                        <p:tgtEl>
                                          <p:spTgt spid="2">
                                            <p:graphicEl>
                                              <a:chart seriesIdx="0" categoryIdx="-4" bldStep="series"/>
                                            </p:graphicEl>
                                          </p:spTgt>
                                        </p:tgtEl>
                                        <p:attrNameLst>
                                          <p:attrName>style.visibility</p:attrName>
                                        </p:attrNameLst>
                                      </p:cBhvr>
                                      <p:to>
                                        <p:strVal val="visible"/>
                                      </p:to>
                                    </p:set>
                                    <p:animEffect transition="in" filter="fade">
                                      <p:cBhvr>
                                        <p:cTn id="31" dur="300"/>
                                        <p:tgtEl>
                                          <p:spTgt spid="2">
                                            <p:graphicEl>
                                              <a:chart seriesIdx="0" categoryIdx="-4" bldStep="series"/>
                                            </p:graphicEl>
                                          </p:spTgt>
                                        </p:tgtEl>
                                      </p:cBhvr>
                                    </p:animEffect>
                                    <p:anim calcmode="lin" valueType="num">
                                      <p:cBhvr>
                                        <p:cTn id="32" dur="300" fill="hold"/>
                                        <p:tgtEl>
                                          <p:spTgt spid="2">
                                            <p:graphicEl>
                                              <a:chart seriesIdx="0" categoryIdx="-4" bldStep="series"/>
                                            </p:graphicEl>
                                          </p:spTgt>
                                        </p:tgtEl>
                                        <p:attrNameLst>
                                          <p:attrName>ppt_x</p:attrName>
                                        </p:attrNameLst>
                                      </p:cBhvr>
                                      <p:tavLst>
                                        <p:tav tm="0">
                                          <p:val>
                                            <p:strVal val="#ppt_x"/>
                                          </p:val>
                                        </p:tav>
                                        <p:tav tm="100000">
                                          <p:val>
                                            <p:strVal val="#ppt_x"/>
                                          </p:val>
                                        </p:tav>
                                      </p:tavLst>
                                    </p:anim>
                                    <p:anim calcmode="lin" valueType="num">
                                      <p:cBhvr>
                                        <p:cTn id="33" dur="300" fill="hold"/>
                                        <p:tgtEl>
                                          <p:spTgt spid="2">
                                            <p:graphicEl>
                                              <a:chart seriesIdx="0" categoryIdx="-4" bldStep="series"/>
                                            </p:graphicEl>
                                          </p:spTgt>
                                        </p:tgtEl>
                                        <p:attrNameLst>
                                          <p:attrName>ppt_y</p:attrName>
                                        </p:attrNameLst>
                                      </p:cBhvr>
                                      <p:tavLst>
                                        <p:tav tm="0">
                                          <p:val>
                                            <p:strVal val="#ppt_y+.1"/>
                                          </p:val>
                                        </p:tav>
                                        <p:tav tm="100000">
                                          <p:val>
                                            <p:strVal val="#ppt_y"/>
                                          </p:val>
                                        </p:tav>
                                      </p:tavLst>
                                    </p:anim>
                                  </p:childTnLst>
                                </p:cTn>
                              </p:par>
                            </p:childTnLst>
                          </p:cTn>
                        </p:par>
                        <p:par>
                          <p:cTn id="34" fill="hold">
                            <p:stCondLst>
                              <p:cond delay="3500"/>
                            </p:stCondLst>
                            <p:childTnLst>
                              <p:par>
                                <p:cTn id="35" presetID="42" presetClass="entr" presetSubtype="0" fill="hold" grpId="0" nodeType="afterEffect">
                                  <p:stCondLst>
                                    <p:cond delay="150"/>
                                  </p:stCondLst>
                                  <p:childTnLst>
                                    <p:set>
                                      <p:cBhvr>
                                        <p:cTn id="36" dur="1" fill="hold">
                                          <p:stCondLst>
                                            <p:cond delay="0"/>
                                          </p:stCondLst>
                                        </p:cTn>
                                        <p:tgtEl>
                                          <p:spTgt spid="2">
                                            <p:graphicEl>
                                              <a:chart seriesIdx="1" categoryIdx="-4" bldStep="series"/>
                                            </p:graphicEl>
                                          </p:spTgt>
                                        </p:tgtEl>
                                        <p:attrNameLst>
                                          <p:attrName>style.visibility</p:attrName>
                                        </p:attrNameLst>
                                      </p:cBhvr>
                                      <p:to>
                                        <p:strVal val="visible"/>
                                      </p:to>
                                    </p:set>
                                    <p:animEffect transition="in" filter="fade">
                                      <p:cBhvr>
                                        <p:cTn id="37" dur="300"/>
                                        <p:tgtEl>
                                          <p:spTgt spid="2">
                                            <p:graphicEl>
                                              <a:chart seriesIdx="1" categoryIdx="-4" bldStep="series"/>
                                            </p:graphicEl>
                                          </p:spTgt>
                                        </p:tgtEl>
                                      </p:cBhvr>
                                    </p:animEffect>
                                    <p:anim calcmode="lin" valueType="num">
                                      <p:cBhvr>
                                        <p:cTn id="38" dur="300" fill="hold"/>
                                        <p:tgtEl>
                                          <p:spTgt spid="2">
                                            <p:graphicEl>
                                              <a:chart seriesIdx="1" categoryIdx="-4" bldStep="series"/>
                                            </p:graphicEl>
                                          </p:spTgt>
                                        </p:tgtEl>
                                        <p:attrNameLst>
                                          <p:attrName>ppt_x</p:attrName>
                                        </p:attrNameLst>
                                      </p:cBhvr>
                                      <p:tavLst>
                                        <p:tav tm="0">
                                          <p:val>
                                            <p:strVal val="#ppt_x"/>
                                          </p:val>
                                        </p:tav>
                                        <p:tav tm="100000">
                                          <p:val>
                                            <p:strVal val="#ppt_x"/>
                                          </p:val>
                                        </p:tav>
                                      </p:tavLst>
                                    </p:anim>
                                    <p:anim calcmode="lin" valueType="num">
                                      <p:cBhvr>
                                        <p:cTn id="39" dur="300" fill="hold"/>
                                        <p:tgtEl>
                                          <p:spTgt spid="2">
                                            <p:graphicEl>
                                              <a:chart seriesIdx="1" categoryIdx="-4" bldStep="series"/>
                                            </p:graphicEl>
                                          </p:spTgt>
                                        </p:tgtEl>
                                        <p:attrNameLst>
                                          <p:attrName>ppt_y</p:attrName>
                                        </p:attrNameLst>
                                      </p:cBhvr>
                                      <p:tavLst>
                                        <p:tav tm="0">
                                          <p:val>
                                            <p:strVal val="#ppt_y+.1"/>
                                          </p:val>
                                        </p:tav>
                                        <p:tav tm="100000">
                                          <p:val>
                                            <p:strVal val="#ppt_y"/>
                                          </p:val>
                                        </p:tav>
                                      </p:tavLst>
                                    </p:anim>
                                  </p:childTnLst>
                                </p:cTn>
                              </p:par>
                            </p:childTnLst>
                          </p:cTn>
                        </p:par>
                        <p:par>
                          <p:cTn id="40" fill="hold">
                            <p:stCondLst>
                              <p:cond delay="3950"/>
                            </p:stCondLst>
                            <p:childTnLst>
                              <p:par>
                                <p:cTn id="41" presetID="42" presetClass="entr" presetSubtype="0" fill="hold" grpId="0" nodeType="afterEffect">
                                  <p:stCondLst>
                                    <p:cond delay="150"/>
                                  </p:stCondLst>
                                  <p:childTnLst>
                                    <p:set>
                                      <p:cBhvr>
                                        <p:cTn id="42" dur="1" fill="hold">
                                          <p:stCondLst>
                                            <p:cond delay="0"/>
                                          </p:stCondLst>
                                        </p:cTn>
                                        <p:tgtEl>
                                          <p:spTgt spid="2">
                                            <p:graphicEl>
                                              <a:chart seriesIdx="2" categoryIdx="-4" bldStep="series"/>
                                            </p:graphicEl>
                                          </p:spTgt>
                                        </p:tgtEl>
                                        <p:attrNameLst>
                                          <p:attrName>style.visibility</p:attrName>
                                        </p:attrNameLst>
                                      </p:cBhvr>
                                      <p:to>
                                        <p:strVal val="visible"/>
                                      </p:to>
                                    </p:set>
                                    <p:animEffect transition="in" filter="fade">
                                      <p:cBhvr>
                                        <p:cTn id="43" dur="300"/>
                                        <p:tgtEl>
                                          <p:spTgt spid="2">
                                            <p:graphicEl>
                                              <a:chart seriesIdx="2" categoryIdx="-4" bldStep="series"/>
                                            </p:graphicEl>
                                          </p:spTgt>
                                        </p:tgtEl>
                                      </p:cBhvr>
                                    </p:animEffect>
                                    <p:anim calcmode="lin" valueType="num">
                                      <p:cBhvr>
                                        <p:cTn id="44" dur="300" fill="hold"/>
                                        <p:tgtEl>
                                          <p:spTgt spid="2">
                                            <p:graphicEl>
                                              <a:chart seriesIdx="2" categoryIdx="-4" bldStep="series"/>
                                            </p:graphicEl>
                                          </p:spTgt>
                                        </p:tgtEl>
                                        <p:attrNameLst>
                                          <p:attrName>ppt_x</p:attrName>
                                        </p:attrNameLst>
                                      </p:cBhvr>
                                      <p:tavLst>
                                        <p:tav tm="0">
                                          <p:val>
                                            <p:strVal val="#ppt_x"/>
                                          </p:val>
                                        </p:tav>
                                        <p:tav tm="100000">
                                          <p:val>
                                            <p:strVal val="#ppt_x"/>
                                          </p:val>
                                        </p:tav>
                                      </p:tavLst>
                                    </p:anim>
                                    <p:anim calcmode="lin" valueType="num">
                                      <p:cBhvr>
                                        <p:cTn id="45" dur="300" fill="hold"/>
                                        <p:tgtEl>
                                          <p:spTgt spid="2">
                                            <p:graphicEl>
                                              <a:chart seriesIdx="2" categoryIdx="-4" bldStep="series"/>
                                            </p:graphicEl>
                                          </p:spTgt>
                                        </p:tgtEl>
                                        <p:attrNameLst>
                                          <p:attrName>ppt_y</p:attrName>
                                        </p:attrNameLst>
                                      </p:cBhvr>
                                      <p:tavLst>
                                        <p:tav tm="0">
                                          <p:val>
                                            <p:strVal val="#ppt_y+.1"/>
                                          </p:val>
                                        </p:tav>
                                        <p:tav tm="100000">
                                          <p:val>
                                            <p:strVal val="#ppt_y"/>
                                          </p:val>
                                        </p:tav>
                                      </p:tavLst>
                                    </p:anim>
                                  </p:childTnLst>
                                </p:cTn>
                              </p:par>
                            </p:childTnLst>
                          </p:cTn>
                        </p:par>
                        <p:par>
                          <p:cTn id="46" fill="hold">
                            <p:stCondLst>
                              <p:cond delay="4400"/>
                            </p:stCondLst>
                            <p:childTnLst>
                              <p:par>
                                <p:cTn id="47" presetID="42" presetClass="entr" presetSubtype="0" fill="hold" grpId="0" nodeType="afterEffect">
                                  <p:stCondLst>
                                    <p:cond delay="150"/>
                                  </p:stCondLst>
                                  <p:childTnLst>
                                    <p:set>
                                      <p:cBhvr>
                                        <p:cTn id="48" dur="1" fill="hold">
                                          <p:stCondLst>
                                            <p:cond delay="0"/>
                                          </p:stCondLst>
                                        </p:cTn>
                                        <p:tgtEl>
                                          <p:spTgt spid="2">
                                            <p:graphicEl>
                                              <a:chart seriesIdx="3" categoryIdx="-4" bldStep="series"/>
                                            </p:graphicEl>
                                          </p:spTgt>
                                        </p:tgtEl>
                                        <p:attrNameLst>
                                          <p:attrName>style.visibility</p:attrName>
                                        </p:attrNameLst>
                                      </p:cBhvr>
                                      <p:to>
                                        <p:strVal val="visible"/>
                                      </p:to>
                                    </p:set>
                                    <p:animEffect transition="in" filter="fade">
                                      <p:cBhvr>
                                        <p:cTn id="49" dur="300"/>
                                        <p:tgtEl>
                                          <p:spTgt spid="2">
                                            <p:graphicEl>
                                              <a:chart seriesIdx="3" categoryIdx="-4" bldStep="series"/>
                                            </p:graphicEl>
                                          </p:spTgt>
                                        </p:tgtEl>
                                      </p:cBhvr>
                                    </p:animEffect>
                                    <p:anim calcmode="lin" valueType="num">
                                      <p:cBhvr>
                                        <p:cTn id="50" dur="300" fill="hold"/>
                                        <p:tgtEl>
                                          <p:spTgt spid="2">
                                            <p:graphicEl>
                                              <a:chart seriesIdx="3" categoryIdx="-4" bldStep="series"/>
                                            </p:graphicEl>
                                          </p:spTgt>
                                        </p:tgtEl>
                                        <p:attrNameLst>
                                          <p:attrName>ppt_x</p:attrName>
                                        </p:attrNameLst>
                                      </p:cBhvr>
                                      <p:tavLst>
                                        <p:tav tm="0">
                                          <p:val>
                                            <p:strVal val="#ppt_x"/>
                                          </p:val>
                                        </p:tav>
                                        <p:tav tm="100000">
                                          <p:val>
                                            <p:strVal val="#ppt_x"/>
                                          </p:val>
                                        </p:tav>
                                      </p:tavLst>
                                    </p:anim>
                                    <p:anim calcmode="lin" valueType="num">
                                      <p:cBhvr>
                                        <p:cTn id="51" dur="300" fill="hold"/>
                                        <p:tgtEl>
                                          <p:spTgt spid="2">
                                            <p:graphicEl>
                                              <a:chart seriesIdx="3" categoryIdx="-4" bldStep="series"/>
                                            </p:graphicEl>
                                          </p:spTgt>
                                        </p:tgtEl>
                                        <p:attrNameLst>
                                          <p:attrName>ppt_y</p:attrName>
                                        </p:attrNameLst>
                                      </p:cBhvr>
                                      <p:tavLst>
                                        <p:tav tm="0">
                                          <p:val>
                                            <p:strVal val="#ppt_y+.1"/>
                                          </p:val>
                                        </p:tav>
                                        <p:tav tm="100000">
                                          <p:val>
                                            <p:strVal val="#ppt_y"/>
                                          </p:val>
                                        </p:tav>
                                      </p:tavLst>
                                    </p:anim>
                                  </p:childTnLst>
                                </p:cTn>
                              </p:par>
                            </p:childTnLst>
                          </p:cTn>
                        </p:par>
                        <p:par>
                          <p:cTn id="52" fill="hold">
                            <p:stCondLst>
                              <p:cond delay="4850"/>
                            </p:stCondLst>
                            <p:childTnLst>
                              <p:par>
                                <p:cTn id="53" presetID="42" presetClass="entr" presetSubtype="0" fill="hold" grpId="0" nodeType="afterEffect">
                                  <p:stCondLst>
                                    <p:cond delay="150"/>
                                  </p:stCondLst>
                                  <p:childTnLst>
                                    <p:set>
                                      <p:cBhvr>
                                        <p:cTn id="54" dur="1" fill="hold">
                                          <p:stCondLst>
                                            <p:cond delay="0"/>
                                          </p:stCondLst>
                                        </p:cTn>
                                        <p:tgtEl>
                                          <p:spTgt spid="2">
                                            <p:graphicEl>
                                              <a:chart seriesIdx="4" categoryIdx="-4" bldStep="series"/>
                                            </p:graphicEl>
                                          </p:spTgt>
                                        </p:tgtEl>
                                        <p:attrNameLst>
                                          <p:attrName>style.visibility</p:attrName>
                                        </p:attrNameLst>
                                      </p:cBhvr>
                                      <p:to>
                                        <p:strVal val="visible"/>
                                      </p:to>
                                    </p:set>
                                    <p:animEffect transition="in" filter="fade">
                                      <p:cBhvr>
                                        <p:cTn id="55" dur="300"/>
                                        <p:tgtEl>
                                          <p:spTgt spid="2">
                                            <p:graphicEl>
                                              <a:chart seriesIdx="4" categoryIdx="-4" bldStep="series"/>
                                            </p:graphicEl>
                                          </p:spTgt>
                                        </p:tgtEl>
                                      </p:cBhvr>
                                    </p:animEffect>
                                    <p:anim calcmode="lin" valueType="num">
                                      <p:cBhvr>
                                        <p:cTn id="56" dur="300" fill="hold"/>
                                        <p:tgtEl>
                                          <p:spTgt spid="2">
                                            <p:graphicEl>
                                              <a:chart seriesIdx="4" categoryIdx="-4" bldStep="series"/>
                                            </p:graphicEl>
                                          </p:spTgt>
                                        </p:tgtEl>
                                        <p:attrNameLst>
                                          <p:attrName>ppt_x</p:attrName>
                                        </p:attrNameLst>
                                      </p:cBhvr>
                                      <p:tavLst>
                                        <p:tav tm="0">
                                          <p:val>
                                            <p:strVal val="#ppt_x"/>
                                          </p:val>
                                        </p:tav>
                                        <p:tav tm="100000">
                                          <p:val>
                                            <p:strVal val="#ppt_x"/>
                                          </p:val>
                                        </p:tav>
                                      </p:tavLst>
                                    </p:anim>
                                    <p:anim calcmode="lin" valueType="num">
                                      <p:cBhvr>
                                        <p:cTn id="57" dur="300" fill="hold"/>
                                        <p:tgtEl>
                                          <p:spTgt spid="2">
                                            <p:graphicEl>
                                              <a:chart seriesIdx="4" categoryIdx="-4" bldStep="series"/>
                                            </p:graphicEl>
                                          </p:spTgt>
                                        </p:tgtEl>
                                        <p:attrNameLst>
                                          <p:attrName>ppt_y</p:attrName>
                                        </p:attrNameLst>
                                      </p:cBhvr>
                                      <p:tavLst>
                                        <p:tav tm="0">
                                          <p:val>
                                            <p:strVal val="#ppt_y+.1"/>
                                          </p:val>
                                        </p:tav>
                                        <p:tav tm="100000">
                                          <p:val>
                                            <p:strVal val="#ppt_y"/>
                                          </p:val>
                                        </p:tav>
                                      </p:tavLst>
                                    </p:anim>
                                  </p:childTnLst>
                                </p:cTn>
                              </p:par>
                            </p:childTnLst>
                          </p:cTn>
                        </p:par>
                        <p:par>
                          <p:cTn id="58" fill="hold">
                            <p:stCondLst>
                              <p:cond delay="5300"/>
                            </p:stCondLst>
                            <p:childTnLst>
                              <p:par>
                                <p:cTn id="59" presetID="42" presetClass="entr" presetSubtype="0" fill="hold" grpId="0" nodeType="afterEffect">
                                  <p:stCondLst>
                                    <p:cond delay="150"/>
                                  </p:stCondLst>
                                  <p:childTnLst>
                                    <p:set>
                                      <p:cBhvr>
                                        <p:cTn id="60" dur="1" fill="hold">
                                          <p:stCondLst>
                                            <p:cond delay="0"/>
                                          </p:stCondLst>
                                        </p:cTn>
                                        <p:tgtEl>
                                          <p:spTgt spid="2">
                                            <p:graphicEl>
                                              <a:chart seriesIdx="5" categoryIdx="-4" bldStep="series"/>
                                            </p:graphicEl>
                                          </p:spTgt>
                                        </p:tgtEl>
                                        <p:attrNameLst>
                                          <p:attrName>style.visibility</p:attrName>
                                        </p:attrNameLst>
                                      </p:cBhvr>
                                      <p:to>
                                        <p:strVal val="visible"/>
                                      </p:to>
                                    </p:set>
                                    <p:animEffect transition="in" filter="fade">
                                      <p:cBhvr>
                                        <p:cTn id="61" dur="300"/>
                                        <p:tgtEl>
                                          <p:spTgt spid="2">
                                            <p:graphicEl>
                                              <a:chart seriesIdx="5" categoryIdx="-4" bldStep="series"/>
                                            </p:graphicEl>
                                          </p:spTgt>
                                        </p:tgtEl>
                                      </p:cBhvr>
                                    </p:animEffect>
                                    <p:anim calcmode="lin" valueType="num">
                                      <p:cBhvr>
                                        <p:cTn id="62" dur="300" fill="hold"/>
                                        <p:tgtEl>
                                          <p:spTgt spid="2">
                                            <p:graphicEl>
                                              <a:chart seriesIdx="5" categoryIdx="-4" bldStep="series"/>
                                            </p:graphicEl>
                                          </p:spTgt>
                                        </p:tgtEl>
                                        <p:attrNameLst>
                                          <p:attrName>ppt_x</p:attrName>
                                        </p:attrNameLst>
                                      </p:cBhvr>
                                      <p:tavLst>
                                        <p:tav tm="0">
                                          <p:val>
                                            <p:strVal val="#ppt_x"/>
                                          </p:val>
                                        </p:tav>
                                        <p:tav tm="100000">
                                          <p:val>
                                            <p:strVal val="#ppt_x"/>
                                          </p:val>
                                        </p:tav>
                                      </p:tavLst>
                                    </p:anim>
                                    <p:anim calcmode="lin" valueType="num">
                                      <p:cBhvr>
                                        <p:cTn id="63" dur="300" fill="hold"/>
                                        <p:tgtEl>
                                          <p:spTgt spid="2">
                                            <p:graphicEl>
                                              <a:chart seriesIdx="5" categoryIdx="-4" bldStep="series"/>
                                            </p:graphicEl>
                                          </p:spTgt>
                                        </p:tgtEl>
                                        <p:attrNameLst>
                                          <p:attrName>ppt_y</p:attrName>
                                        </p:attrNameLst>
                                      </p:cBhvr>
                                      <p:tavLst>
                                        <p:tav tm="0">
                                          <p:val>
                                            <p:strVal val="#ppt_y+.1"/>
                                          </p:val>
                                        </p:tav>
                                        <p:tav tm="100000">
                                          <p:val>
                                            <p:strVal val="#ppt_y"/>
                                          </p:val>
                                        </p:tav>
                                      </p:tavLst>
                                    </p:anim>
                                  </p:childTnLst>
                                </p:cTn>
                              </p:par>
                            </p:childTnLst>
                          </p:cTn>
                        </p:par>
                        <p:par>
                          <p:cTn id="64" fill="hold">
                            <p:stCondLst>
                              <p:cond delay="5750"/>
                            </p:stCondLst>
                            <p:childTnLst>
                              <p:par>
                                <p:cTn id="65" presetID="42" presetClass="entr" presetSubtype="0" fill="hold" grpId="0" nodeType="afterEffect">
                                  <p:stCondLst>
                                    <p:cond delay="150"/>
                                  </p:stCondLst>
                                  <p:childTnLst>
                                    <p:set>
                                      <p:cBhvr>
                                        <p:cTn id="66" dur="1" fill="hold">
                                          <p:stCondLst>
                                            <p:cond delay="0"/>
                                          </p:stCondLst>
                                        </p:cTn>
                                        <p:tgtEl>
                                          <p:spTgt spid="2">
                                            <p:graphicEl>
                                              <a:chart seriesIdx="6" categoryIdx="-4" bldStep="series"/>
                                            </p:graphicEl>
                                          </p:spTgt>
                                        </p:tgtEl>
                                        <p:attrNameLst>
                                          <p:attrName>style.visibility</p:attrName>
                                        </p:attrNameLst>
                                      </p:cBhvr>
                                      <p:to>
                                        <p:strVal val="visible"/>
                                      </p:to>
                                    </p:set>
                                    <p:animEffect transition="in" filter="fade">
                                      <p:cBhvr>
                                        <p:cTn id="67" dur="300"/>
                                        <p:tgtEl>
                                          <p:spTgt spid="2">
                                            <p:graphicEl>
                                              <a:chart seriesIdx="6" categoryIdx="-4" bldStep="series"/>
                                            </p:graphicEl>
                                          </p:spTgt>
                                        </p:tgtEl>
                                      </p:cBhvr>
                                    </p:animEffect>
                                    <p:anim calcmode="lin" valueType="num">
                                      <p:cBhvr>
                                        <p:cTn id="68" dur="300" fill="hold"/>
                                        <p:tgtEl>
                                          <p:spTgt spid="2">
                                            <p:graphicEl>
                                              <a:chart seriesIdx="6" categoryIdx="-4" bldStep="series"/>
                                            </p:graphicEl>
                                          </p:spTgt>
                                        </p:tgtEl>
                                        <p:attrNameLst>
                                          <p:attrName>ppt_x</p:attrName>
                                        </p:attrNameLst>
                                      </p:cBhvr>
                                      <p:tavLst>
                                        <p:tav tm="0">
                                          <p:val>
                                            <p:strVal val="#ppt_x"/>
                                          </p:val>
                                        </p:tav>
                                        <p:tav tm="100000">
                                          <p:val>
                                            <p:strVal val="#ppt_x"/>
                                          </p:val>
                                        </p:tav>
                                      </p:tavLst>
                                    </p:anim>
                                    <p:anim calcmode="lin" valueType="num">
                                      <p:cBhvr>
                                        <p:cTn id="69" dur="300" fill="hold"/>
                                        <p:tgtEl>
                                          <p:spTgt spid="2">
                                            <p:graphicEl>
                                              <a:chart seriesIdx="6" categoryIdx="-4" bldStep="series"/>
                                            </p:graphicEl>
                                          </p:spTgt>
                                        </p:tgtEl>
                                        <p:attrNameLst>
                                          <p:attrName>ppt_y</p:attrName>
                                        </p:attrNameLst>
                                      </p:cBhvr>
                                      <p:tavLst>
                                        <p:tav tm="0">
                                          <p:val>
                                            <p:strVal val="#ppt_y+.1"/>
                                          </p:val>
                                        </p:tav>
                                        <p:tav tm="100000">
                                          <p:val>
                                            <p:strVal val="#ppt_y"/>
                                          </p:val>
                                        </p:tav>
                                      </p:tavLst>
                                    </p:anim>
                                  </p:childTnLst>
                                </p:cTn>
                              </p:par>
                            </p:childTnLst>
                          </p:cTn>
                        </p:par>
                        <p:par>
                          <p:cTn id="70" fill="hold">
                            <p:stCondLst>
                              <p:cond delay="6200"/>
                            </p:stCondLst>
                            <p:childTnLst>
                              <p:par>
                                <p:cTn id="71" presetID="42" presetClass="entr" presetSubtype="0" fill="hold" grpId="0" nodeType="afterEffect">
                                  <p:stCondLst>
                                    <p:cond delay="150"/>
                                  </p:stCondLst>
                                  <p:childTnLst>
                                    <p:set>
                                      <p:cBhvr>
                                        <p:cTn id="72" dur="1" fill="hold">
                                          <p:stCondLst>
                                            <p:cond delay="0"/>
                                          </p:stCondLst>
                                        </p:cTn>
                                        <p:tgtEl>
                                          <p:spTgt spid="2">
                                            <p:graphicEl>
                                              <a:chart seriesIdx="7" categoryIdx="-4" bldStep="series"/>
                                            </p:graphicEl>
                                          </p:spTgt>
                                        </p:tgtEl>
                                        <p:attrNameLst>
                                          <p:attrName>style.visibility</p:attrName>
                                        </p:attrNameLst>
                                      </p:cBhvr>
                                      <p:to>
                                        <p:strVal val="visible"/>
                                      </p:to>
                                    </p:set>
                                    <p:animEffect transition="in" filter="fade">
                                      <p:cBhvr>
                                        <p:cTn id="73" dur="300"/>
                                        <p:tgtEl>
                                          <p:spTgt spid="2">
                                            <p:graphicEl>
                                              <a:chart seriesIdx="7" categoryIdx="-4" bldStep="series"/>
                                            </p:graphicEl>
                                          </p:spTgt>
                                        </p:tgtEl>
                                      </p:cBhvr>
                                    </p:animEffect>
                                    <p:anim calcmode="lin" valueType="num">
                                      <p:cBhvr>
                                        <p:cTn id="74" dur="300" fill="hold"/>
                                        <p:tgtEl>
                                          <p:spTgt spid="2">
                                            <p:graphicEl>
                                              <a:chart seriesIdx="7" categoryIdx="-4" bldStep="series"/>
                                            </p:graphicEl>
                                          </p:spTgt>
                                        </p:tgtEl>
                                        <p:attrNameLst>
                                          <p:attrName>ppt_x</p:attrName>
                                        </p:attrNameLst>
                                      </p:cBhvr>
                                      <p:tavLst>
                                        <p:tav tm="0">
                                          <p:val>
                                            <p:strVal val="#ppt_x"/>
                                          </p:val>
                                        </p:tav>
                                        <p:tav tm="100000">
                                          <p:val>
                                            <p:strVal val="#ppt_x"/>
                                          </p:val>
                                        </p:tav>
                                      </p:tavLst>
                                    </p:anim>
                                    <p:anim calcmode="lin" valueType="num">
                                      <p:cBhvr>
                                        <p:cTn id="75" dur="300" fill="hold"/>
                                        <p:tgtEl>
                                          <p:spTgt spid="2">
                                            <p:graphicEl>
                                              <a:chart seriesIdx="7" categoryIdx="-4" bldStep="series"/>
                                            </p:graphicEl>
                                          </p:spTgt>
                                        </p:tgtEl>
                                        <p:attrNameLst>
                                          <p:attrName>ppt_y</p:attrName>
                                        </p:attrNameLst>
                                      </p:cBhvr>
                                      <p:tavLst>
                                        <p:tav tm="0">
                                          <p:val>
                                            <p:strVal val="#ppt_y+.1"/>
                                          </p:val>
                                        </p:tav>
                                        <p:tav tm="100000">
                                          <p:val>
                                            <p:strVal val="#ppt_y"/>
                                          </p:val>
                                        </p:tav>
                                      </p:tavLst>
                                    </p:anim>
                                  </p:childTnLst>
                                </p:cTn>
                              </p:par>
                            </p:childTnLst>
                          </p:cTn>
                        </p:par>
                        <p:par>
                          <p:cTn id="76" fill="hold">
                            <p:stCondLst>
                              <p:cond delay="6650"/>
                            </p:stCondLst>
                            <p:childTnLst>
                              <p:par>
                                <p:cTn id="77" presetID="42" presetClass="entr" presetSubtype="0" fill="hold" grpId="0" nodeType="afterEffect">
                                  <p:stCondLst>
                                    <p:cond delay="150"/>
                                  </p:stCondLst>
                                  <p:childTnLst>
                                    <p:set>
                                      <p:cBhvr>
                                        <p:cTn id="78" dur="1" fill="hold">
                                          <p:stCondLst>
                                            <p:cond delay="0"/>
                                          </p:stCondLst>
                                        </p:cTn>
                                        <p:tgtEl>
                                          <p:spTgt spid="37">
                                            <p:bg/>
                                          </p:spTgt>
                                        </p:tgtEl>
                                        <p:attrNameLst>
                                          <p:attrName>style.visibility</p:attrName>
                                        </p:attrNameLst>
                                      </p:cBhvr>
                                      <p:to>
                                        <p:strVal val="visible"/>
                                      </p:to>
                                    </p:set>
                                    <p:animEffect transition="in" filter="fade">
                                      <p:cBhvr>
                                        <p:cTn id="79" dur="300"/>
                                        <p:tgtEl>
                                          <p:spTgt spid="37">
                                            <p:bg/>
                                          </p:spTgt>
                                        </p:tgtEl>
                                      </p:cBhvr>
                                    </p:animEffect>
                                    <p:anim calcmode="lin" valueType="num">
                                      <p:cBhvr>
                                        <p:cTn id="80" dur="300" fill="hold"/>
                                        <p:tgtEl>
                                          <p:spTgt spid="37">
                                            <p:bg/>
                                          </p:spTgt>
                                        </p:tgtEl>
                                        <p:attrNameLst>
                                          <p:attrName>ppt_x</p:attrName>
                                        </p:attrNameLst>
                                      </p:cBhvr>
                                      <p:tavLst>
                                        <p:tav tm="0">
                                          <p:val>
                                            <p:strVal val="#ppt_x"/>
                                          </p:val>
                                        </p:tav>
                                        <p:tav tm="100000">
                                          <p:val>
                                            <p:strVal val="#ppt_x"/>
                                          </p:val>
                                        </p:tav>
                                      </p:tavLst>
                                    </p:anim>
                                    <p:anim calcmode="lin" valueType="num">
                                      <p:cBhvr>
                                        <p:cTn id="81" dur="300" fill="hold"/>
                                        <p:tgtEl>
                                          <p:spTgt spid="37">
                                            <p:bg/>
                                          </p:spTgt>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grpId="0" nodeType="clickEffect">
                                  <p:stCondLst>
                                    <p:cond delay="150"/>
                                  </p:stCondLst>
                                  <p:childTnLst>
                                    <p:set>
                                      <p:cBhvr>
                                        <p:cTn id="85" dur="1" fill="hold">
                                          <p:stCondLst>
                                            <p:cond delay="0"/>
                                          </p:stCondLst>
                                        </p:cTn>
                                        <p:tgtEl>
                                          <p:spTgt spid="37">
                                            <p:txEl>
                                              <p:pRg st="0" end="0"/>
                                            </p:txEl>
                                          </p:spTgt>
                                        </p:tgtEl>
                                        <p:attrNameLst>
                                          <p:attrName>style.visibility</p:attrName>
                                        </p:attrNameLst>
                                      </p:cBhvr>
                                      <p:to>
                                        <p:strVal val="visible"/>
                                      </p:to>
                                    </p:set>
                                    <p:animEffect transition="in" filter="fade">
                                      <p:cBhvr>
                                        <p:cTn id="86" dur="300"/>
                                        <p:tgtEl>
                                          <p:spTgt spid="37">
                                            <p:txEl>
                                              <p:pRg st="0" end="0"/>
                                            </p:txEl>
                                          </p:spTgt>
                                        </p:tgtEl>
                                      </p:cBhvr>
                                    </p:animEffect>
                                    <p:anim calcmode="lin" valueType="num">
                                      <p:cBhvr>
                                        <p:cTn id="87" dur="300" fill="hold"/>
                                        <p:tgtEl>
                                          <p:spTgt spid="37">
                                            <p:txEl>
                                              <p:pRg st="0" end="0"/>
                                            </p:txEl>
                                          </p:spTgt>
                                        </p:tgtEl>
                                        <p:attrNameLst>
                                          <p:attrName>ppt_x</p:attrName>
                                        </p:attrNameLst>
                                      </p:cBhvr>
                                      <p:tavLst>
                                        <p:tav tm="0">
                                          <p:val>
                                            <p:strVal val="#ppt_x"/>
                                          </p:val>
                                        </p:tav>
                                        <p:tav tm="100000">
                                          <p:val>
                                            <p:strVal val="#ppt_x"/>
                                          </p:val>
                                        </p:tav>
                                      </p:tavLst>
                                    </p:anim>
                                    <p:anim calcmode="lin" valueType="num">
                                      <p:cBhvr>
                                        <p:cTn id="88" dur="300" fill="hold"/>
                                        <p:tgtEl>
                                          <p:spTgt spid="3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42" presetClass="entr" presetSubtype="0" fill="hold" grpId="0" nodeType="clickEffect">
                                  <p:stCondLst>
                                    <p:cond delay="150"/>
                                  </p:stCondLst>
                                  <p:childTnLst>
                                    <p:set>
                                      <p:cBhvr>
                                        <p:cTn id="92" dur="1" fill="hold">
                                          <p:stCondLst>
                                            <p:cond delay="0"/>
                                          </p:stCondLst>
                                        </p:cTn>
                                        <p:tgtEl>
                                          <p:spTgt spid="37">
                                            <p:txEl>
                                              <p:pRg st="1" end="1"/>
                                            </p:txEl>
                                          </p:spTgt>
                                        </p:tgtEl>
                                        <p:attrNameLst>
                                          <p:attrName>style.visibility</p:attrName>
                                        </p:attrNameLst>
                                      </p:cBhvr>
                                      <p:to>
                                        <p:strVal val="visible"/>
                                      </p:to>
                                    </p:set>
                                    <p:animEffect transition="in" filter="fade">
                                      <p:cBhvr>
                                        <p:cTn id="93" dur="300"/>
                                        <p:tgtEl>
                                          <p:spTgt spid="37">
                                            <p:txEl>
                                              <p:pRg st="1" end="1"/>
                                            </p:txEl>
                                          </p:spTgt>
                                        </p:tgtEl>
                                      </p:cBhvr>
                                    </p:animEffect>
                                    <p:anim calcmode="lin" valueType="num">
                                      <p:cBhvr>
                                        <p:cTn id="94" dur="300" fill="hold"/>
                                        <p:tgtEl>
                                          <p:spTgt spid="37">
                                            <p:txEl>
                                              <p:pRg st="1" end="1"/>
                                            </p:txEl>
                                          </p:spTgt>
                                        </p:tgtEl>
                                        <p:attrNameLst>
                                          <p:attrName>ppt_x</p:attrName>
                                        </p:attrNameLst>
                                      </p:cBhvr>
                                      <p:tavLst>
                                        <p:tav tm="0">
                                          <p:val>
                                            <p:strVal val="#ppt_x"/>
                                          </p:val>
                                        </p:tav>
                                        <p:tav tm="100000">
                                          <p:val>
                                            <p:strVal val="#ppt_x"/>
                                          </p:val>
                                        </p:tav>
                                      </p:tavLst>
                                    </p:anim>
                                    <p:anim calcmode="lin" valueType="num">
                                      <p:cBhvr>
                                        <p:cTn id="95" dur="300" fill="hold"/>
                                        <p:tgtEl>
                                          <p:spTgt spid="3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42" presetClass="entr" presetSubtype="0" fill="hold" grpId="0" nodeType="clickEffect">
                                  <p:stCondLst>
                                    <p:cond delay="150"/>
                                  </p:stCondLst>
                                  <p:childTnLst>
                                    <p:set>
                                      <p:cBhvr>
                                        <p:cTn id="99" dur="1" fill="hold">
                                          <p:stCondLst>
                                            <p:cond delay="0"/>
                                          </p:stCondLst>
                                        </p:cTn>
                                        <p:tgtEl>
                                          <p:spTgt spid="37">
                                            <p:txEl>
                                              <p:pRg st="2" end="2"/>
                                            </p:txEl>
                                          </p:spTgt>
                                        </p:tgtEl>
                                        <p:attrNameLst>
                                          <p:attrName>style.visibility</p:attrName>
                                        </p:attrNameLst>
                                      </p:cBhvr>
                                      <p:to>
                                        <p:strVal val="visible"/>
                                      </p:to>
                                    </p:set>
                                    <p:animEffect transition="in" filter="fade">
                                      <p:cBhvr>
                                        <p:cTn id="100" dur="300"/>
                                        <p:tgtEl>
                                          <p:spTgt spid="37">
                                            <p:txEl>
                                              <p:pRg st="2" end="2"/>
                                            </p:txEl>
                                          </p:spTgt>
                                        </p:tgtEl>
                                      </p:cBhvr>
                                    </p:animEffect>
                                    <p:anim calcmode="lin" valueType="num">
                                      <p:cBhvr>
                                        <p:cTn id="101" dur="300" fill="hold"/>
                                        <p:tgtEl>
                                          <p:spTgt spid="37">
                                            <p:txEl>
                                              <p:pRg st="2" end="2"/>
                                            </p:txEl>
                                          </p:spTgt>
                                        </p:tgtEl>
                                        <p:attrNameLst>
                                          <p:attrName>ppt_x</p:attrName>
                                        </p:attrNameLst>
                                      </p:cBhvr>
                                      <p:tavLst>
                                        <p:tav tm="0">
                                          <p:val>
                                            <p:strVal val="#ppt_x"/>
                                          </p:val>
                                        </p:tav>
                                        <p:tav tm="100000">
                                          <p:val>
                                            <p:strVal val="#ppt_x"/>
                                          </p:val>
                                        </p:tav>
                                      </p:tavLst>
                                    </p:anim>
                                    <p:anim calcmode="lin" valueType="num">
                                      <p:cBhvr>
                                        <p:cTn id="102" dur="300" fill="hold"/>
                                        <p:tgtEl>
                                          <p:spTgt spid="37">
                                            <p:txEl>
                                              <p:pRg st="2" end="2"/>
                                            </p:txEl>
                                          </p:spTgt>
                                        </p:tgtEl>
                                        <p:attrNameLst>
                                          <p:attrName>ppt_y</p:attrName>
                                        </p:attrNameLst>
                                      </p:cBhvr>
                                      <p:tavLst>
                                        <p:tav tm="0">
                                          <p:val>
                                            <p:strVal val="#ppt_y+.1"/>
                                          </p:val>
                                        </p:tav>
                                        <p:tav tm="100000">
                                          <p:val>
                                            <p:strVal val="#ppt_y"/>
                                          </p:val>
                                        </p:tav>
                                      </p:tavLst>
                                    </p:anim>
                                  </p:childTnLst>
                                </p:cTn>
                              </p:par>
                            </p:childTnLst>
                          </p:cTn>
                        </p:par>
                        <p:par>
                          <p:cTn id="103" fill="hold">
                            <p:stCondLst>
                              <p:cond delay="450"/>
                            </p:stCondLst>
                            <p:childTnLst>
                              <p:par>
                                <p:cTn id="104" presetID="10" presetClass="entr" presetSubtype="0" fill="hold" nodeType="afterEffect">
                                  <p:stCondLst>
                                    <p:cond delay="20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200"/>
                                        <p:tgtEl>
                                          <p:spTgt spid="26"/>
                                        </p:tgtEl>
                                      </p:cBhvr>
                                    </p:animEffect>
                                  </p:childTnLst>
                                </p:cTn>
                              </p:par>
                            </p:childTnLst>
                          </p:cTn>
                        </p:par>
                        <p:par>
                          <p:cTn id="107" fill="hold">
                            <p:stCondLst>
                              <p:cond delay="850"/>
                            </p:stCondLst>
                            <p:childTnLst>
                              <p:par>
                                <p:cTn id="108" presetID="10" presetClass="entr" presetSubtype="0" fill="hold" grpId="0" nodeType="afterEffect">
                                  <p:stCondLst>
                                    <p:cond delay="200"/>
                                  </p:stCondLst>
                                  <p:childTnLst>
                                    <p:set>
                                      <p:cBhvr>
                                        <p:cTn id="109" dur="1" fill="hold">
                                          <p:stCondLst>
                                            <p:cond delay="0"/>
                                          </p:stCondLst>
                                        </p:cTn>
                                        <p:tgtEl>
                                          <p:spTgt spid="24"/>
                                        </p:tgtEl>
                                        <p:attrNameLst>
                                          <p:attrName>style.visibility</p:attrName>
                                        </p:attrNameLst>
                                      </p:cBhvr>
                                      <p:to>
                                        <p:strVal val="visible"/>
                                      </p:to>
                                    </p:set>
                                    <p:animEffect transition="in" filter="fade">
                                      <p:cBhvr>
                                        <p:cTn id="110" dur="500"/>
                                        <p:tgtEl>
                                          <p:spTgt spid="24"/>
                                        </p:tgtEl>
                                      </p:cBhvr>
                                    </p:animEffect>
                                  </p:childTnLst>
                                </p:cTn>
                              </p:par>
                            </p:childTnLst>
                          </p:cTn>
                        </p:par>
                        <p:par>
                          <p:cTn id="111" fill="hold">
                            <p:stCondLst>
                              <p:cond delay="1550"/>
                            </p:stCondLst>
                            <p:childTnLst>
                              <p:par>
                                <p:cTn id="112" presetID="10" presetClass="entr" presetSubtype="0" fill="hold" nodeType="afterEffect">
                                  <p:stCondLst>
                                    <p:cond delay="200"/>
                                  </p:stCondLst>
                                  <p:childTnLst>
                                    <p:set>
                                      <p:cBhvr>
                                        <p:cTn id="113" dur="1" fill="hold">
                                          <p:stCondLst>
                                            <p:cond delay="0"/>
                                          </p:stCondLst>
                                        </p:cTn>
                                        <p:tgtEl>
                                          <p:spTgt spid="25"/>
                                        </p:tgtEl>
                                        <p:attrNameLst>
                                          <p:attrName>style.visibility</p:attrName>
                                        </p:attrNameLst>
                                      </p:cBhvr>
                                      <p:to>
                                        <p:strVal val="visible"/>
                                      </p:to>
                                    </p:set>
                                    <p:animEffect transition="in" filter="fade">
                                      <p:cBhvr>
                                        <p:cTn id="114" dur="500"/>
                                        <p:tgtEl>
                                          <p:spTgt spid="25"/>
                                        </p:tgtEl>
                                      </p:cBhvr>
                                    </p:animEffect>
                                  </p:childTnLst>
                                </p:cTn>
                              </p:par>
                            </p:childTnLst>
                          </p:cTn>
                        </p:par>
                        <p:par>
                          <p:cTn id="115" fill="hold">
                            <p:stCondLst>
                              <p:cond delay="2250"/>
                            </p:stCondLst>
                            <p:childTnLst>
                              <p:par>
                                <p:cTn id="116" presetID="42" presetClass="entr" presetSubtype="0" fill="hold" grpId="0" nodeType="afterEffect">
                                  <p:stCondLst>
                                    <p:cond delay="150"/>
                                  </p:stCondLst>
                                  <p:childTnLst>
                                    <p:set>
                                      <p:cBhvr>
                                        <p:cTn id="117" dur="1" fill="hold">
                                          <p:stCondLst>
                                            <p:cond delay="0"/>
                                          </p:stCondLst>
                                        </p:cTn>
                                        <p:tgtEl>
                                          <p:spTgt spid="34">
                                            <p:graphicEl>
                                              <a:chart seriesIdx="-3" categoryIdx="-3" bldStep="gridLegend"/>
                                            </p:graphicEl>
                                          </p:spTgt>
                                        </p:tgtEl>
                                        <p:attrNameLst>
                                          <p:attrName>style.visibility</p:attrName>
                                        </p:attrNameLst>
                                      </p:cBhvr>
                                      <p:to>
                                        <p:strVal val="visible"/>
                                      </p:to>
                                    </p:set>
                                    <p:animEffect transition="in" filter="fade">
                                      <p:cBhvr>
                                        <p:cTn id="118" dur="300"/>
                                        <p:tgtEl>
                                          <p:spTgt spid="34">
                                            <p:graphicEl>
                                              <a:chart seriesIdx="-3" categoryIdx="-3" bldStep="gridLegend"/>
                                            </p:graphicEl>
                                          </p:spTgt>
                                        </p:tgtEl>
                                      </p:cBhvr>
                                    </p:animEffect>
                                    <p:anim calcmode="lin" valueType="num">
                                      <p:cBhvr>
                                        <p:cTn id="119" dur="300" fill="hold"/>
                                        <p:tgtEl>
                                          <p:spTgt spid="34">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cBhvr>
                                        <p:cTn id="120" dur="300" fill="hold"/>
                                        <p:tgtEl>
                                          <p:spTgt spid="34">
                                            <p:graphicEl>
                                              <a:chart seriesIdx="-3" categoryIdx="-3" bldStep="gridLegend"/>
                                            </p:graphicEl>
                                          </p:spTgt>
                                        </p:tgtEl>
                                        <p:attrNameLst>
                                          <p:attrName>ppt_y</p:attrName>
                                        </p:attrNameLst>
                                      </p:cBhvr>
                                      <p:tavLst>
                                        <p:tav tm="0">
                                          <p:val>
                                            <p:strVal val="#ppt_y+.1"/>
                                          </p:val>
                                        </p:tav>
                                        <p:tav tm="100000">
                                          <p:val>
                                            <p:strVal val="#ppt_y"/>
                                          </p:val>
                                        </p:tav>
                                      </p:tavLst>
                                    </p:anim>
                                  </p:childTnLst>
                                </p:cTn>
                              </p:par>
                            </p:childTnLst>
                          </p:cTn>
                        </p:par>
                        <p:par>
                          <p:cTn id="121" fill="hold">
                            <p:stCondLst>
                              <p:cond delay="2700"/>
                            </p:stCondLst>
                            <p:childTnLst>
                              <p:par>
                                <p:cTn id="122" presetID="42" presetClass="entr" presetSubtype="0" fill="hold" grpId="0" nodeType="afterEffect">
                                  <p:stCondLst>
                                    <p:cond delay="150"/>
                                  </p:stCondLst>
                                  <p:childTnLst>
                                    <p:set>
                                      <p:cBhvr>
                                        <p:cTn id="123" dur="1" fill="hold">
                                          <p:stCondLst>
                                            <p:cond delay="0"/>
                                          </p:stCondLst>
                                        </p:cTn>
                                        <p:tgtEl>
                                          <p:spTgt spid="34">
                                            <p:graphicEl>
                                              <a:chart seriesIdx="0" categoryIdx="-4" bldStep="series"/>
                                            </p:graphicEl>
                                          </p:spTgt>
                                        </p:tgtEl>
                                        <p:attrNameLst>
                                          <p:attrName>style.visibility</p:attrName>
                                        </p:attrNameLst>
                                      </p:cBhvr>
                                      <p:to>
                                        <p:strVal val="visible"/>
                                      </p:to>
                                    </p:set>
                                    <p:animEffect transition="in" filter="fade">
                                      <p:cBhvr>
                                        <p:cTn id="124" dur="300"/>
                                        <p:tgtEl>
                                          <p:spTgt spid="34">
                                            <p:graphicEl>
                                              <a:chart seriesIdx="0" categoryIdx="-4" bldStep="series"/>
                                            </p:graphicEl>
                                          </p:spTgt>
                                        </p:tgtEl>
                                      </p:cBhvr>
                                    </p:animEffect>
                                    <p:anim calcmode="lin" valueType="num">
                                      <p:cBhvr>
                                        <p:cTn id="125" dur="300" fill="hold"/>
                                        <p:tgtEl>
                                          <p:spTgt spid="34">
                                            <p:graphicEl>
                                              <a:chart seriesIdx="0" categoryIdx="-4" bldStep="series"/>
                                            </p:graphicEl>
                                          </p:spTgt>
                                        </p:tgtEl>
                                        <p:attrNameLst>
                                          <p:attrName>ppt_x</p:attrName>
                                        </p:attrNameLst>
                                      </p:cBhvr>
                                      <p:tavLst>
                                        <p:tav tm="0">
                                          <p:val>
                                            <p:strVal val="#ppt_x"/>
                                          </p:val>
                                        </p:tav>
                                        <p:tav tm="100000">
                                          <p:val>
                                            <p:strVal val="#ppt_x"/>
                                          </p:val>
                                        </p:tav>
                                      </p:tavLst>
                                    </p:anim>
                                    <p:anim calcmode="lin" valueType="num">
                                      <p:cBhvr>
                                        <p:cTn id="126" dur="300" fill="hold"/>
                                        <p:tgtEl>
                                          <p:spTgt spid="34">
                                            <p:graphicEl>
                                              <a:chart seriesIdx="0" categoryIdx="-4" bldStep="series"/>
                                            </p:graphicEl>
                                          </p:spTgt>
                                        </p:tgtEl>
                                        <p:attrNameLst>
                                          <p:attrName>ppt_y</p:attrName>
                                        </p:attrNameLst>
                                      </p:cBhvr>
                                      <p:tavLst>
                                        <p:tav tm="0">
                                          <p:val>
                                            <p:strVal val="#ppt_y+.1"/>
                                          </p:val>
                                        </p:tav>
                                        <p:tav tm="100000">
                                          <p:val>
                                            <p:strVal val="#ppt_y"/>
                                          </p:val>
                                        </p:tav>
                                      </p:tavLst>
                                    </p:anim>
                                  </p:childTnLst>
                                </p:cTn>
                              </p:par>
                            </p:childTnLst>
                          </p:cTn>
                        </p:par>
                        <p:par>
                          <p:cTn id="127" fill="hold">
                            <p:stCondLst>
                              <p:cond delay="3150"/>
                            </p:stCondLst>
                            <p:childTnLst>
                              <p:par>
                                <p:cTn id="128" presetID="42" presetClass="entr" presetSubtype="0" fill="hold" grpId="0" nodeType="afterEffect">
                                  <p:stCondLst>
                                    <p:cond delay="150"/>
                                  </p:stCondLst>
                                  <p:childTnLst>
                                    <p:set>
                                      <p:cBhvr>
                                        <p:cTn id="129" dur="1" fill="hold">
                                          <p:stCondLst>
                                            <p:cond delay="0"/>
                                          </p:stCondLst>
                                        </p:cTn>
                                        <p:tgtEl>
                                          <p:spTgt spid="34">
                                            <p:graphicEl>
                                              <a:chart seriesIdx="1" categoryIdx="-4" bldStep="series"/>
                                            </p:graphicEl>
                                          </p:spTgt>
                                        </p:tgtEl>
                                        <p:attrNameLst>
                                          <p:attrName>style.visibility</p:attrName>
                                        </p:attrNameLst>
                                      </p:cBhvr>
                                      <p:to>
                                        <p:strVal val="visible"/>
                                      </p:to>
                                    </p:set>
                                    <p:animEffect transition="in" filter="fade">
                                      <p:cBhvr>
                                        <p:cTn id="130" dur="300"/>
                                        <p:tgtEl>
                                          <p:spTgt spid="34">
                                            <p:graphicEl>
                                              <a:chart seriesIdx="1" categoryIdx="-4" bldStep="series"/>
                                            </p:graphicEl>
                                          </p:spTgt>
                                        </p:tgtEl>
                                      </p:cBhvr>
                                    </p:animEffect>
                                    <p:anim calcmode="lin" valueType="num">
                                      <p:cBhvr>
                                        <p:cTn id="131" dur="300" fill="hold"/>
                                        <p:tgtEl>
                                          <p:spTgt spid="34">
                                            <p:graphicEl>
                                              <a:chart seriesIdx="1" categoryIdx="-4" bldStep="series"/>
                                            </p:graphicEl>
                                          </p:spTgt>
                                        </p:tgtEl>
                                        <p:attrNameLst>
                                          <p:attrName>ppt_x</p:attrName>
                                        </p:attrNameLst>
                                      </p:cBhvr>
                                      <p:tavLst>
                                        <p:tav tm="0">
                                          <p:val>
                                            <p:strVal val="#ppt_x"/>
                                          </p:val>
                                        </p:tav>
                                        <p:tav tm="100000">
                                          <p:val>
                                            <p:strVal val="#ppt_x"/>
                                          </p:val>
                                        </p:tav>
                                      </p:tavLst>
                                    </p:anim>
                                    <p:anim calcmode="lin" valueType="num">
                                      <p:cBhvr>
                                        <p:cTn id="132" dur="300" fill="hold"/>
                                        <p:tgtEl>
                                          <p:spTgt spid="34">
                                            <p:graphicEl>
                                              <a:chart seriesIdx="1" categoryIdx="-4" bldStep="series"/>
                                            </p:graphicEl>
                                          </p:spTgt>
                                        </p:tgtEl>
                                        <p:attrNameLst>
                                          <p:attrName>ppt_y</p:attrName>
                                        </p:attrNameLst>
                                      </p:cBhvr>
                                      <p:tavLst>
                                        <p:tav tm="0">
                                          <p:val>
                                            <p:strVal val="#ppt_y+.1"/>
                                          </p:val>
                                        </p:tav>
                                        <p:tav tm="100000">
                                          <p:val>
                                            <p:strVal val="#ppt_y"/>
                                          </p:val>
                                        </p:tav>
                                      </p:tavLst>
                                    </p:anim>
                                  </p:childTnLst>
                                </p:cTn>
                              </p:par>
                            </p:childTnLst>
                          </p:cTn>
                        </p:par>
                        <p:par>
                          <p:cTn id="133" fill="hold">
                            <p:stCondLst>
                              <p:cond delay="3600"/>
                            </p:stCondLst>
                            <p:childTnLst>
                              <p:par>
                                <p:cTn id="134" presetID="42" presetClass="entr" presetSubtype="0" fill="hold" grpId="0" nodeType="afterEffect">
                                  <p:stCondLst>
                                    <p:cond delay="150"/>
                                  </p:stCondLst>
                                  <p:childTnLst>
                                    <p:set>
                                      <p:cBhvr>
                                        <p:cTn id="135" dur="1" fill="hold">
                                          <p:stCondLst>
                                            <p:cond delay="0"/>
                                          </p:stCondLst>
                                        </p:cTn>
                                        <p:tgtEl>
                                          <p:spTgt spid="34">
                                            <p:graphicEl>
                                              <a:chart seriesIdx="2" categoryIdx="-4" bldStep="series"/>
                                            </p:graphicEl>
                                          </p:spTgt>
                                        </p:tgtEl>
                                        <p:attrNameLst>
                                          <p:attrName>style.visibility</p:attrName>
                                        </p:attrNameLst>
                                      </p:cBhvr>
                                      <p:to>
                                        <p:strVal val="visible"/>
                                      </p:to>
                                    </p:set>
                                    <p:animEffect transition="in" filter="fade">
                                      <p:cBhvr>
                                        <p:cTn id="136" dur="300"/>
                                        <p:tgtEl>
                                          <p:spTgt spid="34">
                                            <p:graphicEl>
                                              <a:chart seriesIdx="2" categoryIdx="-4" bldStep="series"/>
                                            </p:graphicEl>
                                          </p:spTgt>
                                        </p:tgtEl>
                                      </p:cBhvr>
                                    </p:animEffect>
                                    <p:anim calcmode="lin" valueType="num">
                                      <p:cBhvr>
                                        <p:cTn id="137" dur="300" fill="hold"/>
                                        <p:tgtEl>
                                          <p:spTgt spid="34">
                                            <p:graphicEl>
                                              <a:chart seriesIdx="2" categoryIdx="-4" bldStep="series"/>
                                            </p:graphicEl>
                                          </p:spTgt>
                                        </p:tgtEl>
                                        <p:attrNameLst>
                                          <p:attrName>ppt_x</p:attrName>
                                        </p:attrNameLst>
                                      </p:cBhvr>
                                      <p:tavLst>
                                        <p:tav tm="0">
                                          <p:val>
                                            <p:strVal val="#ppt_x"/>
                                          </p:val>
                                        </p:tav>
                                        <p:tav tm="100000">
                                          <p:val>
                                            <p:strVal val="#ppt_x"/>
                                          </p:val>
                                        </p:tav>
                                      </p:tavLst>
                                    </p:anim>
                                    <p:anim calcmode="lin" valueType="num">
                                      <p:cBhvr>
                                        <p:cTn id="138" dur="300" fill="hold"/>
                                        <p:tgtEl>
                                          <p:spTgt spid="34">
                                            <p:graphicEl>
                                              <a:chart seriesIdx="2" categoryIdx="-4" bldStep="series"/>
                                            </p:graphicEl>
                                          </p:spTgt>
                                        </p:tgtEl>
                                        <p:attrNameLst>
                                          <p:attrName>ppt_y</p:attrName>
                                        </p:attrNameLst>
                                      </p:cBhvr>
                                      <p:tavLst>
                                        <p:tav tm="0">
                                          <p:val>
                                            <p:strVal val="#ppt_y+.1"/>
                                          </p:val>
                                        </p:tav>
                                        <p:tav tm="100000">
                                          <p:val>
                                            <p:strVal val="#ppt_y"/>
                                          </p:val>
                                        </p:tav>
                                      </p:tavLst>
                                    </p:anim>
                                  </p:childTnLst>
                                </p:cTn>
                              </p:par>
                            </p:childTnLst>
                          </p:cTn>
                        </p:par>
                        <p:par>
                          <p:cTn id="139" fill="hold">
                            <p:stCondLst>
                              <p:cond delay="4050"/>
                            </p:stCondLst>
                            <p:childTnLst>
                              <p:par>
                                <p:cTn id="140" presetID="42" presetClass="entr" presetSubtype="0" fill="hold" grpId="0" nodeType="afterEffect">
                                  <p:stCondLst>
                                    <p:cond delay="150"/>
                                  </p:stCondLst>
                                  <p:childTnLst>
                                    <p:set>
                                      <p:cBhvr>
                                        <p:cTn id="141" dur="1" fill="hold">
                                          <p:stCondLst>
                                            <p:cond delay="0"/>
                                          </p:stCondLst>
                                        </p:cTn>
                                        <p:tgtEl>
                                          <p:spTgt spid="34">
                                            <p:graphicEl>
                                              <a:chart seriesIdx="3" categoryIdx="-4" bldStep="series"/>
                                            </p:graphicEl>
                                          </p:spTgt>
                                        </p:tgtEl>
                                        <p:attrNameLst>
                                          <p:attrName>style.visibility</p:attrName>
                                        </p:attrNameLst>
                                      </p:cBhvr>
                                      <p:to>
                                        <p:strVal val="visible"/>
                                      </p:to>
                                    </p:set>
                                    <p:animEffect transition="in" filter="fade">
                                      <p:cBhvr>
                                        <p:cTn id="142" dur="300"/>
                                        <p:tgtEl>
                                          <p:spTgt spid="34">
                                            <p:graphicEl>
                                              <a:chart seriesIdx="3" categoryIdx="-4" bldStep="series"/>
                                            </p:graphicEl>
                                          </p:spTgt>
                                        </p:tgtEl>
                                      </p:cBhvr>
                                    </p:animEffect>
                                    <p:anim calcmode="lin" valueType="num">
                                      <p:cBhvr>
                                        <p:cTn id="143" dur="300" fill="hold"/>
                                        <p:tgtEl>
                                          <p:spTgt spid="34">
                                            <p:graphicEl>
                                              <a:chart seriesIdx="3" categoryIdx="-4" bldStep="series"/>
                                            </p:graphicEl>
                                          </p:spTgt>
                                        </p:tgtEl>
                                        <p:attrNameLst>
                                          <p:attrName>ppt_x</p:attrName>
                                        </p:attrNameLst>
                                      </p:cBhvr>
                                      <p:tavLst>
                                        <p:tav tm="0">
                                          <p:val>
                                            <p:strVal val="#ppt_x"/>
                                          </p:val>
                                        </p:tav>
                                        <p:tav tm="100000">
                                          <p:val>
                                            <p:strVal val="#ppt_x"/>
                                          </p:val>
                                        </p:tav>
                                      </p:tavLst>
                                    </p:anim>
                                    <p:anim calcmode="lin" valueType="num">
                                      <p:cBhvr>
                                        <p:cTn id="144" dur="300" fill="hold"/>
                                        <p:tgtEl>
                                          <p:spTgt spid="34">
                                            <p:graphicEl>
                                              <a:chart seriesIdx="3" categoryIdx="-4" bldStep="series"/>
                                            </p:graphicEl>
                                          </p:spTgt>
                                        </p:tgtEl>
                                        <p:attrNameLst>
                                          <p:attrName>ppt_y</p:attrName>
                                        </p:attrNameLst>
                                      </p:cBhvr>
                                      <p:tavLst>
                                        <p:tav tm="0">
                                          <p:val>
                                            <p:strVal val="#ppt_y+.1"/>
                                          </p:val>
                                        </p:tav>
                                        <p:tav tm="100000">
                                          <p:val>
                                            <p:strVal val="#ppt_y"/>
                                          </p:val>
                                        </p:tav>
                                      </p:tavLst>
                                    </p:anim>
                                  </p:childTnLst>
                                </p:cTn>
                              </p:par>
                            </p:childTnLst>
                          </p:cTn>
                        </p:par>
                        <p:par>
                          <p:cTn id="145" fill="hold">
                            <p:stCondLst>
                              <p:cond delay="4500"/>
                            </p:stCondLst>
                            <p:childTnLst>
                              <p:par>
                                <p:cTn id="146" presetID="42" presetClass="entr" presetSubtype="0" fill="hold" grpId="0" nodeType="afterEffect">
                                  <p:stCondLst>
                                    <p:cond delay="150"/>
                                  </p:stCondLst>
                                  <p:childTnLst>
                                    <p:set>
                                      <p:cBhvr>
                                        <p:cTn id="147" dur="1" fill="hold">
                                          <p:stCondLst>
                                            <p:cond delay="0"/>
                                          </p:stCondLst>
                                        </p:cTn>
                                        <p:tgtEl>
                                          <p:spTgt spid="34">
                                            <p:graphicEl>
                                              <a:chart seriesIdx="4" categoryIdx="-4" bldStep="series"/>
                                            </p:graphicEl>
                                          </p:spTgt>
                                        </p:tgtEl>
                                        <p:attrNameLst>
                                          <p:attrName>style.visibility</p:attrName>
                                        </p:attrNameLst>
                                      </p:cBhvr>
                                      <p:to>
                                        <p:strVal val="visible"/>
                                      </p:to>
                                    </p:set>
                                    <p:animEffect transition="in" filter="fade">
                                      <p:cBhvr>
                                        <p:cTn id="148" dur="300"/>
                                        <p:tgtEl>
                                          <p:spTgt spid="34">
                                            <p:graphicEl>
                                              <a:chart seriesIdx="4" categoryIdx="-4" bldStep="series"/>
                                            </p:graphicEl>
                                          </p:spTgt>
                                        </p:tgtEl>
                                      </p:cBhvr>
                                    </p:animEffect>
                                    <p:anim calcmode="lin" valueType="num">
                                      <p:cBhvr>
                                        <p:cTn id="149" dur="300" fill="hold"/>
                                        <p:tgtEl>
                                          <p:spTgt spid="34">
                                            <p:graphicEl>
                                              <a:chart seriesIdx="4" categoryIdx="-4" bldStep="series"/>
                                            </p:graphicEl>
                                          </p:spTgt>
                                        </p:tgtEl>
                                        <p:attrNameLst>
                                          <p:attrName>ppt_x</p:attrName>
                                        </p:attrNameLst>
                                      </p:cBhvr>
                                      <p:tavLst>
                                        <p:tav tm="0">
                                          <p:val>
                                            <p:strVal val="#ppt_x"/>
                                          </p:val>
                                        </p:tav>
                                        <p:tav tm="100000">
                                          <p:val>
                                            <p:strVal val="#ppt_x"/>
                                          </p:val>
                                        </p:tav>
                                      </p:tavLst>
                                    </p:anim>
                                    <p:anim calcmode="lin" valueType="num">
                                      <p:cBhvr>
                                        <p:cTn id="150" dur="300" fill="hold"/>
                                        <p:tgtEl>
                                          <p:spTgt spid="34">
                                            <p:graphicEl>
                                              <a:chart seriesIdx="4" categoryIdx="-4" bldStep="series"/>
                                            </p:graphicEl>
                                          </p:spTgt>
                                        </p:tgtEl>
                                        <p:attrNameLst>
                                          <p:attrName>ppt_y</p:attrName>
                                        </p:attrNameLst>
                                      </p:cBhvr>
                                      <p:tavLst>
                                        <p:tav tm="0">
                                          <p:val>
                                            <p:strVal val="#ppt_y+.1"/>
                                          </p:val>
                                        </p:tav>
                                        <p:tav tm="100000">
                                          <p:val>
                                            <p:strVal val="#ppt_y"/>
                                          </p:val>
                                        </p:tav>
                                      </p:tavLst>
                                    </p:anim>
                                  </p:childTnLst>
                                </p:cTn>
                              </p:par>
                            </p:childTnLst>
                          </p:cTn>
                        </p:par>
                        <p:par>
                          <p:cTn id="151" fill="hold">
                            <p:stCondLst>
                              <p:cond delay="4950"/>
                            </p:stCondLst>
                            <p:childTnLst>
                              <p:par>
                                <p:cTn id="152" presetID="42" presetClass="entr" presetSubtype="0" fill="hold" grpId="0" nodeType="afterEffect">
                                  <p:stCondLst>
                                    <p:cond delay="150"/>
                                  </p:stCondLst>
                                  <p:childTnLst>
                                    <p:set>
                                      <p:cBhvr>
                                        <p:cTn id="153" dur="1" fill="hold">
                                          <p:stCondLst>
                                            <p:cond delay="0"/>
                                          </p:stCondLst>
                                        </p:cTn>
                                        <p:tgtEl>
                                          <p:spTgt spid="34">
                                            <p:graphicEl>
                                              <a:chart seriesIdx="5" categoryIdx="-4" bldStep="series"/>
                                            </p:graphicEl>
                                          </p:spTgt>
                                        </p:tgtEl>
                                        <p:attrNameLst>
                                          <p:attrName>style.visibility</p:attrName>
                                        </p:attrNameLst>
                                      </p:cBhvr>
                                      <p:to>
                                        <p:strVal val="visible"/>
                                      </p:to>
                                    </p:set>
                                    <p:animEffect transition="in" filter="fade">
                                      <p:cBhvr>
                                        <p:cTn id="154" dur="300"/>
                                        <p:tgtEl>
                                          <p:spTgt spid="34">
                                            <p:graphicEl>
                                              <a:chart seriesIdx="5" categoryIdx="-4" bldStep="series"/>
                                            </p:graphicEl>
                                          </p:spTgt>
                                        </p:tgtEl>
                                      </p:cBhvr>
                                    </p:animEffect>
                                    <p:anim calcmode="lin" valueType="num">
                                      <p:cBhvr>
                                        <p:cTn id="155" dur="300" fill="hold"/>
                                        <p:tgtEl>
                                          <p:spTgt spid="34">
                                            <p:graphicEl>
                                              <a:chart seriesIdx="5" categoryIdx="-4" bldStep="series"/>
                                            </p:graphicEl>
                                          </p:spTgt>
                                        </p:tgtEl>
                                        <p:attrNameLst>
                                          <p:attrName>ppt_x</p:attrName>
                                        </p:attrNameLst>
                                      </p:cBhvr>
                                      <p:tavLst>
                                        <p:tav tm="0">
                                          <p:val>
                                            <p:strVal val="#ppt_x"/>
                                          </p:val>
                                        </p:tav>
                                        <p:tav tm="100000">
                                          <p:val>
                                            <p:strVal val="#ppt_x"/>
                                          </p:val>
                                        </p:tav>
                                      </p:tavLst>
                                    </p:anim>
                                    <p:anim calcmode="lin" valueType="num">
                                      <p:cBhvr>
                                        <p:cTn id="156" dur="300" fill="hold"/>
                                        <p:tgtEl>
                                          <p:spTgt spid="34">
                                            <p:graphicEl>
                                              <a:chart seriesIdx="5" categoryIdx="-4" bldStep="series"/>
                                            </p:graphicEl>
                                          </p:spTgt>
                                        </p:tgtEl>
                                        <p:attrNameLst>
                                          <p:attrName>ppt_y</p:attrName>
                                        </p:attrNameLst>
                                      </p:cBhvr>
                                      <p:tavLst>
                                        <p:tav tm="0">
                                          <p:val>
                                            <p:strVal val="#ppt_y+.1"/>
                                          </p:val>
                                        </p:tav>
                                        <p:tav tm="100000">
                                          <p:val>
                                            <p:strVal val="#ppt_y"/>
                                          </p:val>
                                        </p:tav>
                                      </p:tavLst>
                                    </p:anim>
                                  </p:childTnLst>
                                </p:cTn>
                              </p:par>
                            </p:childTnLst>
                          </p:cTn>
                        </p:par>
                        <p:par>
                          <p:cTn id="157" fill="hold">
                            <p:stCondLst>
                              <p:cond delay="5400"/>
                            </p:stCondLst>
                            <p:childTnLst>
                              <p:par>
                                <p:cTn id="158" presetID="42" presetClass="entr" presetSubtype="0" fill="hold" grpId="0" nodeType="afterEffect">
                                  <p:stCondLst>
                                    <p:cond delay="150"/>
                                  </p:stCondLst>
                                  <p:childTnLst>
                                    <p:set>
                                      <p:cBhvr>
                                        <p:cTn id="159" dur="1" fill="hold">
                                          <p:stCondLst>
                                            <p:cond delay="0"/>
                                          </p:stCondLst>
                                        </p:cTn>
                                        <p:tgtEl>
                                          <p:spTgt spid="34">
                                            <p:graphicEl>
                                              <a:chart seriesIdx="6" categoryIdx="-4" bldStep="series"/>
                                            </p:graphicEl>
                                          </p:spTgt>
                                        </p:tgtEl>
                                        <p:attrNameLst>
                                          <p:attrName>style.visibility</p:attrName>
                                        </p:attrNameLst>
                                      </p:cBhvr>
                                      <p:to>
                                        <p:strVal val="visible"/>
                                      </p:to>
                                    </p:set>
                                    <p:animEffect transition="in" filter="fade">
                                      <p:cBhvr>
                                        <p:cTn id="160" dur="300"/>
                                        <p:tgtEl>
                                          <p:spTgt spid="34">
                                            <p:graphicEl>
                                              <a:chart seriesIdx="6" categoryIdx="-4" bldStep="series"/>
                                            </p:graphicEl>
                                          </p:spTgt>
                                        </p:tgtEl>
                                      </p:cBhvr>
                                    </p:animEffect>
                                    <p:anim calcmode="lin" valueType="num">
                                      <p:cBhvr>
                                        <p:cTn id="161" dur="300" fill="hold"/>
                                        <p:tgtEl>
                                          <p:spTgt spid="34">
                                            <p:graphicEl>
                                              <a:chart seriesIdx="6" categoryIdx="-4" bldStep="series"/>
                                            </p:graphicEl>
                                          </p:spTgt>
                                        </p:tgtEl>
                                        <p:attrNameLst>
                                          <p:attrName>ppt_x</p:attrName>
                                        </p:attrNameLst>
                                      </p:cBhvr>
                                      <p:tavLst>
                                        <p:tav tm="0">
                                          <p:val>
                                            <p:strVal val="#ppt_x"/>
                                          </p:val>
                                        </p:tav>
                                        <p:tav tm="100000">
                                          <p:val>
                                            <p:strVal val="#ppt_x"/>
                                          </p:val>
                                        </p:tav>
                                      </p:tavLst>
                                    </p:anim>
                                    <p:anim calcmode="lin" valueType="num">
                                      <p:cBhvr>
                                        <p:cTn id="162" dur="300" fill="hold"/>
                                        <p:tgtEl>
                                          <p:spTgt spid="34">
                                            <p:graphicEl>
                                              <a:chart seriesIdx="6" categoryIdx="-4" bldStep="series"/>
                                            </p:graphicEl>
                                          </p:spTgt>
                                        </p:tgtEl>
                                        <p:attrNameLst>
                                          <p:attrName>ppt_y</p:attrName>
                                        </p:attrNameLst>
                                      </p:cBhvr>
                                      <p:tavLst>
                                        <p:tav tm="0">
                                          <p:val>
                                            <p:strVal val="#ppt_y+.1"/>
                                          </p:val>
                                        </p:tav>
                                        <p:tav tm="100000">
                                          <p:val>
                                            <p:strVal val="#ppt_y"/>
                                          </p:val>
                                        </p:tav>
                                      </p:tavLst>
                                    </p:anim>
                                  </p:childTnLst>
                                </p:cTn>
                              </p:par>
                            </p:childTnLst>
                          </p:cTn>
                        </p:par>
                        <p:par>
                          <p:cTn id="163" fill="hold">
                            <p:stCondLst>
                              <p:cond delay="5850"/>
                            </p:stCondLst>
                            <p:childTnLst>
                              <p:par>
                                <p:cTn id="164" presetID="42" presetClass="entr" presetSubtype="0" fill="hold" grpId="0" nodeType="afterEffect">
                                  <p:stCondLst>
                                    <p:cond delay="150"/>
                                  </p:stCondLst>
                                  <p:childTnLst>
                                    <p:set>
                                      <p:cBhvr>
                                        <p:cTn id="165" dur="1" fill="hold">
                                          <p:stCondLst>
                                            <p:cond delay="0"/>
                                          </p:stCondLst>
                                        </p:cTn>
                                        <p:tgtEl>
                                          <p:spTgt spid="34">
                                            <p:graphicEl>
                                              <a:chart seriesIdx="7" categoryIdx="-4" bldStep="series"/>
                                            </p:graphicEl>
                                          </p:spTgt>
                                        </p:tgtEl>
                                        <p:attrNameLst>
                                          <p:attrName>style.visibility</p:attrName>
                                        </p:attrNameLst>
                                      </p:cBhvr>
                                      <p:to>
                                        <p:strVal val="visible"/>
                                      </p:to>
                                    </p:set>
                                    <p:animEffect transition="in" filter="fade">
                                      <p:cBhvr>
                                        <p:cTn id="166" dur="300"/>
                                        <p:tgtEl>
                                          <p:spTgt spid="34">
                                            <p:graphicEl>
                                              <a:chart seriesIdx="7" categoryIdx="-4" bldStep="series"/>
                                            </p:graphicEl>
                                          </p:spTgt>
                                        </p:tgtEl>
                                      </p:cBhvr>
                                    </p:animEffect>
                                    <p:anim calcmode="lin" valueType="num">
                                      <p:cBhvr>
                                        <p:cTn id="167" dur="300" fill="hold"/>
                                        <p:tgtEl>
                                          <p:spTgt spid="34">
                                            <p:graphicEl>
                                              <a:chart seriesIdx="7" categoryIdx="-4" bldStep="series"/>
                                            </p:graphicEl>
                                          </p:spTgt>
                                        </p:tgtEl>
                                        <p:attrNameLst>
                                          <p:attrName>ppt_x</p:attrName>
                                        </p:attrNameLst>
                                      </p:cBhvr>
                                      <p:tavLst>
                                        <p:tav tm="0">
                                          <p:val>
                                            <p:strVal val="#ppt_x"/>
                                          </p:val>
                                        </p:tav>
                                        <p:tav tm="100000">
                                          <p:val>
                                            <p:strVal val="#ppt_x"/>
                                          </p:val>
                                        </p:tav>
                                      </p:tavLst>
                                    </p:anim>
                                    <p:anim calcmode="lin" valueType="num">
                                      <p:cBhvr>
                                        <p:cTn id="168" dur="300" fill="hold"/>
                                        <p:tgtEl>
                                          <p:spTgt spid="34">
                                            <p:graphicEl>
                                              <a:chart seriesIdx="7" categoryIdx="-4" bldStep="series"/>
                                            </p:graphicEl>
                                          </p:spTgt>
                                        </p:tgtEl>
                                        <p:attrNameLst>
                                          <p:attrName>ppt_y</p:attrName>
                                        </p:attrNameLst>
                                      </p:cBhvr>
                                      <p:tavLst>
                                        <p:tav tm="0">
                                          <p:val>
                                            <p:strVal val="#ppt_y+.1"/>
                                          </p:val>
                                        </p:tav>
                                        <p:tav tm="100000">
                                          <p:val>
                                            <p:strVal val="#ppt_y"/>
                                          </p:val>
                                        </p:tav>
                                      </p:tavLst>
                                    </p:anim>
                                  </p:childTnLst>
                                </p:cTn>
                              </p:par>
                            </p:childTnLst>
                          </p:cTn>
                        </p:par>
                      </p:childTnLst>
                    </p:cTn>
                  </p:par>
                  <p:par>
                    <p:cTn id="169" fill="hold">
                      <p:stCondLst>
                        <p:cond delay="indefinite"/>
                      </p:stCondLst>
                      <p:childTnLst>
                        <p:par>
                          <p:cTn id="170" fill="hold">
                            <p:stCondLst>
                              <p:cond delay="0"/>
                            </p:stCondLst>
                            <p:childTnLst>
                              <p:par>
                                <p:cTn id="171" presetID="42" presetClass="entr" presetSubtype="0" fill="hold" grpId="0" nodeType="clickEffect">
                                  <p:stCondLst>
                                    <p:cond delay="150"/>
                                  </p:stCondLst>
                                  <p:childTnLst>
                                    <p:set>
                                      <p:cBhvr>
                                        <p:cTn id="172" dur="1" fill="hold">
                                          <p:stCondLst>
                                            <p:cond delay="0"/>
                                          </p:stCondLst>
                                        </p:cTn>
                                        <p:tgtEl>
                                          <p:spTgt spid="34">
                                            <p:graphicEl>
                                              <a:chart seriesIdx="8" categoryIdx="-4" bldStep="series"/>
                                            </p:graphicEl>
                                          </p:spTgt>
                                        </p:tgtEl>
                                        <p:attrNameLst>
                                          <p:attrName>style.visibility</p:attrName>
                                        </p:attrNameLst>
                                      </p:cBhvr>
                                      <p:to>
                                        <p:strVal val="visible"/>
                                      </p:to>
                                    </p:set>
                                    <p:animEffect transition="in" filter="fade">
                                      <p:cBhvr>
                                        <p:cTn id="173" dur="300"/>
                                        <p:tgtEl>
                                          <p:spTgt spid="34">
                                            <p:graphicEl>
                                              <a:chart seriesIdx="8" categoryIdx="-4" bldStep="series"/>
                                            </p:graphicEl>
                                          </p:spTgt>
                                        </p:tgtEl>
                                      </p:cBhvr>
                                    </p:animEffect>
                                    <p:anim calcmode="lin" valueType="num">
                                      <p:cBhvr>
                                        <p:cTn id="174" dur="300" fill="hold"/>
                                        <p:tgtEl>
                                          <p:spTgt spid="34">
                                            <p:graphicEl>
                                              <a:chart seriesIdx="8" categoryIdx="-4" bldStep="series"/>
                                            </p:graphicEl>
                                          </p:spTgt>
                                        </p:tgtEl>
                                        <p:attrNameLst>
                                          <p:attrName>ppt_x</p:attrName>
                                        </p:attrNameLst>
                                      </p:cBhvr>
                                      <p:tavLst>
                                        <p:tav tm="0">
                                          <p:val>
                                            <p:strVal val="#ppt_x"/>
                                          </p:val>
                                        </p:tav>
                                        <p:tav tm="100000">
                                          <p:val>
                                            <p:strVal val="#ppt_x"/>
                                          </p:val>
                                        </p:tav>
                                      </p:tavLst>
                                    </p:anim>
                                    <p:anim calcmode="lin" valueType="num">
                                      <p:cBhvr>
                                        <p:cTn id="175" dur="300" fill="hold"/>
                                        <p:tgtEl>
                                          <p:spTgt spid="34">
                                            <p:graphicEl>
                                              <a:chart seriesIdx="8" categoryIdx="-4" bldStep="series"/>
                                            </p:graphicEl>
                                          </p:spTgt>
                                        </p:tgtEl>
                                        <p:attrNameLst>
                                          <p:attrName>ppt_y</p:attrName>
                                        </p:attrNameLst>
                                      </p:cBhvr>
                                      <p:tavLst>
                                        <p:tav tm="0">
                                          <p:val>
                                            <p:strVal val="#ppt_y+.1"/>
                                          </p:val>
                                        </p:tav>
                                        <p:tav tm="100000">
                                          <p:val>
                                            <p:strVal val="#ppt_y"/>
                                          </p:val>
                                        </p:tav>
                                      </p:tavLst>
                                    </p:anim>
                                  </p:childTnLst>
                                </p:cTn>
                              </p:par>
                            </p:childTnLst>
                          </p:cTn>
                        </p:par>
                        <p:par>
                          <p:cTn id="176" fill="hold">
                            <p:stCondLst>
                              <p:cond delay="450"/>
                            </p:stCondLst>
                            <p:childTnLst>
                              <p:par>
                                <p:cTn id="177" presetID="42" presetClass="entr" presetSubtype="0" fill="hold" grpId="0" nodeType="afterEffect">
                                  <p:stCondLst>
                                    <p:cond delay="150"/>
                                  </p:stCondLst>
                                  <p:childTnLst>
                                    <p:set>
                                      <p:cBhvr>
                                        <p:cTn id="178" dur="1" fill="hold">
                                          <p:stCondLst>
                                            <p:cond delay="0"/>
                                          </p:stCondLst>
                                        </p:cTn>
                                        <p:tgtEl>
                                          <p:spTgt spid="38">
                                            <p:bg/>
                                          </p:spTgt>
                                        </p:tgtEl>
                                        <p:attrNameLst>
                                          <p:attrName>style.visibility</p:attrName>
                                        </p:attrNameLst>
                                      </p:cBhvr>
                                      <p:to>
                                        <p:strVal val="visible"/>
                                      </p:to>
                                    </p:set>
                                    <p:animEffect transition="in" filter="fade">
                                      <p:cBhvr>
                                        <p:cTn id="179" dur="300"/>
                                        <p:tgtEl>
                                          <p:spTgt spid="38">
                                            <p:bg/>
                                          </p:spTgt>
                                        </p:tgtEl>
                                      </p:cBhvr>
                                    </p:animEffect>
                                    <p:anim calcmode="lin" valueType="num">
                                      <p:cBhvr>
                                        <p:cTn id="180" dur="300" fill="hold"/>
                                        <p:tgtEl>
                                          <p:spTgt spid="38">
                                            <p:bg/>
                                          </p:spTgt>
                                        </p:tgtEl>
                                        <p:attrNameLst>
                                          <p:attrName>ppt_x</p:attrName>
                                        </p:attrNameLst>
                                      </p:cBhvr>
                                      <p:tavLst>
                                        <p:tav tm="0">
                                          <p:val>
                                            <p:strVal val="#ppt_x"/>
                                          </p:val>
                                        </p:tav>
                                        <p:tav tm="100000">
                                          <p:val>
                                            <p:strVal val="#ppt_x"/>
                                          </p:val>
                                        </p:tav>
                                      </p:tavLst>
                                    </p:anim>
                                    <p:anim calcmode="lin" valueType="num">
                                      <p:cBhvr>
                                        <p:cTn id="181" dur="300" fill="hold"/>
                                        <p:tgtEl>
                                          <p:spTgt spid="38">
                                            <p:bg/>
                                          </p:spTgt>
                                        </p:tgtEl>
                                        <p:attrNameLst>
                                          <p:attrName>ppt_y</p:attrName>
                                        </p:attrNameLst>
                                      </p:cBhvr>
                                      <p:tavLst>
                                        <p:tav tm="0">
                                          <p:val>
                                            <p:strVal val="#ppt_y+.1"/>
                                          </p:val>
                                        </p:tav>
                                        <p:tav tm="100000">
                                          <p:val>
                                            <p:strVal val="#ppt_y"/>
                                          </p:val>
                                        </p:tav>
                                      </p:tavLst>
                                    </p:anim>
                                  </p:childTnLst>
                                </p:cTn>
                              </p:par>
                            </p:childTnLst>
                          </p:cTn>
                        </p:par>
                      </p:childTnLst>
                    </p:cTn>
                  </p:par>
                  <p:par>
                    <p:cTn id="182" fill="hold">
                      <p:stCondLst>
                        <p:cond delay="indefinite"/>
                      </p:stCondLst>
                      <p:childTnLst>
                        <p:par>
                          <p:cTn id="183" fill="hold">
                            <p:stCondLst>
                              <p:cond delay="0"/>
                            </p:stCondLst>
                            <p:childTnLst>
                              <p:par>
                                <p:cTn id="184" presetID="42" presetClass="entr" presetSubtype="0" fill="hold" grpId="0" nodeType="clickEffect">
                                  <p:stCondLst>
                                    <p:cond delay="150"/>
                                  </p:stCondLst>
                                  <p:childTnLst>
                                    <p:set>
                                      <p:cBhvr>
                                        <p:cTn id="185" dur="1" fill="hold">
                                          <p:stCondLst>
                                            <p:cond delay="0"/>
                                          </p:stCondLst>
                                        </p:cTn>
                                        <p:tgtEl>
                                          <p:spTgt spid="38">
                                            <p:txEl>
                                              <p:pRg st="0" end="0"/>
                                            </p:txEl>
                                          </p:spTgt>
                                        </p:tgtEl>
                                        <p:attrNameLst>
                                          <p:attrName>style.visibility</p:attrName>
                                        </p:attrNameLst>
                                      </p:cBhvr>
                                      <p:to>
                                        <p:strVal val="visible"/>
                                      </p:to>
                                    </p:set>
                                    <p:animEffect transition="in" filter="fade">
                                      <p:cBhvr>
                                        <p:cTn id="186" dur="300"/>
                                        <p:tgtEl>
                                          <p:spTgt spid="38">
                                            <p:txEl>
                                              <p:pRg st="0" end="0"/>
                                            </p:txEl>
                                          </p:spTgt>
                                        </p:tgtEl>
                                      </p:cBhvr>
                                    </p:animEffect>
                                    <p:anim calcmode="lin" valueType="num">
                                      <p:cBhvr>
                                        <p:cTn id="187" dur="300" fill="hold"/>
                                        <p:tgtEl>
                                          <p:spTgt spid="38">
                                            <p:txEl>
                                              <p:pRg st="0" end="0"/>
                                            </p:txEl>
                                          </p:spTgt>
                                        </p:tgtEl>
                                        <p:attrNameLst>
                                          <p:attrName>ppt_x</p:attrName>
                                        </p:attrNameLst>
                                      </p:cBhvr>
                                      <p:tavLst>
                                        <p:tav tm="0">
                                          <p:val>
                                            <p:strVal val="#ppt_x"/>
                                          </p:val>
                                        </p:tav>
                                        <p:tav tm="100000">
                                          <p:val>
                                            <p:strVal val="#ppt_x"/>
                                          </p:val>
                                        </p:tav>
                                      </p:tavLst>
                                    </p:anim>
                                    <p:anim calcmode="lin" valueType="num">
                                      <p:cBhvr>
                                        <p:cTn id="188" dur="300" fill="hold"/>
                                        <p:tgtEl>
                                          <p:spTgt spid="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9" fill="hold">
                      <p:stCondLst>
                        <p:cond delay="indefinite"/>
                      </p:stCondLst>
                      <p:childTnLst>
                        <p:par>
                          <p:cTn id="190" fill="hold">
                            <p:stCondLst>
                              <p:cond delay="0"/>
                            </p:stCondLst>
                            <p:childTnLst>
                              <p:par>
                                <p:cTn id="191" presetID="42" presetClass="entr" presetSubtype="0" fill="hold" grpId="0" nodeType="clickEffect">
                                  <p:stCondLst>
                                    <p:cond delay="150"/>
                                  </p:stCondLst>
                                  <p:childTnLst>
                                    <p:set>
                                      <p:cBhvr>
                                        <p:cTn id="192" dur="1" fill="hold">
                                          <p:stCondLst>
                                            <p:cond delay="0"/>
                                          </p:stCondLst>
                                        </p:cTn>
                                        <p:tgtEl>
                                          <p:spTgt spid="38">
                                            <p:txEl>
                                              <p:pRg st="1" end="1"/>
                                            </p:txEl>
                                          </p:spTgt>
                                        </p:tgtEl>
                                        <p:attrNameLst>
                                          <p:attrName>style.visibility</p:attrName>
                                        </p:attrNameLst>
                                      </p:cBhvr>
                                      <p:to>
                                        <p:strVal val="visible"/>
                                      </p:to>
                                    </p:set>
                                    <p:animEffect transition="in" filter="fade">
                                      <p:cBhvr>
                                        <p:cTn id="193" dur="300"/>
                                        <p:tgtEl>
                                          <p:spTgt spid="38">
                                            <p:txEl>
                                              <p:pRg st="1" end="1"/>
                                            </p:txEl>
                                          </p:spTgt>
                                        </p:tgtEl>
                                      </p:cBhvr>
                                    </p:animEffect>
                                    <p:anim calcmode="lin" valueType="num">
                                      <p:cBhvr>
                                        <p:cTn id="194" dur="300" fill="hold"/>
                                        <p:tgtEl>
                                          <p:spTgt spid="38">
                                            <p:txEl>
                                              <p:pRg st="1" end="1"/>
                                            </p:txEl>
                                          </p:spTgt>
                                        </p:tgtEl>
                                        <p:attrNameLst>
                                          <p:attrName>ppt_x</p:attrName>
                                        </p:attrNameLst>
                                      </p:cBhvr>
                                      <p:tavLst>
                                        <p:tav tm="0">
                                          <p:val>
                                            <p:strVal val="#ppt_x"/>
                                          </p:val>
                                        </p:tav>
                                        <p:tav tm="100000">
                                          <p:val>
                                            <p:strVal val="#ppt_x"/>
                                          </p:val>
                                        </p:tav>
                                      </p:tavLst>
                                    </p:anim>
                                    <p:anim calcmode="lin" valueType="num">
                                      <p:cBhvr>
                                        <p:cTn id="195" dur="300" fill="hold"/>
                                        <p:tgtEl>
                                          <p:spTgt spid="3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96" fill="hold">
                      <p:stCondLst>
                        <p:cond delay="indefinite"/>
                      </p:stCondLst>
                      <p:childTnLst>
                        <p:par>
                          <p:cTn id="197" fill="hold">
                            <p:stCondLst>
                              <p:cond delay="0"/>
                            </p:stCondLst>
                            <p:childTnLst>
                              <p:par>
                                <p:cTn id="198" presetID="42" presetClass="entr" presetSubtype="0" fill="hold" grpId="0" nodeType="clickEffect">
                                  <p:stCondLst>
                                    <p:cond delay="150"/>
                                  </p:stCondLst>
                                  <p:childTnLst>
                                    <p:set>
                                      <p:cBhvr>
                                        <p:cTn id="199" dur="1" fill="hold">
                                          <p:stCondLst>
                                            <p:cond delay="0"/>
                                          </p:stCondLst>
                                        </p:cTn>
                                        <p:tgtEl>
                                          <p:spTgt spid="38">
                                            <p:txEl>
                                              <p:pRg st="2" end="2"/>
                                            </p:txEl>
                                          </p:spTgt>
                                        </p:tgtEl>
                                        <p:attrNameLst>
                                          <p:attrName>style.visibility</p:attrName>
                                        </p:attrNameLst>
                                      </p:cBhvr>
                                      <p:to>
                                        <p:strVal val="visible"/>
                                      </p:to>
                                    </p:set>
                                    <p:animEffect transition="in" filter="fade">
                                      <p:cBhvr>
                                        <p:cTn id="200" dur="300"/>
                                        <p:tgtEl>
                                          <p:spTgt spid="38">
                                            <p:txEl>
                                              <p:pRg st="2" end="2"/>
                                            </p:txEl>
                                          </p:spTgt>
                                        </p:tgtEl>
                                      </p:cBhvr>
                                    </p:animEffect>
                                    <p:anim calcmode="lin" valueType="num">
                                      <p:cBhvr>
                                        <p:cTn id="201" dur="300" fill="hold"/>
                                        <p:tgtEl>
                                          <p:spTgt spid="38">
                                            <p:txEl>
                                              <p:pRg st="2" end="2"/>
                                            </p:txEl>
                                          </p:spTgt>
                                        </p:tgtEl>
                                        <p:attrNameLst>
                                          <p:attrName>ppt_x</p:attrName>
                                        </p:attrNameLst>
                                      </p:cBhvr>
                                      <p:tavLst>
                                        <p:tav tm="0">
                                          <p:val>
                                            <p:strVal val="#ppt_x"/>
                                          </p:val>
                                        </p:tav>
                                        <p:tav tm="100000">
                                          <p:val>
                                            <p:strVal val="#ppt_x"/>
                                          </p:val>
                                        </p:tav>
                                      </p:tavLst>
                                    </p:anim>
                                    <p:anim calcmode="lin" valueType="num">
                                      <p:cBhvr>
                                        <p:cTn id="202" dur="300" fill="hold"/>
                                        <p:tgtEl>
                                          <p:spTgt spid="3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70" grpId="0" animBg="1"/>
      <p:bldGraphic spid="2" grpId="0">
        <p:bldSub>
          <a:bldChart bld="series"/>
        </p:bldSub>
      </p:bldGraphic>
      <p:bldP spid="24" grpId="0" animBg="1"/>
      <p:bldGraphic spid="34" grpId="0">
        <p:bldSub>
          <a:bldChart bld="series"/>
        </p:bldSub>
      </p:bldGraphic>
      <p:bldP spid="37" grpId="0" build="p" animBg="1"/>
      <p:bldP spid="38"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2F4C"/>
        </a:solidFill>
        <a:effectLst/>
      </p:bgPr>
    </p:bg>
    <p:spTree>
      <p:nvGrpSpPr>
        <p:cNvPr id="1" name="">
          <a:extLst>
            <a:ext uri="{FF2B5EF4-FFF2-40B4-BE49-F238E27FC236}">
              <a16:creationId xmlns:a16="http://schemas.microsoft.com/office/drawing/2014/main" id="{2D2521DD-B4AA-16FF-3668-F7F943C97B14}"/>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BE3DD8D2-E97E-A22C-1EFD-65250BF58873}"/>
              </a:ext>
            </a:extLst>
          </p:cNvPr>
          <p:cNvSpPr/>
          <p:nvPr/>
        </p:nvSpPr>
        <p:spPr>
          <a:xfrm>
            <a:off x="4115880" y="2531936"/>
            <a:ext cx="900000" cy="234000"/>
          </a:xfrm>
          <a:prstGeom prst="roundRect">
            <a:avLst>
              <a:gd name="adj" fmla="val 50000"/>
            </a:avLst>
          </a:prstGeom>
          <a:solidFill>
            <a:srgbClr val="09A472">
              <a:alpha val="50000"/>
            </a:srgbClr>
          </a:solidFill>
          <a:ln w="25400">
            <a:solidFill>
              <a:srgbClr val="09A4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atin typeface="Inter" panose="02000503000000020004" pitchFamily="2" charset="0"/>
                <a:ea typeface="Inter" panose="02000503000000020004" pitchFamily="2" charset="0"/>
              </a:rPr>
              <a:t>2023 Q1</a:t>
            </a:r>
            <a:endParaRPr lang="en-US" sz="1200" dirty="0">
              <a:latin typeface="Inter" panose="02000503000000020004" pitchFamily="2" charset="0"/>
              <a:ea typeface="Inter" panose="02000503000000020004" pitchFamily="2" charset="0"/>
            </a:endParaRPr>
          </a:p>
        </p:txBody>
      </p:sp>
      <p:cxnSp>
        <p:nvCxnSpPr>
          <p:cNvPr id="20" name="Straight Connector 19">
            <a:extLst>
              <a:ext uri="{FF2B5EF4-FFF2-40B4-BE49-F238E27FC236}">
                <a16:creationId xmlns:a16="http://schemas.microsoft.com/office/drawing/2014/main" id="{17CF366B-CCA7-7BE2-2453-95F5CC20682C}"/>
              </a:ext>
            </a:extLst>
          </p:cNvPr>
          <p:cNvCxnSpPr>
            <a:cxnSpLocks/>
          </p:cNvCxnSpPr>
          <p:nvPr/>
        </p:nvCxnSpPr>
        <p:spPr>
          <a:xfrm>
            <a:off x="1757516" y="2837944"/>
            <a:ext cx="3762420" cy="0"/>
          </a:xfrm>
          <a:prstGeom prst="line">
            <a:avLst/>
          </a:prstGeom>
          <a:ln>
            <a:solidFill>
              <a:srgbClr val="FFC000">
                <a:alpha val="50000"/>
              </a:srgbClr>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F4C5F304-9F00-1338-4DB6-D2AE937AC817}"/>
              </a:ext>
            </a:extLst>
          </p:cNvPr>
          <p:cNvGrpSpPr/>
          <p:nvPr/>
        </p:nvGrpSpPr>
        <p:grpSpPr>
          <a:xfrm>
            <a:off x="1108844" y="2242296"/>
            <a:ext cx="4771132" cy="3546443"/>
            <a:chOff x="695400" y="1466443"/>
            <a:chExt cx="3960440" cy="2970669"/>
          </a:xfrm>
        </p:grpSpPr>
        <p:sp>
          <p:nvSpPr>
            <p:cNvPr id="5" name="Rectangle: Rounded Corners 4">
              <a:extLst>
                <a:ext uri="{FF2B5EF4-FFF2-40B4-BE49-F238E27FC236}">
                  <a16:creationId xmlns:a16="http://schemas.microsoft.com/office/drawing/2014/main" id="{4BAEF824-9D08-DA73-D961-D83A9525D9C5}"/>
                </a:ext>
              </a:extLst>
            </p:cNvPr>
            <p:cNvSpPr/>
            <p:nvPr/>
          </p:nvSpPr>
          <p:spPr>
            <a:xfrm>
              <a:off x="695400" y="1556791"/>
              <a:ext cx="3960440" cy="2793551"/>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r>
                <a:rPr lang="en-GB" sz="1200" b="1" dirty="0">
                  <a:solidFill>
                    <a:schemeClr val="bg2"/>
                  </a:solidFill>
                  <a:latin typeface="Inter" panose="02000503000000020004" pitchFamily="2" charset="0"/>
                  <a:ea typeface="Inter" panose="02000503000000020004" pitchFamily="2" charset="0"/>
                </a:rPr>
                <a:t>                        Generation Mix in </a:t>
              </a:r>
              <a:r>
                <a:rPr lang="en-GB" sz="1200" b="1" dirty="0">
                  <a:solidFill>
                    <a:srgbClr val="00B0F0"/>
                  </a:solidFill>
                  <a:latin typeface="Inter" panose="02000503000000020004" pitchFamily="2" charset="0"/>
                  <a:ea typeface="Inter" panose="02000503000000020004" pitchFamily="2" charset="0"/>
                </a:rPr>
                <a:t>GB</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6" name="Group 5">
              <a:extLst>
                <a:ext uri="{FF2B5EF4-FFF2-40B4-BE49-F238E27FC236}">
                  <a16:creationId xmlns:a16="http://schemas.microsoft.com/office/drawing/2014/main" id="{62C491FF-9C76-D9AC-7F87-7B620C0C5575}"/>
                </a:ext>
              </a:extLst>
            </p:cNvPr>
            <p:cNvGrpSpPr/>
            <p:nvPr/>
          </p:nvGrpSpPr>
          <p:grpSpPr>
            <a:xfrm>
              <a:off x="696556" y="1466443"/>
              <a:ext cx="457200" cy="2970669"/>
              <a:chOff x="4878000" y="1468232"/>
              <a:chExt cx="457200" cy="2970669"/>
            </a:xfrm>
          </p:grpSpPr>
          <p:sp>
            <p:nvSpPr>
              <p:cNvPr id="7" name="Arc 29">
                <a:extLst>
                  <a:ext uri="{FF2B5EF4-FFF2-40B4-BE49-F238E27FC236}">
                    <a16:creationId xmlns:a16="http://schemas.microsoft.com/office/drawing/2014/main" id="{E5A3C355-D996-C7F2-6E4D-674D22FE705E}"/>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09A472"/>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8" name="Group 7">
                <a:extLst>
                  <a:ext uri="{FF2B5EF4-FFF2-40B4-BE49-F238E27FC236}">
                    <a16:creationId xmlns:a16="http://schemas.microsoft.com/office/drawing/2014/main" id="{4F22588B-96D7-A5E8-6DA9-BCC5F8BCA9CE}"/>
                  </a:ext>
                </a:extLst>
              </p:cNvPr>
              <p:cNvGrpSpPr/>
              <p:nvPr/>
            </p:nvGrpSpPr>
            <p:grpSpPr>
              <a:xfrm>
                <a:off x="4878000" y="1917596"/>
                <a:ext cx="457200" cy="2521305"/>
                <a:chOff x="4871440" y="1917596"/>
                <a:chExt cx="457200" cy="2521305"/>
              </a:xfrm>
            </p:grpSpPr>
            <p:cxnSp>
              <p:nvCxnSpPr>
                <p:cNvPr id="12" name="Straight Connector 11">
                  <a:extLst>
                    <a:ext uri="{FF2B5EF4-FFF2-40B4-BE49-F238E27FC236}">
                      <a16:creationId xmlns:a16="http://schemas.microsoft.com/office/drawing/2014/main" id="{2001EBAD-0E65-8165-22EA-7DD58DFD75AB}"/>
                    </a:ext>
                  </a:extLst>
                </p:cNvPr>
                <p:cNvCxnSpPr>
                  <a:cxnSpLocks/>
                </p:cNvCxnSpPr>
                <p:nvPr/>
              </p:nvCxnSpPr>
              <p:spPr>
                <a:xfrm>
                  <a:off x="4871440" y="1917596"/>
                  <a:ext cx="0" cy="2106015"/>
                </a:xfrm>
                <a:prstGeom prst="line">
                  <a:avLst/>
                </a:prstGeom>
                <a:ln w="25400">
                  <a:solidFill>
                    <a:srgbClr val="09A472"/>
                  </a:solidFill>
                </a:ln>
              </p:spPr>
              <p:style>
                <a:lnRef idx="1">
                  <a:schemeClr val="accent1"/>
                </a:lnRef>
                <a:fillRef idx="0">
                  <a:schemeClr val="accent1"/>
                </a:fillRef>
                <a:effectRef idx="0">
                  <a:schemeClr val="accent1"/>
                </a:effectRef>
                <a:fontRef idx="minor">
                  <a:schemeClr val="tx1"/>
                </a:fontRef>
              </p:style>
            </p:cxnSp>
            <p:sp>
              <p:nvSpPr>
                <p:cNvPr id="14" name="Arc 29">
                  <a:extLst>
                    <a:ext uri="{FF2B5EF4-FFF2-40B4-BE49-F238E27FC236}">
                      <a16:creationId xmlns:a16="http://schemas.microsoft.com/office/drawing/2014/main" id="{C93B04F3-F3C5-165A-FE60-F40CF1ED0C93}"/>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09A472"/>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sp>
        <p:nvSpPr>
          <p:cNvPr id="69" name="Title 1">
            <a:extLst>
              <a:ext uri="{FF2B5EF4-FFF2-40B4-BE49-F238E27FC236}">
                <a16:creationId xmlns:a16="http://schemas.microsoft.com/office/drawing/2014/main" id="{3E9FBD60-6315-F783-DAFA-F3D2EFB117A8}"/>
              </a:ext>
            </a:extLst>
          </p:cNvPr>
          <p:cNvSpPr txBox="1">
            <a:spLocks/>
          </p:cNvSpPr>
          <p:nvPr/>
        </p:nvSpPr>
        <p:spPr>
          <a:xfrm>
            <a:off x="1181452" y="492907"/>
            <a:ext cx="9487662" cy="6115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dirty="0">
                <a:solidFill>
                  <a:schemeClr val="bg1"/>
                </a:solidFill>
                <a:latin typeface="Inter ExtraBold" panose="02000503000000020004" pitchFamily="2" charset="0"/>
                <a:ea typeface="Inter ExtraBold" panose="02000503000000020004" pitchFamily="2" charset="0"/>
              </a:rPr>
              <a:t>Baseload Price Comparison: GB VS DE</a:t>
            </a:r>
            <a:br>
              <a:rPr lang="en-US" sz="1600" dirty="0">
                <a:solidFill>
                  <a:srgbClr val="FFC000"/>
                </a:solidFill>
                <a:latin typeface="Inter" panose="02000503000000020004" pitchFamily="2" charset="0"/>
                <a:ea typeface="Inter" panose="02000503000000020004" pitchFamily="2" charset="0"/>
              </a:rPr>
            </a:br>
            <a:r>
              <a:rPr lang="en-US" sz="1600" i="1" dirty="0">
                <a:solidFill>
                  <a:srgbClr val="FFC000"/>
                </a:solidFill>
                <a:latin typeface="Inter ExtraBold" panose="02000503000000020004" pitchFamily="2" charset="0"/>
                <a:ea typeface="Inter ExtraBold" panose="02000503000000020004" pitchFamily="2" charset="0"/>
              </a:rPr>
              <a:t>Does their respective power generation mix  explain the difference?</a:t>
            </a:r>
            <a:endParaRPr lang="en-US" sz="1600" i="1" dirty="0">
              <a:solidFill>
                <a:srgbClr val="FFC000"/>
              </a:solidFill>
              <a:latin typeface="Inter" panose="02000503000000020004" pitchFamily="2" charset="0"/>
              <a:ea typeface="Inter" panose="02000503000000020004" pitchFamily="2" charset="0"/>
            </a:endParaRPr>
          </a:p>
        </p:txBody>
      </p:sp>
      <p:sp>
        <p:nvSpPr>
          <p:cNvPr id="70" name="Rectangle: Diagonal Corners Rounded 69">
            <a:extLst>
              <a:ext uri="{FF2B5EF4-FFF2-40B4-BE49-F238E27FC236}">
                <a16:creationId xmlns:a16="http://schemas.microsoft.com/office/drawing/2014/main" id="{7E932A2E-BCCC-15AE-8D0F-9C916D2CECBB}"/>
              </a:ext>
            </a:extLst>
          </p:cNvPr>
          <p:cNvSpPr/>
          <p:nvPr/>
        </p:nvSpPr>
        <p:spPr>
          <a:xfrm>
            <a:off x="1128116" y="1224407"/>
            <a:ext cx="9558392" cy="946147"/>
          </a:xfrm>
          <a:prstGeom prst="round2DiagRect">
            <a:avLst/>
          </a:prstGeom>
          <a:solidFill>
            <a:srgbClr val="16586B"/>
          </a:solidFill>
          <a:ln w="76200">
            <a:solidFill>
              <a:srgbClr val="16586B">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1400" dirty="0"/>
              <a:t>✅ </a:t>
            </a:r>
            <a:r>
              <a:rPr lang="en-US" sz="1400" b="1" dirty="0">
                <a:solidFill>
                  <a:srgbClr val="6EE7B7"/>
                </a:solidFill>
                <a:latin typeface="Segoe UI" panose="020B0502040204020203" pitchFamily="34" charset="0"/>
              </a:rPr>
              <a:t>Yes.</a:t>
            </a:r>
            <a:r>
              <a:rPr lang="en-US" sz="1400" dirty="0">
                <a:solidFill>
                  <a:srgbClr val="FFFFFF"/>
                </a:solidFill>
                <a:latin typeface="Segoe UI" panose="020B0502040204020203" pitchFamily="34" charset="0"/>
              </a:rPr>
              <a:t> GB's higher starting prices correlate with similar renewable penetration patterns to DE in this forecast, with both markets showing </a:t>
            </a:r>
            <a:r>
              <a:rPr lang="en-US" sz="1400" b="1" dirty="0">
                <a:solidFill>
                  <a:srgbClr val="6EE7B7"/>
                </a:solidFill>
                <a:latin typeface="Segoe UI" panose="020B0502040204020203" pitchFamily="34" charset="0"/>
              </a:rPr>
              <a:t>parallel renewable growth</a:t>
            </a:r>
            <a:r>
              <a:rPr lang="en-US" sz="1400" dirty="0">
                <a:solidFill>
                  <a:srgbClr val="FFFFFF"/>
                </a:solidFill>
                <a:latin typeface="Segoe UI" panose="020B0502040204020203" pitchFamily="34" charset="0"/>
              </a:rPr>
              <a:t> trajectories leading to price alignment.</a:t>
            </a:r>
            <a:endParaRPr lang="en-US" sz="1400" dirty="0">
              <a:latin typeface="Inter" panose="02000503000000020004" pitchFamily="2" charset="0"/>
              <a:ea typeface="Inter" panose="02000503000000020004" pitchFamily="2" charset="0"/>
            </a:endParaRPr>
          </a:p>
        </p:txBody>
      </p:sp>
      <p:sp>
        <p:nvSpPr>
          <p:cNvPr id="24" name="Rectangle: Rounded Corners 23">
            <a:extLst>
              <a:ext uri="{FF2B5EF4-FFF2-40B4-BE49-F238E27FC236}">
                <a16:creationId xmlns:a16="http://schemas.microsoft.com/office/drawing/2014/main" id="{E4D9FA12-4EBC-4C1F-3DEE-FEFA0CE0ABE2}"/>
              </a:ext>
            </a:extLst>
          </p:cNvPr>
          <p:cNvSpPr/>
          <p:nvPr/>
        </p:nvSpPr>
        <p:spPr>
          <a:xfrm>
            <a:off x="9426678" y="2536385"/>
            <a:ext cx="900000" cy="234000"/>
          </a:xfrm>
          <a:prstGeom prst="roundRect">
            <a:avLst>
              <a:gd name="adj" fmla="val 50000"/>
            </a:avLst>
          </a:prstGeom>
          <a:solidFill>
            <a:srgbClr val="09A472">
              <a:alpha val="50000"/>
            </a:srgbClr>
          </a:solidFill>
          <a:ln w="25400">
            <a:solidFill>
              <a:srgbClr val="09A4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atin typeface="Inter" panose="02000503000000020004" pitchFamily="2" charset="0"/>
                <a:ea typeface="Inter" panose="02000503000000020004" pitchFamily="2" charset="0"/>
              </a:rPr>
              <a:t>2023 Q1</a:t>
            </a:r>
            <a:endParaRPr lang="en-US" sz="1200" dirty="0">
              <a:latin typeface="Inter" panose="02000503000000020004" pitchFamily="2" charset="0"/>
              <a:ea typeface="Inter" panose="02000503000000020004" pitchFamily="2" charset="0"/>
            </a:endParaRPr>
          </a:p>
        </p:txBody>
      </p:sp>
      <p:cxnSp>
        <p:nvCxnSpPr>
          <p:cNvPr id="25" name="Straight Connector 24">
            <a:extLst>
              <a:ext uri="{FF2B5EF4-FFF2-40B4-BE49-F238E27FC236}">
                <a16:creationId xmlns:a16="http://schemas.microsoft.com/office/drawing/2014/main" id="{BB2B5177-A157-911A-B46D-3DF991086BFD}"/>
              </a:ext>
            </a:extLst>
          </p:cNvPr>
          <p:cNvCxnSpPr>
            <a:cxnSpLocks/>
          </p:cNvCxnSpPr>
          <p:nvPr/>
        </p:nvCxnSpPr>
        <p:spPr>
          <a:xfrm>
            <a:off x="7068314" y="2842393"/>
            <a:ext cx="3762420" cy="0"/>
          </a:xfrm>
          <a:prstGeom prst="line">
            <a:avLst/>
          </a:prstGeom>
          <a:ln>
            <a:solidFill>
              <a:srgbClr val="FFC000">
                <a:alpha val="50000"/>
              </a:srgbClr>
            </a:solidFill>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1B68D177-B1A0-5242-3A69-FB44A28C00D1}"/>
              </a:ext>
            </a:extLst>
          </p:cNvPr>
          <p:cNvGrpSpPr/>
          <p:nvPr/>
        </p:nvGrpSpPr>
        <p:grpSpPr>
          <a:xfrm>
            <a:off x="6419642" y="2246745"/>
            <a:ext cx="4771132" cy="3546443"/>
            <a:chOff x="695400" y="1466443"/>
            <a:chExt cx="3960440" cy="2970669"/>
          </a:xfrm>
        </p:grpSpPr>
        <p:sp>
          <p:nvSpPr>
            <p:cNvPr id="27" name="Rectangle: Rounded Corners 26">
              <a:extLst>
                <a:ext uri="{FF2B5EF4-FFF2-40B4-BE49-F238E27FC236}">
                  <a16:creationId xmlns:a16="http://schemas.microsoft.com/office/drawing/2014/main" id="{E584BA2C-E202-D5C2-91E3-0AF02FCCD9D6}"/>
                </a:ext>
              </a:extLst>
            </p:cNvPr>
            <p:cNvSpPr/>
            <p:nvPr/>
          </p:nvSpPr>
          <p:spPr>
            <a:xfrm>
              <a:off x="695400" y="1556791"/>
              <a:ext cx="3960440" cy="2793551"/>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r>
                <a:rPr lang="en-GB" sz="1200" b="1" dirty="0">
                  <a:solidFill>
                    <a:schemeClr val="bg2"/>
                  </a:solidFill>
                  <a:latin typeface="Inter" panose="02000503000000020004" pitchFamily="2" charset="0"/>
                  <a:ea typeface="Inter" panose="02000503000000020004" pitchFamily="2" charset="0"/>
                </a:rPr>
                <a:t>                        Generation Mix in </a:t>
              </a:r>
              <a:r>
                <a:rPr lang="en-GB" sz="1200" b="1" dirty="0">
                  <a:solidFill>
                    <a:srgbClr val="FFC000"/>
                  </a:solidFill>
                  <a:latin typeface="Inter" panose="02000503000000020004" pitchFamily="2" charset="0"/>
                  <a:ea typeface="Inter" panose="02000503000000020004" pitchFamily="2" charset="0"/>
                </a:rPr>
                <a:t>DE</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28" name="Group 27">
              <a:extLst>
                <a:ext uri="{FF2B5EF4-FFF2-40B4-BE49-F238E27FC236}">
                  <a16:creationId xmlns:a16="http://schemas.microsoft.com/office/drawing/2014/main" id="{04F80DED-0507-E6C4-E54F-FB44DF06E396}"/>
                </a:ext>
              </a:extLst>
            </p:cNvPr>
            <p:cNvGrpSpPr/>
            <p:nvPr/>
          </p:nvGrpSpPr>
          <p:grpSpPr>
            <a:xfrm>
              <a:off x="696556" y="1466443"/>
              <a:ext cx="457200" cy="2970669"/>
              <a:chOff x="4878000" y="1468232"/>
              <a:chExt cx="457200" cy="2970669"/>
            </a:xfrm>
          </p:grpSpPr>
          <p:sp>
            <p:nvSpPr>
              <p:cNvPr id="29" name="Arc 29">
                <a:extLst>
                  <a:ext uri="{FF2B5EF4-FFF2-40B4-BE49-F238E27FC236}">
                    <a16:creationId xmlns:a16="http://schemas.microsoft.com/office/drawing/2014/main" id="{19C4B9C4-5E8F-E24B-233B-2E2E96D162FF}"/>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09A472"/>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30" name="Group 29">
                <a:extLst>
                  <a:ext uri="{FF2B5EF4-FFF2-40B4-BE49-F238E27FC236}">
                    <a16:creationId xmlns:a16="http://schemas.microsoft.com/office/drawing/2014/main" id="{7767C3FD-7001-F3F9-A8DD-C7A87410D9A6}"/>
                  </a:ext>
                </a:extLst>
              </p:cNvPr>
              <p:cNvGrpSpPr/>
              <p:nvPr/>
            </p:nvGrpSpPr>
            <p:grpSpPr>
              <a:xfrm>
                <a:off x="4878000" y="1917596"/>
                <a:ext cx="457200" cy="2521305"/>
                <a:chOff x="4871440" y="1917596"/>
                <a:chExt cx="457200" cy="2521305"/>
              </a:xfrm>
            </p:grpSpPr>
            <p:cxnSp>
              <p:nvCxnSpPr>
                <p:cNvPr id="31" name="Straight Connector 30">
                  <a:extLst>
                    <a:ext uri="{FF2B5EF4-FFF2-40B4-BE49-F238E27FC236}">
                      <a16:creationId xmlns:a16="http://schemas.microsoft.com/office/drawing/2014/main" id="{A32AD915-C6E2-3005-C699-7FB8D4C0223F}"/>
                    </a:ext>
                  </a:extLst>
                </p:cNvPr>
                <p:cNvCxnSpPr>
                  <a:cxnSpLocks/>
                </p:cNvCxnSpPr>
                <p:nvPr/>
              </p:nvCxnSpPr>
              <p:spPr>
                <a:xfrm>
                  <a:off x="4871440" y="1917596"/>
                  <a:ext cx="0" cy="2106015"/>
                </a:xfrm>
                <a:prstGeom prst="line">
                  <a:avLst/>
                </a:prstGeom>
                <a:ln w="25400">
                  <a:solidFill>
                    <a:srgbClr val="09A472"/>
                  </a:solidFill>
                </a:ln>
              </p:spPr>
              <p:style>
                <a:lnRef idx="1">
                  <a:schemeClr val="accent1"/>
                </a:lnRef>
                <a:fillRef idx="0">
                  <a:schemeClr val="accent1"/>
                </a:fillRef>
                <a:effectRef idx="0">
                  <a:schemeClr val="accent1"/>
                </a:effectRef>
                <a:fontRef idx="minor">
                  <a:schemeClr val="tx1"/>
                </a:fontRef>
              </p:style>
            </p:cxnSp>
            <p:sp>
              <p:nvSpPr>
                <p:cNvPr id="32" name="Arc 29">
                  <a:extLst>
                    <a:ext uri="{FF2B5EF4-FFF2-40B4-BE49-F238E27FC236}">
                      <a16:creationId xmlns:a16="http://schemas.microsoft.com/office/drawing/2014/main" id="{E2439B42-24A1-D07C-6A3F-18D6CCAF122B}"/>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09A472"/>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graphicFrame>
        <p:nvGraphicFramePr>
          <p:cNvPr id="9" name="Chart 8">
            <a:extLst>
              <a:ext uri="{FF2B5EF4-FFF2-40B4-BE49-F238E27FC236}">
                <a16:creationId xmlns:a16="http://schemas.microsoft.com/office/drawing/2014/main" id="{E1EE9F61-23EB-CE82-24AF-C89F29AF1F12}"/>
              </a:ext>
            </a:extLst>
          </p:cNvPr>
          <p:cNvGraphicFramePr>
            <a:graphicFrameLocks/>
          </p:cNvGraphicFramePr>
          <p:nvPr>
            <p:extLst>
              <p:ext uri="{D42A27DB-BD31-4B8C-83A1-F6EECF244321}">
                <p14:modId xmlns:p14="http://schemas.microsoft.com/office/powerpoint/2010/main" val="2177537169"/>
              </p:ext>
            </p:extLst>
          </p:nvPr>
        </p:nvGraphicFramePr>
        <p:xfrm>
          <a:off x="1180800" y="2764800"/>
          <a:ext cx="4428000" cy="2880000"/>
        </p:xfrm>
        <a:graphic>
          <a:graphicData uri="http://schemas.openxmlformats.org/drawingml/2006/chart">
            <c:chart xmlns:c="http://schemas.openxmlformats.org/drawingml/2006/chart" xmlns:r="http://schemas.openxmlformats.org/officeDocument/2006/relationships" r:id="rId2"/>
          </a:graphicData>
        </a:graphic>
      </p:graphicFrame>
      <p:sp>
        <p:nvSpPr>
          <p:cNvPr id="11" name="Rectangle: Diagonal Corners Rounded 10">
            <a:extLst>
              <a:ext uri="{FF2B5EF4-FFF2-40B4-BE49-F238E27FC236}">
                <a16:creationId xmlns:a16="http://schemas.microsoft.com/office/drawing/2014/main" id="{D3101A6F-F405-38D1-5E61-5047B3591738}"/>
              </a:ext>
            </a:extLst>
          </p:cNvPr>
          <p:cNvSpPr/>
          <p:nvPr/>
        </p:nvSpPr>
        <p:spPr>
          <a:xfrm>
            <a:off x="1046437" y="5788739"/>
            <a:ext cx="4833537" cy="952629"/>
          </a:xfrm>
          <a:prstGeom prst="round2DiagRect">
            <a:avLst/>
          </a:prstGeom>
          <a:solidFill>
            <a:srgbClr val="1A4877"/>
          </a:solidFill>
          <a:ln w="76200">
            <a:solidFill>
              <a:srgbClr val="1A4877">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1200" dirty="0">
                <a:solidFill>
                  <a:schemeClr val="bg2"/>
                </a:solidFill>
                <a:latin typeface="Inter  "/>
              </a:rPr>
              <a:t>▸</a:t>
            </a:r>
            <a:r>
              <a:rPr lang="en-US" sz="1200" b="1" dirty="0">
                <a:solidFill>
                  <a:srgbClr val="00B0F0"/>
                </a:solidFill>
                <a:latin typeface="Inter  "/>
              </a:rPr>
              <a:t>Similar renewable trajectory</a:t>
            </a:r>
            <a:r>
              <a:rPr lang="en-US" sz="1200" dirty="0">
                <a:solidFill>
                  <a:srgbClr val="00B0F0"/>
                </a:solidFill>
                <a:latin typeface="Inter  "/>
              </a:rPr>
              <a:t> </a:t>
            </a:r>
            <a:r>
              <a:rPr lang="en-US" sz="1200" dirty="0">
                <a:solidFill>
                  <a:schemeClr val="bg2"/>
                </a:solidFill>
                <a:latin typeface="Inter  "/>
              </a:rPr>
              <a:t>to 2022 Q3 forecast</a:t>
            </a:r>
          </a:p>
          <a:p>
            <a:pPr>
              <a:lnSpc>
                <a:spcPct val="150000"/>
              </a:lnSpc>
            </a:pPr>
            <a:r>
              <a:rPr lang="en-US" sz="1200" dirty="0">
                <a:solidFill>
                  <a:schemeClr val="bg2"/>
                </a:solidFill>
                <a:latin typeface="Inter  "/>
              </a:rPr>
              <a:t>▸</a:t>
            </a:r>
            <a:r>
              <a:rPr lang="en-US" sz="1200" b="1" dirty="0">
                <a:solidFill>
                  <a:srgbClr val="00B0F0"/>
                </a:solidFill>
                <a:latin typeface="Inter  "/>
              </a:rPr>
              <a:t>Offshore wind remains dominant</a:t>
            </a:r>
            <a:r>
              <a:rPr lang="en-US" sz="1200" dirty="0">
                <a:solidFill>
                  <a:schemeClr val="bg2"/>
                </a:solidFill>
                <a:latin typeface="Inter  "/>
              </a:rPr>
              <a:t>, growing steadily</a:t>
            </a:r>
          </a:p>
          <a:p>
            <a:pPr>
              <a:lnSpc>
                <a:spcPct val="150000"/>
              </a:lnSpc>
            </a:pPr>
            <a:r>
              <a:rPr lang="en-US" sz="1200" dirty="0">
                <a:solidFill>
                  <a:schemeClr val="bg2"/>
                </a:solidFill>
                <a:latin typeface="Inter  "/>
              </a:rPr>
              <a:t>▸ Converges to </a:t>
            </a:r>
            <a:r>
              <a:rPr lang="en-US" sz="1200" b="1" dirty="0">
                <a:solidFill>
                  <a:srgbClr val="FFC000"/>
                </a:solidFill>
                <a:latin typeface="Inter  "/>
              </a:rPr>
              <a:t>~30% renewables</a:t>
            </a:r>
            <a:r>
              <a:rPr lang="en-US" sz="1200" dirty="0">
                <a:solidFill>
                  <a:srgbClr val="FFC000"/>
                </a:solidFill>
                <a:latin typeface="Inter  "/>
              </a:rPr>
              <a:t> </a:t>
            </a:r>
            <a:endParaRPr lang="en-US" sz="1200" dirty="0">
              <a:solidFill>
                <a:schemeClr val="bg2"/>
              </a:solidFill>
              <a:latin typeface="Inter  "/>
            </a:endParaRPr>
          </a:p>
        </p:txBody>
      </p:sp>
      <p:sp>
        <p:nvSpPr>
          <p:cNvPr id="15" name="Rectangle: Diagonal Corners Rounded 14">
            <a:extLst>
              <a:ext uri="{FF2B5EF4-FFF2-40B4-BE49-F238E27FC236}">
                <a16:creationId xmlns:a16="http://schemas.microsoft.com/office/drawing/2014/main" id="{AD5CD5C4-83E4-A94B-70EA-A83B82E7E6DE}"/>
              </a:ext>
            </a:extLst>
          </p:cNvPr>
          <p:cNvSpPr/>
          <p:nvPr/>
        </p:nvSpPr>
        <p:spPr>
          <a:xfrm>
            <a:off x="6388439" y="5788739"/>
            <a:ext cx="4833537" cy="952629"/>
          </a:xfrm>
          <a:prstGeom prst="round2DiagRect">
            <a:avLst/>
          </a:prstGeom>
          <a:solidFill>
            <a:srgbClr val="1A4877"/>
          </a:solidFill>
          <a:ln w="76200">
            <a:solidFill>
              <a:srgbClr val="1A4877">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1200" b="0" i="0" dirty="0">
                <a:solidFill>
                  <a:schemeClr val="bg2"/>
                </a:solidFill>
                <a:effectLst/>
                <a:latin typeface="Inter  "/>
              </a:rPr>
              <a:t>▸</a:t>
            </a:r>
            <a:r>
              <a:rPr lang="en-US" sz="1200" b="1" dirty="0">
                <a:solidFill>
                  <a:srgbClr val="FFC000"/>
                </a:solidFill>
                <a:latin typeface="Inter  "/>
              </a:rPr>
              <a:t>Parallel growth pattern</a:t>
            </a:r>
            <a:r>
              <a:rPr lang="en-US" sz="1200" dirty="0">
                <a:solidFill>
                  <a:srgbClr val="FFC000"/>
                </a:solidFill>
                <a:latin typeface="Inter  "/>
              </a:rPr>
              <a:t> </a:t>
            </a:r>
            <a:r>
              <a:rPr lang="en-US" sz="1200" dirty="0">
                <a:solidFill>
                  <a:srgbClr val="CBD5E1"/>
                </a:solidFill>
                <a:latin typeface="Inter  "/>
              </a:rPr>
              <a:t>with GB in this scenario</a:t>
            </a:r>
            <a:endParaRPr lang="en-US" sz="1200" dirty="0">
              <a:solidFill>
                <a:srgbClr val="000000"/>
              </a:solidFill>
              <a:latin typeface="Inter  "/>
            </a:endParaRPr>
          </a:p>
          <a:p>
            <a:pPr>
              <a:lnSpc>
                <a:spcPct val="150000"/>
              </a:lnSpc>
            </a:pPr>
            <a:r>
              <a:rPr lang="en-US" sz="1200" b="0" i="0" dirty="0">
                <a:solidFill>
                  <a:schemeClr val="bg2"/>
                </a:solidFill>
                <a:effectLst/>
                <a:latin typeface="Inter  "/>
              </a:rPr>
              <a:t>▸</a:t>
            </a:r>
            <a:r>
              <a:rPr lang="en-US" sz="1200" b="1" i="0" dirty="0">
                <a:solidFill>
                  <a:srgbClr val="FFC000"/>
                </a:solidFill>
                <a:effectLst/>
                <a:latin typeface="Inter  "/>
              </a:rPr>
              <a:t>Balanced mix</a:t>
            </a:r>
            <a:r>
              <a:rPr lang="en-US" sz="1200" b="0" i="0" dirty="0">
                <a:solidFill>
                  <a:srgbClr val="FFC000"/>
                </a:solidFill>
                <a:effectLst/>
                <a:latin typeface="Inter  "/>
              </a:rPr>
              <a:t> </a:t>
            </a:r>
            <a:r>
              <a:rPr lang="en-US" sz="1200" b="0" i="0" dirty="0">
                <a:solidFill>
                  <a:srgbClr val="CBD5E1"/>
                </a:solidFill>
                <a:effectLst/>
                <a:latin typeface="Inter  "/>
              </a:rPr>
              <a:t>of solar, onshore &amp; offshore wind </a:t>
            </a:r>
            <a:r>
              <a:rPr lang="en-US" sz="1200" dirty="0">
                <a:solidFill>
                  <a:srgbClr val="CBD5E1"/>
                </a:solidFill>
                <a:latin typeface="Inter  "/>
              </a:rPr>
              <a:t>at the end</a:t>
            </a:r>
            <a:endParaRPr lang="en-US" sz="1200" b="0" i="0" dirty="0">
              <a:solidFill>
                <a:srgbClr val="000000"/>
              </a:solidFill>
              <a:effectLst/>
              <a:latin typeface="Inter  "/>
            </a:endParaRPr>
          </a:p>
          <a:p>
            <a:pPr algn="l">
              <a:lnSpc>
                <a:spcPct val="150000"/>
              </a:lnSpc>
              <a:buNone/>
            </a:pPr>
            <a:r>
              <a:rPr lang="en-US" sz="1200" b="0" i="0" dirty="0">
                <a:solidFill>
                  <a:schemeClr val="bg2"/>
                </a:solidFill>
                <a:effectLst/>
                <a:latin typeface="Inter  "/>
              </a:rPr>
              <a:t>▸</a:t>
            </a:r>
            <a:r>
              <a:rPr lang="en-US" sz="1200" b="0" i="0" dirty="0">
                <a:solidFill>
                  <a:srgbClr val="CBD5E1"/>
                </a:solidFill>
                <a:effectLst/>
                <a:latin typeface="Inter  "/>
              </a:rPr>
              <a:t>Converges to </a:t>
            </a:r>
            <a:r>
              <a:rPr lang="en-US" sz="1200" b="1" i="0" dirty="0">
                <a:solidFill>
                  <a:srgbClr val="FFC000"/>
                </a:solidFill>
                <a:effectLst/>
                <a:latin typeface="Inter  "/>
              </a:rPr>
              <a:t>~90% renewables</a:t>
            </a:r>
            <a:r>
              <a:rPr lang="en-US" sz="1200" b="0" i="0" dirty="0">
                <a:solidFill>
                  <a:srgbClr val="FFC000"/>
                </a:solidFill>
                <a:effectLst/>
                <a:latin typeface="Inter  "/>
              </a:rPr>
              <a:t> </a:t>
            </a:r>
            <a:r>
              <a:rPr lang="en-US" sz="1200" dirty="0">
                <a:solidFill>
                  <a:srgbClr val="CBD5E1"/>
                </a:solidFill>
                <a:latin typeface="Inter  "/>
              </a:rPr>
              <a:t>60%  more than GB</a:t>
            </a:r>
            <a:endParaRPr lang="en-US" sz="1200" b="0" i="0" dirty="0">
              <a:solidFill>
                <a:srgbClr val="000000"/>
              </a:solidFill>
              <a:effectLst/>
              <a:latin typeface="Inter  "/>
            </a:endParaRPr>
          </a:p>
        </p:txBody>
      </p:sp>
      <p:graphicFrame>
        <p:nvGraphicFramePr>
          <p:cNvPr id="3" name="Chart 2">
            <a:extLst>
              <a:ext uri="{FF2B5EF4-FFF2-40B4-BE49-F238E27FC236}">
                <a16:creationId xmlns:a16="http://schemas.microsoft.com/office/drawing/2014/main" id="{5663A14A-51C7-5CC3-83EA-590C1A4B02E6}"/>
              </a:ext>
            </a:extLst>
          </p:cNvPr>
          <p:cNvGraphicFramePr>
            <a:graphicFrameLocks/>
          </p:cNvGraphicFramePr>
          <p:nvPr>
            <p:extLst>
              <p:ext uri="{D42A27DB-BD31-4B8C-83A1-F6EECF244321}">
                <p14:modId xmlns:p14="http://schemas.microsoft.com/office/powerpoint/2010/main" val="3138826458"/>
              </p:ext>
            </p:extLst>
          </p:nvPr>
        </p:nvGraphicFramePr>
        <p:xfrm>
          <a:off x="6490800" y="2768400"/>
          <a:ext cx="4428000" cy="288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23861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500"/>
                                        <p:tgtEl>
                                          <p:spTgt spid="70"/>
                                        </p:tgtEl>
                                      </p:cBhvr>
                                    </p:animEffect>
                                    <p:anim calcmode="lin" valueType="num">
                                      <p:cBhvr>
                                        <p:cTn id="8" dur="500" fill="hold"/>
                                        <p:tgtEl>
                                          <p:spTgt spid="70"/>
                                        </p:tgtEl>
                                        <p:attrNameLst>
                                          <p:attrName>ppt_x</p:attrName>
                                        </p:attrNameLst>
                                      </p:cBhvr>
                                      <p:tavLst>
                                        <p:tav tm="0">
                                          <p:val>
                                            <p:strVal val="#ppt_x"/>
                                          </p:val>
                                        </p:tav>
                                        <p:tav tm="100000">
                                          <p:val>
                                            <p:strVal val="#ppt_x"/>
                                          </p:val>
                                        </p:tav>
                                      </p:tavLst>
                                    </p:anim>
                                    <p:anim calcmode="lin" valueType="num">
                                      <p:cBhvr>
                                        <p:cTn id="9" dur="500" fill="hold"/>
                                        <p:tgtEl>
                                          <p:spTgt spid="7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2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par>
                          <p:cTn id="14" fill="hold">
                            <p:stCondLst>
                              <p:cond delay="1200"/>
                            </p:stCondLst>
                            <p:childTnLst>
                              <p:par>
                                <p:cTn id="15" presetID="10" presetClass="entr" presetSubtype="0" fill="hold" grpId="0" nodeType="afterEffect">
                                  <p:stCondLst>
                                    <p:cond delay="2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1900"/>
                            </p:stCondLst>
                            <p:childTnLst>
                              <p:par>
                                <p:cTn id="19" presetID="10" presetClass="entr" presetSubtype="0" fill="hold" nodeType="afterEffect">
                                  <p:stCondLst>
                                    <p:cond delay="20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par>
                          <p:cTn id="22" fill="hold">
                            <p:stCondLst>
                              <p:cond delay="2600"/>
                            </p:stCondLst>
                            <p:childTnLst>
                              <p:par>
                                <p:cTn id="23" presetID="42" presetClass="entr" presetSubtype="0" fill="hold" grpId="0" nodeType="afterEffect">
                                  <p:stCondLst>
                                    <p:cond delay="150"/>
                                  </p:stCondLst>
                                  <p:childTnLst>
                                    <p:set>
                                      <p:cBhvr>
                                        <p:cTn id="24" dur="1" fill="hold">
                                          <p:stCondLst>
                                            <p:cond delay="0"/>
                                          </p:stCondLst>
                                        </p:cTn>
                                        <p:tgtEl>
                                          <p:spTgt spid="9">
                                            <p:graphicEl>
                                              <a:chart seriesIdx="-3" categoryIdx="-3" bldStep="gridLegend"/>
                                            </p:graphicEl>
                                          </p:spTgt>
                                        </p:tgtEl>
                                        <p:attrNameLst>
                                          <p:attrName>style.visibility</p:attrName>
                                        </p:attrNameLst>
                                      </p:cBhvr>
                                      <p:to>
                                        <p:strVal val="visible"/>
                                      </p:to>
                                    </p:set>
                                    <p:animEffect transition="in" filter="fade">
                                      <p:cBhvr>
                                        <p:cTn id="25" dur="300"/>
                                        <p:tgtEl>
                                          <p:spTgt spid="9">
                                            <p:graphicEl>
                                              <a:chart seriesIdx="-3" categoryIdx="-3" bldStep="gridLegend"/>
                                            </p:graphicEl>
                                          </p:spTgt>
                                        </p:tgtEl>
                                      </p:cBhvr>
                                    </p:animEffect>
                                    <p:anim calcmode="lin" valueType="num">
                                      <p:cBhvr>
                                        <p:cTn id="26" dur="300" fill="hold"/>
                                        <p:tgtEl>
                                          <p:spTgt spid="9">
                                            <p:graphicEl>
                                              <a:chart seriesIdx="-3" categoryIdx="-3" bldStep="gridLegend"/>
                                            </p:graphicEl>
                                          </p:spTgt>
                                        </p:tgtEl>
                                        <p:attrNameLst>
                                          <p:attrName>ppt_x</p:attrName>
                                        </p:attrNameLst>
                                      </p:cBhvr>
                                      <p:tavLst>
                                        <p:tav tm="0">
                                          <p:val>
                                            <p:strVal val="#ppt_x"/>
                                          </p:val>
                                        </p:tav>
                                        <p:tav tm="100000">
                                          <p:val>
                                            <p:strVal val="#ppt_x"/>
                                          </p:val>
                                        </p:tav>
                                      </p:tavLst>
                                    </p:anim>
                                    <p:anim calcmode="lin" valueType="num">
                                      <p:cBhvr>
                                        <p:cTn id="27" dur="300" fill="hold"/>
                                        <p:tgtEl>
                                          <p:spTgt spid="9">
                                            <p:graphicEl>
                                              <a:chart seriesIdx="-3" categoryIdx="-3" bldStep="gridLegend"/>
                                            </p:graphicEl>
                                          </p:spTgt>
                                        </p:tgtEl>
                                        <p:attrNameLst>
                                          <p:attrName>ppt_y</p:attrName>
                                        </p:attrNameLst>
                                      </p:cBhvr>
                                      <p:tavLst>
                                        <p:tav tm="0">
                                          <p:val>
                                            <p:strVal val="#ppt_y+.1"/>
                                          </p:val>
                                        </p:tav>
                                        <p:tav tm="100000">
                                          <p:val>
                                            <p:strVal val="#ppt_y"/>
                                          </p:val>
                                        </p:tav>
                                      </p:tavLst>
                                    </p:anim>
                                  </p:childTnLst>
                                </p:cTn>
                              </p:par>
                            </p:childTnLst>
                          </p:cTn>
                        </p:par>
                        <p:par>
                          <p:cTn id="28" fill="hold">
                            <p:stCondLst>
                              <p:cond delay="3050"/>
                            </p:stCondLst>
                            <p:childTnLst>
                              <p:par>
                                <p:cTn id="29" presetID="42" presetClass="entr" presetSubtype="0" fill="hold" grpId="0" nodeType="afterEffect">
                                  <p:stCondLst>
                                    <p:cond delay="150"/>
                                  </p:stCondLst>
                                  <p:childTnLst>
                                    <p:set>
                                      <p:cBhvr>
                                        <p:cTn id="30" dur="1" fill="hold">
                                          <p:stCondLst>
                                            <p:cond delay="0"/>
                                          </p:stCondLst>
                                        </p:cTn>
                                        <p:tgtEl>
                                          <p:spTgt spid="9">
                                            <p:graphicEl>
                                              <a:chart seriesIdx="0" categoryIdx="-4" bldStep="series"/>
                                            </p:graphicEl>
                                          </p:spTgt>
                                        </p:tgtEl>
                                        <p:attrNameLst>
                                          <p:attrName>style.visibility</p:attrName>
                                        </p:attrNameLst>
                                      </p:cBhvr>
                                      <p:to>
                                        <p:strVal val="visible"/>
                                      </p:to>
                                    </p:set>
                                    <p:animEffect transition="in" filter="fade">
                                      <p:cBhvr>
                                        <p:cTn id="31" dur="300"/>
                                        <p:tgtEl>
                                          <p:spTgt spid="9">
                                            <p:graphicEl>
                                              <a:chart seriesIdx="0" categoryIdx="-4" bldStep="series"/>
                                            </p:graphicEl>
                                          </p:spTgt>
                                        </p:tgtEl>
                                      </p:cBhvr>
                                    </p:animEffect>
                                    <p:anim calcmode="lin" valueType="num">
                                      <p:cBhvr>
                                        <p:cTn id="32" dur="300" fill="hold"/>
                                        <p:tgtEl>
                                          <p:spTgt spid="9">
                                            <p:graphicEl>
                                              <a:chart seriesIdx="0" categoryIdx="-4" bldStep="series"/>
                                            </p:graphicEl>
                                          </p:spTgt>
                                        </p:tgtEl>
                                        <p:attrNameLst>
                                          <p:attrName>ppt_x</p:attrName>
                                        </p:attrNameLst>
                                      </p:cBhvr>
                                      <p:tavLst>
                                        <p:tav tm="0">
                                          <p:val>
                                            <p:strVal val="#ppt_x"/>
                                          </p:val>
                                        </p:tav>
                                        <p:tav tm="100000">
                                          <p:val>
                                            <p:strVal val="#ppt_x"/>
                                          </p:val>
                                        </p:tav>
                                      </p:tavLst>
                                    </p:anim>
                                    <p:anim calcmode="lin" valueType="num">
                                      <p:cBhvr>
                                        <p:cTn id="33" dur="300" fill="hold"/>
                                        <p:tgtEl>
                                          <p:spTgt spid="9">
                                            <p:graphicEl>
                                              <a:chart seriesIdx="0" categoryIdx="-4" bldStep="series"/>
                                            </p:graphicEl>
                                          </p:spTgt>
                                        </p:tgtEl>
                                        <p:attrNameLst>
                                          <p:attrName>ppt_y</p:attrName>
                                        </p:attrNameLst>
                                      </p:cBhvr>
                                      <p:tavLst>
                                        <p:tav tm="0">
                                          <p:val>
                                            <p:strVal val="#ppt_y+.1"/>
                                          </p:val>
                                        </p:tav>
                                        <p:tav tm="100000">
                                          <p:val>
                                            <p:strVal val="#ppt_y"/>
                                          </p:val>
                                        </p:tav>
                                      </p:tavLst>
                                    </p:anim>
                                  </p:childTnLst>
                                </p:cTn>
                              </p:par>
                            </p:childTnLst>
                          </p:cTn>
                        </p:par>
                        <p:par>
                          <p:cTn id="34" fill="hold">
                            <p:stCondLst>
                              <p:cond delay="3500"/>
                            </p:stCondLst>
                            <p:childTnLst>
                              <p:par>
                                <p:cTn id="35" presetID="42" presetClass="entr" presetSubtype="0" fill="hold" grpId="0" nodeType="afterEffect">
                                  <p:stCondLst>
                                    <p:cond delay="150"/>
                                  </p:stCondLst>
                                  <p:childTnLst>
                                    <p:set>
                                      <p:cBhvr>
                                        <p:cTn id="36" dur="1" fill="hold">
                                          <p:stCondLst>
                                            <p:cond delay="0"/>
                                          </p:stCondLst>
                                        </p:cTn>
                                        <p:tgtEl>
                                          <p:spTgt spid="9">
                                            <p:graphicEl>
                                              <a:chart seriesIdx="1" categoryIdx="-4" bldStep="series"/>
                                            </p:graphicEl>
                                          </p:spTgt>
                                        </p:tgtEl>
                                        <p:attrNameLst>
                                          <p:attrName>style.visibility</p:attrName>
                                        </p:attrNameLst>
                                      </p:cBhvr>
                                      <p:to>
                                        <p:strVal val="visible"/>
                                      </p:to>
                                    </p:set>
                                    <p:animEffect transition="in" filter="fade">
                                      <p:cBhvr>
                                        <p:cTn id="37" dur="300"/>
                                        <p:tgtEl>
                                          <p:spTgt spid="9">
                                            <p:graphicEl>
                                              <a:chart seriesIdx="1" categoryIdx="-4" bldStep="series"/>
                                            </p:graphicEl>
                                          </p:spTgt>
                                        </p:tgtEl>
                                      </p:cBhvr>
                                    </p:animEffect>
                                    <p:anim calcmode="lin" valueType="num">
                                      <p:cBhvr>
                                        <p:cTn id="38" dur="300" fill="hold"/>
                                        <p:tgtEl>
                                          <p:spTgt spid="9">
                                            <p:graphicEl>
                                              <a:chart seriesIdx="1" categoryIdx="-4" bldStep="series"/>
                                            </p:graphicEl>
                                          </p:spTgt>
                                        </p:tgtEl>
                                        <p:attrNameLst>
                                          <p:attrName>ppt_x</p:attrName>
                                        </p:attrNameLst>
                                      </p:cBhvr>
                                      <p:tavLst>
                                        <p:tav tm="0">
                                          <p:val>
                                            <p:strVal val="#ppt_x"/>
                                          </p:val>
                                        </p:tav>
                                        <p:tav tm="100000">
                                          <p:val>
                                            <p:strVal val="#ppt_x"/>
                                          </p:val>
                                        </p:tav>
                                      </p:tavLst>
                                    </p:anim>
                                    <p:anim calcmode="lin" valueType="num">
                                      <p:cBhvr>
                                        <p:cTn id="39" dur="300" fill="hold"/>
                                        <p:tgtEl>
                                          <p:spTgt spid="9">
                                            <p:graphicEl>
                                              <a:chart seriesIdx="1" categoryIdx="-4" bldStep="series"/>
                                            </p:graphicEl>
                                          </p:spTgt>
                                        </p:tgtEl>
                                        <p:attrNameLst>
                                          <p:attrName>ppt_y</p:attrName>
                                        </p:attrNameLst>
                                      </p:cBhvr>
                                      <p:tavLst>
                                        <p:tav tm="0">
                                          <p:val>
                                            <p:strVal val="#ppt_y+.1"/>
                                          </p:val>
                                        </p:tav>
                                        <p:tav tm="100000">
                                          <p:val>
                                            <p:strVal val="#ppt_y"/>
                                          </p:val>
                                        </p:tav>
                                      </p:tavLst>
                                    </p:anim>
                                  </p:childTnLst>
                                </p:cTn>
                              </p:par>
                            </p:childTnLst>
                          </p:cTn>
                        </p:par>
                        <p:par>
                          <p:cTn id="40" fill="hold">
                            <p:stCondLst>
                              <p:cond delay="3950"/>
                            </p:stCondLst>
                            <p:childTnLst>
                              <p:par>
                                <p:cTn id="41" presetID="42" presetClass="entr" presetSubtype="0" fill="hold" grpId="0" nodeType="afterEffect">
                                  <p:stCondLst>
                                    <p:cond delay="150"/>
                                  </p:stCondLst>
                                  <p:childTnLst>
                                    <p:set>
                                      <p:cBhvr>
                                        <p:cTn id="42" dur="1" fill="hold">
                                          <p:stCondLst>
                                            <p:cond delay="0"/>
                                          </p:stCondLst>
                                        </p:cTn>
                                        <p:tgtEl>
                                          <p:spTgt spid="9">
                                            <p:graphicEl>
                                              <a:chart seriesIdx="2" categoryIdx="-4" bldStep="series"/>
                                            </p:graphicEl>
                                          </p:spTgt>
                                        </p:tgtEl>
                                        <p:attrNameLst>
                                          <p:attrName>style.visibility</p:attrName>
                                        </p:attrNameLst>
                                      </p:cBhvr>
                                      <p:to>
                                        <p:strVal val="visible"/>
                                      </p:to>
                                    </p:set>
                                    <p:animEffect transition="in" filter="fade">
                                      <p:cBhvr>
                                        <p:cTn id="43" dur="300"/>
                                        <p:tgtEl>
                                          <p:spTgt spid="9">
                                            <p:graphicEl>
                                              <a:chart seriesIdx="2" categoryIdx="-4" bldStep="series"/>
                                            </p:graphicEl>
                                          </p:spTgt>
                                        </p:tgtEl>
                                      </p:cBhvr>
                                    </p:animEffect>
                                    <p:anim calcmode="lin" valueType="num">
                                      <p:cBhvr>
                                        <p:cTn id="44" dur="300" fill="hold"/>
                                        <p:tgtEl>
                                          <p:spTgt spid="9">
                                            <p:graphicEl>
                                              <a:chart seriesIdx="2" categoryIdx="-4" bldStep="series"/>
                                            </p:graphicEl>
                                          </p:spTgt>
                                        </p:tgtEl>
                                        <p:attrNameLst>
                                          <p:attrName>ppt_x</p:attrName>
                                        </p:attrNameLst>
                                      </p:cBhvr>
                                      <p:tavLst>
                                        <p:tav tm="0">
                                          <p:val>
                                            <p:strVal val="#ppt_x"/>
                                          </p:val>
                                        </p:tav>
                                        <p:tav tm="100000">
                                          <p:val>
                                            <p:strVal val="#ppt_x"/>
                                          </p:val>
                                        </p:tav>
                                      </p:tavLst>
                                    </p:anim>
                                    <p:anim calcmode="lin" valueType="num">
                                      <p:cBhvr>
                                        <p:cTn id="45" dur="300" fill="hold"/>
                                        <p:tgtEl>
                                          <p:spTgt spid="9">
                                            <p:graphicEl>
                                              <a:chart seriesIdx="2" categoryIdx="-4" bldStep="series"/>
                                            </p:graphicEl>
                                          </p:spTgt>
                                        </p:tgtEl>
                                        <p:attrNameLst>
                                          <p:attrName>ppt_y</p:attrName>
                                        </p:attrNameLst>
                                      </p:cBhvr>
                                      <p:tavLst>
                                        <p:tav tm="0">
                                          <p:val>
                                            <p:strVal val="#ppt_y+.1"/>
                                          </p:val>
                                        </p:tav>
                                        <p:tav tm="100000">
                                          <p:val>
                                            <p:strVal val="#ppt_y"/>
                                          </p:val>
                                        </p:tav>
                                      </p:tavLst>
                                    </p:anim>
                                  </p:childTnLst>
                                </p:cTn>
                              </p:par>
                            </p:childTnLst>
                          </p:cTn>
                        </p:par>
                        <p:par>
                          <p:cTn id="46" fill="hold">
                            <p:stCondLst>
                              <p:cond delay="4400"/>
                            </p:stCondLst>
                            <p:childTnLst>
                              <p:par>
                                <p:cTn id="47" presetID="42" presetClass="entr" presetSubtype="0" fill="hold" grpId="0" nodeType="afterEffect">
                                  <p:stCondLst>
                                    <p:cond delay="150"/>
                                  </p:stCondLst>
                                  <p:childTnLst>
                                    <p:set>
                                      <p:cBhvr>
                                        <p:cTn id="48" dur="1" fill="hold">
                                          <p:stCondLst>
                                            <p:cond delay="0"/>
                                          </p:stCondLst>
                                        </p:cTn>
                                        <p:tgtEl>
                                          <p:spTgt spid="9">
                                            <p:graphicEl>
                                              <a:chart seriesIdx="3" categoryIdx="-4" bldStep="series"/>
                                            </p:graphicEl>
                                          </p:spTgt>
                                        </p:tgtEl>
                                        <p:attrNameLst>
                                          <p:attrName>style.visibility</p:attrName>
                                        </p:attrNameLst>
                                      </p:cBhvr>
                                      <p:to>
                                        <p:strVal val="visible"/>
                                      </p:to>
                                    </p:set>
                                    <p:animEffect transition="in" filter="fade">
                                      <p:cBhvr>
                                        <p:cTn id="49" dur="300"/>
                                        <p:tgtEl>
                                          <p:spTgt spid="9">
                                            <p:graphicEl>
                                              <a:chart seriesIdx="3" categoryIdx="-4" bldStep="series"/>
                                            </p:graphicEl>
                                          </p:spTgt>
                                        </p:tgtEl>
                                      </p:cBhvr>
                                    </p:animEffect>
                                    <p:anim calcmode="lin" valueType="num">
                                      <p:cBhvr>
                                        <p:cTn id="50" dur="300" fill="hold"/>
                                        <p:tgtEl>
                                          <p:spTgt spid="9">
                                            <p:graphicEl>
                                              <a:chart seriesIdx="3" categoryIdx="-4" bldStep="series"/>
                                            </p:graphicEl>
                                          </p:spTgt>
                                        </p:tgtEl>
                                        <p:attrNameLst>
                                          <p:attrName>ppt_x</p:attrName>
                                        </p:attrNameLst>
                                      </p:cBhvr>
                                      <p:tavLst>
                                        <p:tav tm="0">
                                          <p:val>
                                            <p:strVal val="#ppt_x"/>
                                          </p:val>
                                        </p:tav>
                                        <p:tav tm="100000">
                                          <p:val>
                                            <p:strVal val="#ppt_x"/>
                                          </p:val>
                                        </p:tav>
                                      </p:tavLst>
                                    </p:anim>
                                    <p:anim calcmode="lin" valueType="num">
                                      <p:cBhvr>
                                        <p:cTn id="51" dur="300" fill="hold"/>
                                        <p:tgtEl>
                                          <p:spTgt spid="9">
                                            <p:graphicEl>
                                              <a:chart seriesIdx="3" categoryIdx="-4" bldStep="series"/>
                                            </p:graphicEl>
                                          </p:spTgt>
                                        </p:tgtEl>
                                        <p:attrNameLst>
                                          <p:attrName>ppt_y</p:attrName>
                                        </p:attrNameLst>
                                      </p:cBhvr>
                                      <p:tavLst>
                                        <p:tav tm="0">
                                          <p:val>
                                            <p:strVal val="#ppt_y+.1"/>
                                          </p:val>
                                        </p:tav>
                                        <p:tav tm="100000">
                                          <p:val>
                                            <p:strVal val="#ppt_y"/>
                                          </p:val>
                                        </p:tav>
                                      </p:tavLst>
                                    </p:anim>
                                  </p:childTnLst>
                                </p:cTn>
                              </p:par>
                            </p:childTnLst>
                          </p:cTn>
                        </p:par>
                        <p:par>
                          <p:cTn id="52" fill="hold">
                            <p:stCondLst>
                              <p:cond delay="4850"/>
                            </p:stCondLst>
                            <p:childTnLst>
                              <p:par>
                                <p:cTn id="53" presetID="42" presetClass="entr" presetSubtype="0" fill="hold" grpId="0" nodeType="afterEffect">
                                  <p:stCondLst>
                                    <p:cond delay="150"/>
                                  </p:stCondLst>
                                  <p:childTnLst>
                                    <p:set>
                                      <p:cBhvr>
                                        <p:cTn id="54" dur="1" fill="hold">
                                          <p:stCondLst>
                                            <p:cond delay="0"/>
                                          </p:stCondLst>
                                        </p:cTn>
                                        <p:tgtEl>
                                          <p:spTgt spid="9">
                                            <p:graphicEl>
                                              <a:chart seriesIdx="4" categoryIdx="-4" bldStep="series"/>
                                            </p:graphicEl>
                                          </p:spTgt>
                                        </p:tgtEl>
                                        <p:attrNameLst>
                                          <p:attrName>style.visibility</p:attrName>
                                        </p:attrNameLst>
                                      </p:cBhvr>
                                      <p:to>
                                        <p:strVal val="visible"/>
                                      </p:to>
                                    </p:set>
                                    <p:animEffect transition="in" filter="fade">
                                      <p:cBhvr>
                                        <p:cTn id="55" dur="300"/>
                                        <p:tgtEl>
                                          <p:spTgt spid="9">
                                            <p:graphicEl>
                                              <a:chart seriesIdx="4" categoryIdx="-4" bldStep="series"/>
                                            </p:graphicEl>
                                          </p:spTgt>
                                        </p:tgtEl>
                                      </p:cBhvr>
                                    </p:animEffect>
                                    <p:anim calcmode="lin" valueType="num">
                                      <p:cBhvr>
                                        <p:cTn id="56" dur="300" fill="hold"/>
                                        <p:tgtEl>
                                          <p:spTgt spid="9">
                                            <p:graphicEl>
                                              <a:chart seriesIdx="4" categoryIdx="-4" bldStep="series"/>
                                            </p:graphicEl>
                                          </p:spTgt>
                                        </p:tgtEl>
                                        <p:attrNameLst>
                                          <p:attrName>ppt_x</p:attrName>
                                        </p:attrNameLst>
                                      </p:cBhvr>
                                      <p:tavLst>
                                        <p:tav tm="0">
                                          <p:val>
                                            <p:strVal val="#ppt_x"/>
                                          </p:val>
                                        </p:tav>
                                        <p:tav tm="100000">
                                          <p:val>
                                            <p:strVal val="#ppt_x"/>
                                          </p:val>
                                        </p:tav>
                                      </p:tavLst>
                                    </p:anim>
                                    <p:anim calcmode="lin" valueType="num">
                                      <p:cBhvr>
                                        <p:cTn id="57" dur="300" fill="hold"/>
                                        <p:tgtEl>
                                          <p:spTgt spid="9">
                                            <p:graphicEl>
                                              <a:chart seriesIdx="4" categoryIdx="-4" bldStep="series"/>
                                            </p:graphicEl>
                                          </p:spTgt>
                                        </p:tgtEl>
                                        <p:attrNameLst>
                                          <p:attrName>ppt_y</p:attrName>
                                        </p:attrNameLst>
                                      </p:cBhvr>
                                      <p:tavLst>
                                        <p:tav tm="0">
                                          <p:val>
                                            <p:strVal val="#ppt_y+.1"/>
                                          </p:val>
                                        </p:tav>
                                        <p:tav tm="100000">
                                          <p:val>
                                            <p:strVal val="#ppt_y"/>
                                          </p:val>
                                        </p:tav>
                                      </p:tavLst>
                                    </p:anim>
                                  </p:childTnLst>
                                </p:cTn>
                              </p:par>
                            </p:childTnLst>
                          </p:cTn>
                        </p:par>
                        <p:par>
                          <p:cTn id="58" fill="hold">
                            <p:stCondLst>
                              <p:cond delay="5300"/>
                            </p:stCondLst>
                            <p:childTnLst>
                              <p:par>
                                <p:cTn id="59" presetID="42" presetClass="entr" presetSubtype="0" fill="hold" grpId="0" nodeType="afterEffect">
                                  <p:stCondLst>
                                    <p:cond delay="150"/>
                                  </p:stCondLst>
                                  <p:childTnLst>
                                    <p:set>
                                      <p:cBhvr>
                                        <p:cTn id="60" dur="1" fill="hold">
                                          <p:stCondLst>
                                            <p:cond delay="0"/>
                                          </p:stCondLst>
                                        </p:cTn>
                                        <p:tgtEl>
                                          <p:spTgt spid="9">
                                            <p:graphicEl>
                                              <a:chart seriesIdx="5" categoryIdx="-4" bldStep="series"/>
                                            </p:graphicEl>
                                          </p:spTgt>
                                        </p:tgtEl>
                                        <p:attrNameLst>
                                          <p:attrName>style.visibility</p:attrName>
                                        </p:attrNameLst>
                                      </p:cBhvr>
                                      <p:to>
                                        <p:strVal val="visible"/>
                                      </p:to>
                                    </p:set>
                                    <p:animEffect transition="in" filter="fade">
                                      <p:cBhvr>
                                        <p:cTn id="61" dur="300"/>
                                        <p:tgtEl>
                                          <p:spTgt spid="9">
                                            <p:graphicEl>
                                              <a:chart seriesIdx="5" categoryIdx="-4" bldStep="series"/>
                                            </p:graphicEl>
                                          </p:spTgt>
                                        </p:tgtEl>
                                      </p:cBhvr>
                                    </p:animEffect>
                                    <p:anim calcmode="lin" valueType="num">
                                      <p:cBhvr>
                                        <p:cTn id="62" dur="300" fill="hold"/>
                                        <p:tgtEl>
                                          <p:spTgt spid="9">
                                            <p:graphicEl>
                                              <a:chart seriesIdx="5" categoryIdx="-4" bldStep="series"/>
                                            </p:graphicEl>
                                          </p:spTgt>
                                        </p:tgtEl>
                                        <p:attrNameLst>
                                          <p:attrName>ppt_x</p:attrName>
                                        </p:attrNameLst>
                                      </p:cBhvr>
                                      <p:tavLst>
                                        <p:tav tm="0">
                                          <p:val>
                                            <p:strVal val="#ppt_x"/>
                                          </p:val>
                                        </p:tav>
                                        <p:tav tm="100000">
                                          <p:val>
                                            <p:strVal val="#ppt_x"/>
                                          </p:val>
                                        </p:tav>
                                      </p:tavLst>
                                    </p:anim>
                                    <p:anim calcmode="lin" valueType="num">
                                      <p:cBhvr>
                                        <p:cTn id="63" dur="300" fill="hold"/>
                                        <p:tgtEl>
                                          <p:spTgt spid="9">
                                            <p:graphicEl>
                                              <a:chart seriesIdx="5" categoryIdx="-4" bldStep="series"/>
                                            </p:graphicEl>
                                          </p:spTgt>
                                        </p:tgtEl>
                                        <p:attrNameLst>
                                          <p:attrName>ppt_y</p:attrName>
                                        </p:attrNameLst>
                                      </p:cBhvr>
                                      <p:tavLst>
                                        <p:tav tm="0">
                                          <p:val>
                                            <p:strVal val="#ppt_y+.1"/>
                                          </p:val>
                                        </p:tav>
                                        <p:tav tm="100000">
                                          <p:val>
                                            <p:strVal val="#ppt_y"/>
                                          </p:val>
                                        </p:tav>
                                      </p:tavLst>
                                    </p:anim>
                                  </p:childTnLst>
                                </p:cTn>
                              </p:par>
                            </p:childTnLst>
                          </p:cTn>
                        </p:par>
                        <p:par>
                          <p:cTn id="64" fill="hold">
                            <p:stCondLst>
                              <p:cond delay="5750"/>
                            </p:stCondLst>
                            <p:childTnLst>
                              <p:par>
                                <p:cTn id="65" presetID="42" presetClass="entr" presetSubtype="0" fill="hold" grpId="0" nodeType="afterEffect">
                                  <p:stCondLst>
                                    <p:cond delay="150"/>
                                  </p:stCondLst>
                                  <p:childTnLst>
                                    <p:set>
                                      <p:cBhvr>
                                        <p:cTn id="66" dur="1" fill="hold">
                                          <p:stCondLst>
                                            <p:cond delay="0"/>
                                          </p:stCondLst>
                                        </p:cTn>
                                        <p:tgtEl>
                                          <p:spTgt spid="9">
                                            <p:graphicEl>
                                              <a:chart seriesIdx="6" categoryIdx="-4" bldStep="series"/>
                                            </p:graphicEl>
                                          </p:spTgt>
                                        </p:tgtEl>
                                        <p:attrNameLst>
                                          <p:attrName>style.visibility</p:attrName>
                                        </p:attrNameLst>
                                      </p:cBhvr>
                                      <p:to>
                                        <p:strVal val="visible"/>
                                      </p:to>
                                    </p:set>
                                    <p:animEffect transition="in" filter="fade">
                                      <p:cBhvr>
                                        <p:cTn id="67" dur="300"/>
                                        <p:tgtEl>
                                          <p:spTgt spid="9">
                                            <p:graphicEl>
                                              <a:chart seriesIdx="6" categoryIdx="-4" bldStep="series"/>
                                            </p:graphicEl>
                                          </p:spTgt>
                                        </p:tgtEl>
                                      </p:cBhvr>
                                    </p:animEffect>
                                    <p:anim calcmode="lin" valueType="num">
                                      <p:cBhvr>
                                        <p:cTn id="68" dur="300" fill="hold"/>
                                        <p:tgtEl>
                                          <p:spTgt spid="9">
                                            <p:graphicEl>
                                              <a:chart seriesIdx="6" categoryIdx="-4" bldStep="series"/>
                                            </p:graphicEl>
                                          </p:spTgt>
                                        </p:tgtEl>
                                        <p:attrNameLst>
                                          <p:attrName>ppt_x</p:attrName>
                                        </p:attrNameLst>
                                      </p:cBhvr>
                                      <p:tavLst>
                                        <p:tav tm="0">
                                          <p:val>
                                            <p:strVal val="#ppt_x"/>
                                          </p:val>
                                        </p:tav>
                                        <p:tav tm="100000">
                                          <p:val>
                                            <p:strVal val="#ppt_x"/>
                                          </p:val>
                                        </p:tav>
                                      </p:tavLst>
                                    </p:anim>
                                    <p:anim calcmode="lin" valueType="num">
                                      <p:cBhvr>
                                        <p:cTn id="69" dur="300" fill="hold"/>
                                        <p:tgtEl>
                                          <p:spTgt spid="9">
                                            <p:graphicEl>
                                              <a:chart seriesIdx="6" categoryIdx="-4" bldStep="series"/>
                                            </p:graphicEl>
                                          </p:spTgt>
                                        </p:tgtEl>
                                        <p:attrNameLst>
                                          <p:attrName>ppt_y</p:attrName>
                                        </p:attrNameLst>
                                      </p:cBhvr>
                                      <p:tavLst>
                                        <p:tav tm="0">
                                          <p:val>
                                            <p:strVal val="#ppt_y+.1"/>
                                          </p:val>
                                        </p:tav>
                                        <p:tav tm="100000">
                                          <p:val>
                                            <p:strVal val="#ppt_y"/>
                                          </p:val>
                                        </p:tav>
                                      </p:tavLst>
                                    </p:anim>
                                  </p:childTnLst>
                                </p:cTn>
                              </p:par>
                            </p:childTnLst>
                          </p:cTn>
                        </p:par>
                        <p:par>
                          <p:cTn id="70" fill="hold">
                            <p:stCondLst>
                              <p:cond delay="6200"/>
                            </p:stCondLst>
                            <p:childTnLst>
                              <p:par>
                                <p:cTn id="71" presetID="42" presetClass="entr" presetSubtype="0" fill="hold" grpId="0" nodeType="afterEffect">
                                  <p:stCondLst>
                                    <p:cond delay="150"/>
                                  </p:stCondLst>
                                  <p:childTnLst>
                                    <p:set>
                                      <p:cBhvr>
                                        <p:cTn id="72" dur="1" fill="hold">
                                          <p:stCondLst>
                                            <p:cond delay="0"/>
                                          </p:stCondLst>
                                        </p:cTn>
                                        <p:tgtEl>
                                          <p:spTgt spid="9">
                                            <p:graphicEl>
                                              <a:chart seriesIdx="7" categoryIdx="-4" bldStep="series"/>
                                            </p:graphicEl>
                                          </p:spTgt>
                                        </p:tgtEl>
                                        <p:attrNameLst>
                                          <p:attrName>style.visibility</p:attrName>
                                        </p:attrNameLst>
                                      </p:cBhvr>
                                      <p:to>
                                        <p:strVal val="visible"/>
                                      </p:to>
                                    </p:set>
                                    <p:animEffect transition="in" filter="fade">
                                      <p:cBhvr>
                                        <p:cTn id="73" dur="300"/>
                                        <p:tgtEl>
                                          <p:spTgt spid="9">
                                            <p:graphicEl>
                                              <a:chart seriesIdx="7" categoryIdx="-4" bldStep="series"/>
                                            </p:graphicEl>
                                          </p:spTgt>
                                        </p:tgtEl>
                                      </p:cBhvr>
                                    </p:animEffect>
                                    <p:anim calcmode="lin" valueType="num">
                                      <p:cBhvr>
                                        <p:cTn id="74" dur="300" fill="hold"/>
                                        <p:tgtEl>
                                          <p:spTgt spid="9">
                                            <p:graphicEl>
                                              <a:chart seriesIdx="7" categoryIdx="-4" bldStep="series"/>
                                            </p:graphicEl>
                                          </p:spTgt>
                                        </p:tgtEl>
                                        <p:attrNameLst>
                                          <p:attrName>ppt_x</p:attrName>
                                        </p:attrNameLst>
                                      </p:cBhvr>
                                      <p:tavLst>
                                        <p:tav tm="0">
                                          <p:val>
                                            <p:strVal val="#ppt_x"/>
                                          </p:val>
                                        </p:tav>
                                        <p:tav tm="100000">
                                          <p:val>
                                            <p:strVal val="#ppt_x"/>
                                          </p:val>
                                        </p:tav>
                                      </p:tavLst>
                                    </p:anim>
                                    <p:anim calcmode="lin" valueType="num">
                                      <p:cBhvr>
                                        <p:cTn id="75" dur="300" fill="hold"/>
                                        <p:tgtEl>
                                          <p:spTgt spid="9">
                                            <p:graphicEl>
                                              <a:chart seriesIdx="7" categoryIdx="-4" bldStep="series"/>
                                            </p:graphicEl>
                                          </p:spTgt>
                                        </p:tgtEl>
                                        <p:attrNameLst>
                                          <p:attrName>ppt_y</p:attrName>
                                        </p:attrNameLst>
                                      </p:cBhvr>
                                      <p:tavLst>
                                        <p:tav tm="0">
                                          <p:val>
                                            <p:strVal val="#ppt_y+.1"/>
                                          </p:val>
                                        </p:tav>
                                        <p:tav tm="100000">
                                          <p:val>
                                            <p:strVal val="#ppt_y"/>
                                          </p:val>
                                        </p:tav>
                                      </p:tavLst>
                                    </p:anim>
                                  </p:childTnLst>
                                </p:cTn>
                              </p:par>
                            </p:childTnLst>
                          </p:cTn>
                        </p:par>
                        <p:par>
                          <p:cTn id="76" fill="hold">
                            <p:stCondLst>
                              <p:cond delay="6650"/>
                            </p:stCondLst>
                            <p:childTnLst>
                              <p:par>
                                <p:cTn id="77" presetID="42" presetClass="entr" presetSubtype="0" fill="hold" grpId="0" nodeType="afterEffect">
                                  <p:stCondLst>
                                    <p:cond delay="150"/>
                                  </p:stCondLst>
                                  <p:childTnLst>
                                    <p:set>
                                      <p:cBhvr>
                                        <p:cTn id="78" dur="1" fill="hold">
                                          <p:stCondLst>
                                            <p:cond delay="0"/>
                                          </p:stCondLst>
                                        </p:cTn>
                                        <p:tgtEl>
                                          <p:spTgt spid="11">
                                            <p:bg/>
                                          </p:spTgt>
                                        </p:tgtEl>
                                        <p:attrNameLst>
                                          <p:attrName>style.visibility</p:attrName>
                                        </p:attrNameLst>
                                      </p:cBhvr>
                                      <p:to>
                                        <p:strVal val="visible"/>
                                      </p:to>
                                    </p:set>
                                    <p:animEffect transition="in" filter="fade">
                                      <p:cBhvr>
                                        <p:cTn id="79" dur="300"/>
                                        <p:tgtEl>
                                          <p:spTgt spid="11">
                                            <p:bg/>
                                          </p:spTgt>
                                        </p:tgtEl>
                                      </p:cBhvr>
                                    </p:animEffect>
                                    <p:anim calcmode="lin" valueType="num">
                                      <p:cBhvr>
                                        <p:cTn id="80" dur="300" fill="hold"/>
                                        <p:tgtEl>
                                          <p:spTgt spid="11">
                                            <p:bg/>
                                          </p:spTgt>
                                        </p:tgtEl>
                                        <p:attrNameLst>
                                          <p:attrName>ppt_x</p:attrName>
                                        </p:attrNameLst>
                                      </p:cBhvr>
                                      <p:tavLst>
                                        <p:tav tm="0">
                                          <p:val>
                                            <p:strVal val="#ppt_x"/>
                                          </p:val>
                                        </p:tav>
                                        <p:tav tm="100000">
                                          <p:val>
                                            <p:strVal val="#ppt_x"/>
                                          </p:val>
                                        </p:tav>
                                      </p:tavLst>
                                    </p:anim>
                                    <p:anim calcmode="lin" valueType="num">
                                      <p:cBhvr>
                                        <p:cTn id="81" dur="300" fill="hold"/>
                                        <p:tgtEl>
                                          <p:spTgt spid="11">
                                            <p:bg/>
                                          </p:spTgt>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grpId="0" nodeType="clickEffect">
                                  <p:stCondLst>
                                    <p:cond delay="150"/>
                                  </p:stCondLst>
                                  <p:childTnLst>
                                    <p:set>
                                      <p:cBhvr>
                                        <p:cTn id="85" dur="1" fill="hold">
                                          <p:stCondLst>
                                            <p:cond delay="0"/>
                                          </p:stCondLst>
                                        </p:cTn>
                                        <p:tgtEl>
                                          <p:spTgt spid="11">
                                            <p:txEl>
                                              <p:pRg st="0" end="0"/>
                                            </p:txEl>
                                          </p:spTgt>
                                        </p:tgtEl>
                                        <p:attrNameLst>
                                          <p:attrName>style.visibility</p:attrName>
                                        </p:attrNameLst>
                                      </p:cBhvr>
                                      <p:to>
                                        <p:strVal val="visible"/>
                                      </p:to>
                                    </p:set>
                                    <p:animEffect transition="in" filter="fade">
                                      <p:cBhvr>
                                        <p:cTn id="86" dur="300"/>
                                        <p:tgtEl>
                                          <p:spTgt spid="11">
                                            <p:txEl>
                                              <p:pRg st="0" end="0"/>
                                            </p:txEl>
                                          </p:spTgt>
                                        </p:tgtEl>
                                      </p:cBhvr>
                                    </p:animEffect>
                                    <p:anim calcmode="lin" valueType="num">
                                      <p:cBhvr>
                                        <p:cTn id="87" dur="3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88" dur="3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42" presetClass="entr" presetSubtype="0" fill="hold" grpId="0" nodeType="clickEffect">
                                  <p:stCondLst>
                                    <p:cond delay="150"/>
                                  </p:stCondLst>
                                  <p:childTnLst>
                                    <p:set>
                                      <p:cBhvr>
                                        <p:cTn id="92" dur="1" fill="hold">
                                          <p:stCondLst>
                                            <p:cond delay="0"/>
                                          </p:stCondLst>
                                        </p:cTn>
                                        <p:tgtEl>
                                          <p:spTgt spid="11">
                                            <p:txEl>
                                              <p:pRg st="1" end="1"/>
                                            </p:txEl>
                                          </p:spTgt>
                                        </p:tgtEl>
                                        <p:attrNameLst>
                                          <p:attrName>style.visibility</p:attrName>
                                        </p:attrNameLst>
                                      </p:cBhvr>
                                      <p:to>
                                        <p:strVal val="visible"/>
                                      </p:to>
                                    </p:set>
                                    <p:animEffect transition="in" filter="fade">
                                      <p:cBhvr>
                                        <p:cTn id="93" dur="300"/>
                                        <p:tgtEl>
                                          <p:spTgt spid="11">
                                            <p:txEl>
                                              <p:pRg st="1" end="1"/>
                                            </p:txEl>
                                          </p:spTgt>
                                        </p:tgtEl>
                                      </p:cBhvr>
                                    </p:animEffect>
                                    <p:anim calcmode="lin" valueType="num">
                                      <p:cBhvr>
                                        <p:cTn id="94" dur="3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95" dur="3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42" presetClass="entr" presetSubtype="0" fill="hold" grpId="0" nodeType="clickEffect">
                                  <p:stCondLst>
                                    <p:cond delay="150"/>
                                  </p:stCondLst>
                                  <p:childTnLst>
                                    <p:set>
                                      <p:cBhvr>
                                        <p:cTn id="99" dur="1" fill="hold">
                                          <p:stCondLst>
                                            <p:cond delay="0"/>
                                          </p:stCondLst>
                                        </p:cTn>
                                        <p:tgtEl>
                                          <p:spTgt spid="11">
                                            <p:txEl>
                                              <p:pRg st="2" end="2"/>
                                            </p:txEl>
                                          </p:spTgt>
                                        </p:tgtEl>
                                        <p:attrNameLst>
                                          <p:attrName>style.visibility</p:attrName>
                                        </p:attrNameLst>
                                      </p:cBhvr>
                                      <p:to>
                                        <p:strVal val="visible"/>
                                      </p:to>
                                    </p:set>
                                    <p:animEffect transition="in" filter="fade">
                                      <p:cBhvr>
                                        <p:cTn id="100" dur="300"/>
                                        <p:tgtEl>
                                          <p:spTgt spid="11">
                                            <p:txEl>
                                              <p:pRg st="2" end="2"/>
                                            </p:txEl>
                                          </p:spTgt>
                                        </p:tgtEl>
                                      </p:cBhvr>
                                    </p:animEffect>
                                    <p:anim calcmode="lin" valueType="num">
                                      <p:cBhvr>
                                        <p:cTn id="101" dur="3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102" dur="3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par>
                          <p:cTn id="103" fill="hold">
                            <p:stCondLst>
                              <p:cond delay="450"/>
                            </p:stCondLst>
                            <p:childTnLst>
                              <p:par>
                                <p:cTn id="104" presetID="10" presetClass="entr" presetSubtype="0" fill="hold" nodeType="afterEffect">
                                  <p:stCondLst>
                                    <p:cond delay="20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00"/>
                                        <p:tgtEl>
                                          <p:spTgt spid="26"/>
                                        </p:tgtEl>
                                      </p:cBhvr>
                                    </p:animEffect>
                                  </p:childTnLst>
                                </p:cTn>
                              </p:par>
                            </p:childTnLst>
                          </p:cTn>
                        </p:par>
                        <p:par>
                          <p:cTn id="107" fill="hold">
                            <p:stCondLst>
                              <p:cond delay="1150"/>
                            </p:stCondLst>
                            <p:childTnLst>
                              <p:par>
                                <p:cTn id="108" presetID="10" presetClass="entr" presetSubtype="0" fill="hold" grpId="0" nodeType="afterEffect">
                                  <p:stCondLst>
                                    <p:cond delay="200"/>
                                  </p:stCondLst>
                                  <p:childTnLst>
                                    <p:set>
                                      <p:cBhvr>
                                        <p:cTn id="109" dur="1" fill="hold">
                                          <p:stCondLst>
                                            <p:cond delay="0"/>
                                          </p:stCondLst>
                                        </p:cTn>
                                        <p:tgtEl>
                                          <p:spTgt spid="24"/>
                                        </p:tgtEl>
                                        <p:attrNameLst>
                                          <p:attrName>style.visibility</p:attrName>
                                        </p:attrNameLst>
                                      </p:cBhvr>
                                      <p:to>
                                        <p:strVal val="visible"/>
                                      </p:to>
                                    </p:set>
                                    <p:animEffect transition="in" filter="fade">
                                      <p:cBhvr>
                                        <p:cTn id="110" dur="500"/>
                                        <p:tgtEl>
                                          <p:spTgt spid="24"/>
                                        </p:tgtEl>
                                      </p:cBhvr>
                                    </p:animEffect>
                                  </p:childTnLst>
                                </p:cTn>
                              </p:par>
                            </p:childTnLst>
                          </p:cTn>
                        </p:par>
                        <p:par>
                          <p:cTn id="111" fill="hold">
                            <p:stCondLst>
                              <p:cond delay="1850"/>
                            </p:stCondLst>
                            <p:childTnLst>
                              <p:par>
                                <p:cTn id="112" presetID="10" presetClass="entr" presetSubtype="0" fill="hold" nodeType="afterEffect">
                                  <p:stCondLst>
                                    <p:cond delay="200"/>
                                  </p:stCondLst>
                                  <p:childTnLst>
                                    <p:set>
                                      <p:cBhvr>
                                        <p:cTn id="113" dur="1" fill="hold">
                                          <p:stCondLst>
                                            <p:cond delay="0"/>
                                          </p:stCondLst>
                                        </p:cTn>
                                        <p:tgtEl>
                                          <p:spTgt spid="25"/>
                                        </p:tgtEl>
                                        <p:attrNameLst>
                                          <p:attrName>style.visibility</p:attrName>
                                        </p:attrNameLst>
                                      </p:cBhvr>
                                      <p:to>
                                        <p:strVal val="visible"/>
                                      </p:to>
                                    </p:set>
                                    <p:animEffect transition="in" filter="fade">
                                      <p:cBhvr>
                                        <p:cTn id="114" dur="500"/>
                                        <p:tgtEl>
                                          <p:spTgt spid="25"/>
                                        </p:tgtEl>
                                      </p:cBhvr>
                                    </p:animEffect>
                                  </p:childTnLst>
                                </p:cTn>
                              </p:par>
                            </p:childTnLst>
                          </p:cTn>
                        </p:par>
                        <p:par>
                          <p:cTn id="115" fill="hold">
                            <p:stCondLst>
                              <p:cond delay="2550"/>
                            </p:stCondLst>
                            <p:childTnLst>
                              <p:par>
                                <p:cTn id="116" presetID="42" presetClass="entr" presetSubtype="0" fill="hold" grpId="0" nodeType="afterEffect">
                                  <p:stCondLst>
                                    <p:cond delay="150"/>
                                  </p:stCondLst>
                                  <p:childTnLst>
                                    <p:set>
                                      <p:cBhvr>
                                        <p:cTn id="117" dur="1" fill="hold">
                                          <p:stCondLst>
                                            <p:cond delay="0"/>
                                          </p:stCondLst>
                                        </p:cTn>
                                        <p:tgtEl>
                                          <p:spTgt spid="15">
                                            <p:bg/>
                                          </p:spTgt>
                                        </p:tgtEl>
                                        <p:attrNameLst>
                                          <p:attrName>style.visibility</p:attrName>
                                        </p:attrNameLst>
                                      </p:cBhvr>
                                      <p:to>
                                        <p:strVal val="visible"/>
                                      </p:to>
                                    </p:set>
                                    <p:animEffect transition="in" filter="fade">
                                      <p:cBhvr>
                                        <p:cTn id="118" dur="300"/>
                                        <p:tgtEl>
                                          <p:spTgt spid="15">
                                            <p:bg/>
                                          </p:spTgt>
                                        </p:tgtEl>
                                      </p:cBhvr>
                                    </p:animEffect>
                                    <p:anim calcmode="lin" valueType="num">
                                      <p:cBhvr>
                                        <p:cTn id="119" dur="300" fill="hold"/>
                                        <p:tgtEl>
                                          <p:spTgt spid="15">
                                            <p:bg/>
                                          </p:spTgt>
                                        </p:tgtEl>
                                        <p:attrNameLst>
                                          <p:attrName>ppt_x</p:attrName>
                                        </p:attrNameLst>
                                      </p:cBhvr>
                                      <p:tavLst>
                                        <p:tav tm="0">
                                          <p:val>
                                            <p:strVal val="#ppt_x"/>
                                          </p:val>
                                        </p:tav>
                                        <p:tav tm="100000">
                                          <p:val>
                                            <p:strVal val="#ppt_x"/>
                                          </p:val>
                                        </p:tav>
                                      </p:tavLst>
                                    </p:anim>
                                    <p:anim calcmode="lin" valueType="num">
                                      <p:cBhvr>
                                        <p:cTn id="120" dur="300" fill="hold"/>
                                        <p:tgtEl>
                                          <p:spTgt spid="15">
                                            <p:bg/>
                                          </p:spTgt>
                                        </p:tgtEl>
                                        <p:attrNameLst>
                                          <p:attrName>ppt_y</p:attrName>
                                        </p:attrNameLst>
                                      </p:cBhvr>
                                      <p:tavLst>
                                        <p:tav tm="0">
                                          <p:val>
                                            <p:strVal val="#ppt_y+.1"/>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42" presetClass="entr" presetSubtype="0" fill="hold" grpId="0" nodeType="clickEffect">
                                  <p:stCondLst>
                                    <p:cond delay="150"/>
                                  </p:stCondLst>
                                  <p:childTnLst>
                                    <p:set>
                                      <p:cBhvr>
                                        <p:cTn id="124" dur="1" fill="hold">
                                          <p:stCondLst>
                                            <p:cond delay="0"/>
                                          </p:stCondLst>
                                        </p:cTn>
                                        <p:tgtEl>
                                          <p:spTgt spid="15">
                                            <p:txEl>
                                              <p:pRg st="0" end="0"/>
                                            </p:txEl>
                                          </p:spTgt>
                                        </p:tgtEl>
                                        <p:attrNameLst>
                                          <p:attrName>style.visibility</p:attrName>
                                        </p:attrNameLst>
                                      </p:cBhvr>
                                      <p:to>
                                        <p:strVal val="visible"/>
                                      </p:to>
                                    </p:set>
                                    <p:animEffect transition="in" filter="fade">
                                      <p:cBhvr>
                                        <p:cTn id="125" dur="300"/>
                                        <p:tgtEl>
                                          <p:spTgt spid="15">
                                            <p:txEl>
                                              <p:pRg st="0" end="0"/>
                                            </p:txEl>
                                          </p:spTgt>
                                        </p:tgtEl>
                                      </p:cBhvr>
                                    </p:animEffect>
                                    <p:anim calcmode="lin" valueType="num">
                                      <p:cBhvr>
                                        <p:cTn id="126" dur="3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127" dur="3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42" presetClass="entr" presetSubtype="0" fill="hold" grpId="0" nodeType="clickEffect">
                                  <p:stCondLst>
                                    <p:cond delay="150"/>
                                  </p:stCondLst>
                                  <p:childTnLst>
                                    <p:set>
                                      <p:cBhvr>
                                        <p:cTn id="131" dur="1" fill="hold">
                                          <p:stCondLst>
                                            <p:cond delay="0"/>
                                          </p:stCondLst>
                                        </p:cTn>
                                        <p:tgtEl>
                                          <p:spTgt spid="15">
                                            <p:txEl>
                                              <p:pRg st="1" end="1"/>
                                            </p:txEl>
                                          </p:spTgt>
                                        </p:tgtEl>
                                        <p:attrNameLst>
                                          <p:attrName>style.visibility</p:attrName>
                                        </p:attrNameLst>
                                      </p:cBhvr>
                                      <p:to>
                                        <p:strVal val="visible"/>
                                      </p:to>
                                    </p:set>
                                    <p:animEffect transition="in" filter="fade">
                                      <p:cBhvr>
                                        <p:cTn id="132" dur="300"/>
                                        <p:tgtEl>
                                          <p:spTgt spid="15">
                                            <p:txEl>
                                              <p:pRg st="1" end="1"/>
                                            </p:txEl>
                                          </p:spTgt>
                                        </p:tgtEl>
                                      </p:cBhvr>
                                    </p:animEffect>
                                    <p:anim calcmode="lin" valueType="num">
                                      <p:cBhvr>
                                        <p:cTn id="133" dur="3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134" dur="300" fill="hold"/>
                                        <p:tgtEl>
                                          <p:spTgt spid="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42" presetClass="entr" presetSubtype="0" fill="hold" grpId="0" nodeType="clickEffect">
                                  <p:stCondLst>
                                    <p:cond delay="150"/>
                                  </p:stCondLst>
                                  <p:childTnLst>
                                    <p:set>
                                      <p:cBhvr>
                                        <p:cTn id="138" dur="1" fill="hold">
                                          <p:stCondLst>
                                            <p:cond delay="0"/>
                                          </p:stCondLst>
                                        </p:cTn>
                                        <p:tgtEl>
                                          <p:spTgt spid="15">
                                            <p:txEl>
                                              <p:pRg st="2" end="2"/>
                                            </p:txEl>
                                          </p:spTgt>
                                        </p:tgtEl>
                                        <p:attrNameLst>
                                          <p:attrName>style.visibility</p:attrName>
                                        </p:attrNameLst>
                                      </p:cBhvr>
                                      <p:to>
                                        <p:strVal val="visible"/>
                                      </p:to>
                                    </p:set>
                                    <p:animEffect transition="in" filter="fade">
                                      <p:cBhvr>
                                        <p:cTn id="139" dur="300"/>
                                        <p:tgtEl>
                                          <p:spTgt spid="15">
                                            <p:txEl>
                                              <p:pRg st="2" end="2"/>
                                            </p:txEl>
                                          </p:spTgt>
                                        </p:tgtEl>
                                      </p:cBhvr>
                                    </p:animEffect>
                                    <p:anim calcmode="lin" valueType="num">
                                      <p:cBhvr>
                                        <p:cTn id="140" dur="3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141" dur="3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70" grpId="0" animBg="1"/>
      <p:bldP spid="24" grpId="0" animBg="1"/>
      <p:bldGraphic spid="9" grpId="0">
        <p:bldSub>
          <a:bldChart bld="series"/>
        </p:bldSub>
      </p:bldGraphic>
      <p:bldP spid="11" grpId="0" build="p" animBg="1"/>
      <p:bldP spid="15"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2F4C"/>
        </a:solidFill>
        <a:effectLst/>
      </p:bgPr>
    </p:bg>
    <p:spTree>
      <p:nvGrpSpPr>
        <p:cNvPr id="1" name="">
          <a:extLst>
            <a:ext uri="{FF2B5EF4-FFF2-40B4-BE49-F238E27FC236}">
              <a16:creationId xmlns:a16="http://schemas.microsoft.com/office/drawing/2014/main" id="{237DB46C-0F72-B35C-61A9-D1BD64135A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F9D3F5-BE66-676F-0275-F11BCEFBE4C8}"/>
              </a:ext>
            </a:extLst>
          </p:cNvPr>
          <p:cNvSpPr>
            <a:spLocks noGrp="1"/>
          </p:cNvSpPr>
          <p:nvPr>
            <p:ph type="title"/>
          </p:nvPr>
        </p:nvSpPr>
        <p:spPr>
          <a:xfrm>
            <a:off x="1586190" y="365126"/>
            <a:ext cx="9019621" cy="993502"/>
          </a:xfrm>
        </p:spPr>
        <p:txBody>
          <a:bodyPr>
            <a:noAutofit/>
          </a:bodyPr>
          <a:lstStyle/>
          <a:p>
            <a:pPr algn="ctr">
              <a:lnSpc>
                <a:spcPct val="150000"/>
              </a:lnSpc>
            </a:pPr>
            <a:r>
              <a:rPr lang="en-US" sz="2000" dirty="0">
                <a:solidFill>
                  <a:schemeClr val="bg1"/>
                </a:solidFill>
                <a:latin typeface="Inter ExtraBold" panose="02000503000000020004" pitchFamily="2" charset="0"/>
                <a:ea typeface="Inter ExtraBold" panose="02000503000000020004" pitchFamily="2" charset="0"/>
              </a:rPr>
              <a:t>Capture Price Trend </a:t>
            </a:r>
            <a:br>
              <a:rPr lang="en-US" sz="1600" dirty="0">
                <a:solidFill>
                  <a:srgbClr val="FFC000"/>
                </a:solidFill>
                <a:latin typeface="Inter ExtraBold" panose="02000503000000020004" pitchFamily="2" charset="0"/>
                <a:ea typeface="Inter ExtraBold" panose="02000503000000020004" pitchFamily="2" charset="0"/>
              </a:rPr>
            </a:br>
            <a:r>
              <a:rPr lang="en-US" sz="1600" i="1" dirty="0">
                <a:solidFill>
                  <a:srgbClr val="FFC000"/>
                </a:solidFill>
                <a:latin typeface="Inter ExtraBold" panose="02000503000000020004" pitchFamily="2" charset="0"/>
                <a:ea typeface="Inter ExtraBold" panose="02000503000000020004" pitchFamily="2" charset="0"/>
              </a:rPr>
              <a:t>From a capture price perspective, which technology offers better potential between solar PV in GB and onshore wind in DE? </a:t>
            </a:r>
          </a:p>
        </p:txBody>
      </p:sp>
      <p:sp>
        <p:nvSpPr>
          <p:cNvPr id="4" name="Rectangle: Rounded Corners 3">
            <a:extLst>
              <a:ext uri="{FF2B5EF4-FFF2-40B4-BE49-F238E27FC236}">
                <a16:creationId xmlns:a16="http://schemas.microsoft.com/office/drawing/2014/main" id="{4316431F-693E-2A74-92B4-9044341F0492}"/>
              </a:ext>
            </a:extLst>
          </p:cNvPr>
          <p:cNvSpPr/>
          <p:nvPr/>
        </p:nvSpPr>
        <p:spPr>
          <a:xfrm>
            <a:off x="4907968" y="1772816"/>
            <a:ext cx="900000" cy="234000"/>
          </a:xfrm>
          <a:prstGeom prst="roundRect">
            <a:avLst>
              <a:gd name="adj" fmla="val 50000"/>
            </a:avLst>
          </a:prstGeom>
          <a:solidFill>
            <a:srgbClr val="7F46EA">
              <a:alpha val="50000"/>
            </a:srgbClr>
          </a:solidFill>
          <a:ln w="25400">
            <a:solidFill>
              <a:srgbClr val="7F46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atin typeface="Inter" panose="02000503000000020004" pitchFamily="2" charset="0"/>
                <a:ea typeface="Inter" panose="02000503000000020004" pitchFamily="2" charset="0"/>
              </a:rPr>
              <a:t>2022 Q3</a:t>
            </a:r>
            <a:endParaRPr lang="en-US" sz="1200" dirty="0">
              <a:latin typeface="Inter" panose="02000503000000020004" pitchFamily="2" charset="0"/>
              <a:ea typeface="Inter" panose="02000503000000020004" pitchFamily="2" charset="0"/>
            </a:endParaRPr>
          </a:p>
        </p:txBody>
      </p:sp>
      <p:cxnSp>
        <p:nvCxnSpPr>
          <p:cNvPr id="5" name="Straight Connector 4">
            <a:extLst>
              <a:ext uri="{FF2B5EF4-FFF2-40B4-BE49-F238E27FC236}">
                <a16:creationId xmlns:a16="http://schemas.microsoft.com/office/drawing/2014/main" id="{602D5564-56C5-77CD-553B-0C8121E139B1}"/>
              </a:ext>
            </a:extLst>
          </p:cNvPr>
          <p:cNvCxnSpPr>
            <a:cxnSpLocks/>
          </p:cNvCxnSpPr>
          <p:nvPr/>
        </p:nvCxnSpPr>
        <p:spPr>
          <a:xfrm>
            <a:off x="2234861" y="2078824"/>
            <a:ext cx="3762420" cy="0"/>
          </a:xfrm>
          <a:prstGeom prst="line">
            <a:avLst/>
          </a:prstGeom>
          <a:ln>
            <a:solidFill>
              <a:srgbClr val="FFC000">
                <a:alpha val="50000"/>
              </a:srgbClr>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86B98F87-6D60-3055-300D-FE63FEFF404F}"/>
              </a:ext>
            </a:extLst>
          </p:cNvPr>
          <p:cNvGrpSpPr/>
          <p:nvPr/>
        </p:nvGrpSpPr>
        <p:grpSpPr>
          <a:xfrm>
            <a:off x="1586189" y="1484784"/>
            <a:ext cx="4771132" cy="4125600"/>
            <a:chOff x="695400" y="1466443"/>
            <a:chExt cx="3960440" cy="2970669"/>
          </a:xfrm>
        </p:grpSpPr>
        <p:sp>
          <p:nvSpPr>
            <p:cNvPr id="7" name="Rectangle: Rounded Corners 6">
              <a:extLst>
                <a:ext uri="{FF2B5EF4-FFF2-40B4-BE49-F238E27FC236}">
                  <a16:creationId xmlns:a16="http://schemas.microsoft.com/office/drawing/2014/main" id="{8BB1EB93-5709-DBA8-5336-D7C24B019B34}"/>
                </a:ext>
              </a:extLst>
            </p:cNvPr>
            <p:cNvSpPr/>
            <p:nvPr/>
          </p:nvSpPr>
          <p:spPr>
            <a:xfrm>
              <a:off x="695400" y="1556791"/>
              <a:ext cx="3960440" cy="2793551"/>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r>
                <a:rPr lang="en-GB" sz="1200" b="1" dirty="0">
                  <a:solidFill>
                    <a:schemeClr val="bg2"/>
                  </a:solidFill>
                  <a:latin typeface="Inter" panose="02000503000000020004" pitchFamily="2" charset="0"/>
                  <a:ea typeface="Inter" panose="02000503000000020004" pitchFamily="2" charset="0"/>
                </a:rPr>
                <a:t>                    Capture Trend </a:t>
              </a:r>
              <a:r>
                <a:rPr lang="en-US" sz="1200" b="1" dirty="0">
                  <a:latin typeface="Inter  "/>
                </a:rPr>
                <a:t>☀️</a:t>
              </a:r>
              <a:r>
                <a:rPr lang="en-GB" sz="1200" b="1" dirty="0">
                  <a:solidFill>
                    <a:schemeClr val="bg2"/>
                  </a:solidFill>
                  <a:latin typeface="Inter" panose="02000503000000020004" pitchFamily="2" charset="0"/>
                  <a:ea typeface="Inter" panose="02000503000000020004" pitchFamily="2" charset="0"/>
                </a:rPr>
                <a:t> GB vs </a:t>
              </a:r>
              <a:r>
                <a:rPr lang="en-US" sz="1200" b="1" dirty="0">
                  <a:latin typeface="Inter  "/>
                </a:rPr>
                <a:t>💨</a:t>
              </a:r>
              <a:r>
                <a:rPr lang="en-GB" sz="1200" b="1" dirty="0">
                  <a:solidFill>
                    <a:schemeClr val="bg2"/>
                  </a:solidFill>
                  <a:latin typeface="Inter" panose="02000503000000020004" pitchFamily="2" charset="0"/>
                  <a:ea typeface="Inter" panose="02000503000000020004" pitchFamily="2" charset="0"/>
                </a:rPr>
                <a:t> DE</a:t>
              </a:r>
              <a:endParaRPr lang="en-GB" sz="1200" b="1" dirty="0">
                <a:solidFill>
                  <a:srgbClr val="00B0F0"/>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8" name="Group 7">
              <a:extLst>
                <a:ext uri="{FF2B5EF4-FFF2-40B4-BE49-F238E27FC236}">
                  <a16:creationId xmlns:a16="http://schemas.microsoft.com/office/drawing/2014/main" id="{16A07388-A61E-B338-8355-F35B8771B3E2}"/>
                </a:ext>
              </a:extLst>
            </p:cNvPr>
            <p:cNvGrpSpPr/>
            <p:nvPr/>
          </p:nvGrpSpPr>
          <p:grpSpPr>
            <a:xfrm>
              <a:off x="696556" y="1466443"/>
              <a:ext cx="457200" cy="2970669"/>
              <a:chOff x="4878000" y="1468232"/>
              <a:chExt cx="457200" cy="2970669"/>
            </a:xfrm>
          </p:grpSpPr>
          <p:sp>
            <p:nvSpPr>
              <p:cNvPr id="9" name="Arc 29">
                <a:extLst>
                  <a:ext uri="{FF2B5EF4-FFF2-40B4-BE49-F238E27FC236}">
                    <a16:creationId xmlns:a16="http://schemas.microsoft.com/office/drawing/2014/main" id="{C47C30B2-7E14-2E8D-9830-9B23DD8A980B}"/>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10" name="Group 9">
                <a:extLst>
                  <a:ext uri="{FF2B5EF4-FFF2-40B4-BE49-F238E27FC236}">
                    <a16:creationId xmlns:a16="http://schemas.microsoft.com/office/drawing/2014/main" id="{ECC41275-6E06-4BA0-E968-B14B2C25BD56}"/>
                  </a:ext>
                </a:extLst>
              </p:cNvPr>
              <p:cNvGrpSpPr/>
              <p:nvPr/>
            </p:nvGrpSpPr>
            <p:grpSpPr>
              <a:xfrm>
                <a:off x="4878000" y="1917596"/>
                <a:ext cx="457200" cy="2521305"/>
                <a:chOff x="4871440" y="1917596"/>
                <a:chExt cx="457200" cy="2521305"/>
              </a:xfrm>
            </p:grpSpPr>
            <p:cxnSp>
              <p:nvCxnSpPr>
                <p:cNvPr id="11" name="Straight Connector 10">
                  <a:extLst>
                    <a:ext uri="{FF2B5EF4-FFF2-40B4-BE49-F238E27FC236}">
                      <a16:creationId xmlns:a16="http://schemas.microsoft.com/office/drawing/2014/main" id="{A48DEE40-26F6-F5A2-A3AA-8CFE9B7D78B3}"/>
                    </a:ext>
                  </a:extLst>
                </p:cNvPr>
                <p:cNvCxnSpPr>
                  <a:cxnSpLocks/>
                </p:cNvCxnSpPr>
                <p:nvPr/>
              </p:nvCxnSpPr>
              <p:spPr>
                <a:xfrm>
                  <a:off x="4871440" y="1917596"/>
                  <a:ext cx="0" cy="2106015"/>
                </a:xfrm>
                <a:prstGeom prst="line">
                  <a:avLst/>
                </a:prstGeom>
                <a:ln w="25400">
                  <a:solidFill>
                    <a:srgbClr val="7F46EA"/>
                  </a:solidFill>
                </a:ln>
              </p:spPr>
              <p:style>
                <a:lnRef idx="1">
                  <a:schemeClr val="accent1"/>
                </a:lnRef>
                <a:fillRef idx="0">
                  <a:schemeClr val="accent1"/>
                </a:fillRef>
                <a:effectRef idx="0">
                  <a:schemeClr val="accent1"/>
                </a:effectRef>
                <a:fontRef idx="minor">
                  <a:schemeClr val="tx1"/>
                </a:fontRef>
              </p:style>
            </p:cxnSp>
            <p:sp>
              <p:nvSpPr>
                <p:cNvPr id="12" name="Arc 29">
                  <a:extLst>
                    <a:ext uri="{FF2B5EF4-FFF2-40B4-BE49-F238E27FC236}">
                      <a16:creationId xmlns:a16="http://schemas.microsoft.com/office/drawing/2014/main" id="{6CBEE1E3-95DB-A8D5-FDF5-873E0D748BB5}"/>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graphicFrame>
        <p:nvGraphicFramePr>
          <p:cNvPr id="24" name="Chart 23">
            <a:extLst>
              <a:ext uri="{FF2B5EF4-FFF2-40B4-BE49-F238E27FC236}">
                <a16:creationId xmlns:a16="http://schemas.microsoft.com/office/drawing/2014/main" id="{1610D620-F786-B06C-D87E-570704D2A973}"/>
              </a:ext>
            </a:extLst>
          </p:cNvPr>
          <p:cNvGraphicFramePr>
            <a:graphicFrameLocks/>
          </p:cNvGraphicFramePr>
          <p:nvPr/>
        </p:nvGraphicFramePr>
        <p:xfrm>
          <a:off x="1751288" y="2089932"/>
          <a:ext cx="4428000" cy="3168000"/>
        </p:xfrm>
        <a:graphic>
          <a:graphicData uri="http://schemas.openxmlformats.org/drawingml/2006/chart">
            <c:chart xmlns:c="http://schemas.openxmlformats.org/drawingml/2006/chart" xmlns:r="http://schemas.openxmlformats.org/officeDocument/2006/relationships" r:id="rId2"/>
          </a:graphicData>
        </a:graphic>
      </p:graphicFrame>
      <p:sp>
        <p:nvSpPr>
          <p:cNvPr id="25" name="Rectangle: Diagonal Corners Rounded 24">
            <a:extLst>
              <a:ext uri="{FF2B5EF4-FFF2-40B4-BE49-F238E27FC236}">
                <a16:creationId xmlns:a16="http://schemas.microsoft.com/office/drawing/2014/main" id="{F9D7D05E-721C-4B2D-148A-FF7505B6E489}"/>
              </a:ext>
            </a:extLst>
          </p:cNvPr>
          <p:cNvSpPr/>
          <p:nvPr/>
        </p:nvSpPr>
        <p:spPr>
          <a:xfrm>
            <a:off x="6860652" y="1647742"/>
            <a:ext cx="3743766" cy="2070372"/>
          </a:xfrm>
          <a:prstGeom prst="round2DiagRect">
            <a:avLst/>
          </a:prstGeom>
          <a:solidFill>
            <a:srgbClr val="16586B"/>
          </a:solidFill>
          <a:ln w="76200">
            <a:solidFill>
              <a:srgbClr val="16586B">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2500" dirty="0">
                <a:latin typeface="Inter  "/>
              </a:rPr>
              <a:t>🏆</a:t>
            </a:r>
          </a:p>
          <a:p>
            <a:pPr algn="ctr">
              <a:lnSpc>
                <a:spcPct val="150000"/>
              </a:lnSpc>
            </a:pPr>
            <a:r>
              <a:rPr lang="en-US" sz="1200" cap="all" dirty="0">
                <a:solidFill>
                  <a:srgbClr val="6EE7B7"/>
                </a:solidFill>
                <a:latin typeface="Inter  "/>
              </a:rPr>
              <a:t>Long-Term Winner</a:t>
            </a:r>
          </a:p>
          <a:p>
            <a:pPr algn="ctr">
              <a:lnSpc>
                <a:spcPct val="150000"/>
              </a:lnSpc>
            </a:pPr>
            <a:r>
              <a:rPr lang="en-US" b="1" dirty="0">
                <a:latin typeface="Inter  "/>
              </a:rPr>
              <a:t>☀️ Solar PV (GB)</a:t>
            </a:r>
          </a:p>
          <a:p>
            <a:pPr algn="ctr">
              <a:lnSpc>
                <a:spcPct val="150000"/>
              </a:lnSpc>
            </a:pPr>
            <a:r>
              <a:rPr lang="en-US" sz="1200" dirty="0">
                <a:solidFill>
                  <a:schemeClr val="bg2"/>
                </a:solidFill>
                <a:latin typeface="Inter  "/>
              </a:rPr>
              <a:t>Overtakes onshore wind post-2029 and maintains higher capture prices through 2050</a:t>
            </a:r>
          </a:p>
          <a:p>
            <a:pPr algn="ctr">
              <a:lnSpc>
                <a:spcPct val="150000"/>
              </a:lnSpc>
            </a:pPr>
            <a:endParaRPr lang="en-US" sz="1200" dirty="0">
              <a:solidFill>
                <a:schemeClr val="bg2"/>
              </a:solidFill>
              <a:latin typeface="Inter  "/>
            </a:endParaRPr>
          </a:p>
        </p:txBody>
      </p:sp>
      <p:sp>
        <p:nvSpPr>
          <p:cNvPr id="26" name="Rectangle: Diagonal Corners Rounded 25">
            <a:extLst>
              <a:ext uri="{FF2B5EF4-FFF2-40B4-BE49-F238E27FC236}">
                <a16:creationId xmlns:a16="http://schemas.microsoft.com/office/drawing/2014/main" id="{72C29DD5-0A47-7EC8-A5DB-9B03B7E2F656}"/>
              </a:ext>
            </a:extLst>
          </p:cNvPr>
          <p:cNvSpPr/>
          <p:nvPr/>
        </p:nvSpPr>
        <p:spPr>
          <a:xfrm>
            <a:off x="6788644" y="3907064"/>
            <a:ext cx="3744000" cy="1637242"/>
          </a:xfrm>
          <a:prstGeom prst="round2DiagRect">
            <a:avLst/>
          </a:prstGeom>
          <a:solidFill>
            <a:srgbClr val="1A4877"/>
          </a:solidFill>
          <a:ln w="76200">
            <a:solidFill>
              <a:srgbClr val="1A4877">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200" b="1" dirty="0">
                <a:latin typeface="Inter  "/>
              </a:rPr>
              <a:t>       Long Term-Median Capture Price</a:t>
            </a:r>
          </a:p>
          <a:p>
            <a:pPr algn="ctr">
              <a:lnSpc>
                <a:spcPct val="150000"/>
              </a:lnSpc>
            </a:pPr>
            <a:r>
              <a:rPr lang="en-US" sz="1200" b="1" dirty="0">
                <a:latin typeface="Inter  "/>
              </a:rPr>
              <a:t>     </a:t>
            </a:r>
            <a:r>
              <a:rPr lang="en-US" sz="1200" b="1" dirty="0">
                <a:solidFill>
                  <a:srgbClr val="00B0F0"/>
                </a:solidFill>
                <a:latin typeface="Inter  "/>
              </a:rPr>
              <a:t>€50                                      </a:t>
            </a:r>
            <a:r>
              <a:rPr lang="en-US" sz="1200" b="1" dirty="0">
                <a:solidFill>
                  <a:srgbClr val="FFC000"/>
                </a:solidFill>
                <a:latin typeface="Inter  "/>
              </a:rPr>
              <a:t>€53      </a:t>
            </a:r>
          </a:p>
          <a:p>
            <a:pPr algn="ctr">
              <a:lnSpc>
                <a:spcPct val="150000"/>
              </a:lnSpc>
            </a:pPr>
            <a:r>
              <a:rPr lang="en-US" sz="1200" dirty="0">
                <a:latin typeface="Inter  "/>
              </a:rPr>
              <a:t>            Solar PV                     Onshore Wind</a:t>
            </a:r>
          </a:p>
          <a:p>
            <a:pPr algn="ctr">
              <a:lnSpc>
                <a:spcPct val="150000"/>
              </a:lnSpc>
            </a:pPr>
            <a:endParaRPr lang="en-US" sz="1200" dirty="0">
              <a:latin typeface="Inter  "/>
            </a:endParaRPr>
          </a:p>
          <a:p>
            <a:pPr algn="ctr">
              <a:lnSpc>
                <a:spcPct val="150000"/>
              </a:lnSpc>
            </a:pPr>
            <a:endParaRPr lang="en-US" sz="1200" dirty="0">
              <a:latin typeface="Inter  "/>
            </a:endParaRPr>
          </a:p>
        </p:txBody>
      </p:sp>
      <p:sp>
        <p:nvSpPr>
          <p:cNvPr id="32" name="Rectangle: Rounded Corners 31">
            <a:extLst>
              <a:ext uri="{FF2B5EF4-FFF2-40B4-BE49-F238E27FC236}">
                <a16:creationId xmlns:a16="http://schemas.microsoft.com/office/drawing/2014/main" id="{C40720CA-0200-9704-6AAD-51279C37164B}"/>
              </a:ext>
            </a:extLst>
          </p:cNvPr>
          <p:cNvSpPr/>
          <p:nvPr/>
        </p:nvSpPr>
        <p:spPr>
          <a:xfrm>
            <a:off x="7616531" y="5117688"/>
            <a:ext cx="2160000" cy="270030"/>
          </a:xfrm>
          <a:prstGeom prst="roundRect">
            <a:avLst>
              <a:gd name="adj" fmla="val 50000"/>
            </a:avLst>
          </a:prstGeom>
          <a:solidFill>
            <a:srgbClr val="FFC000">
              <a:alpha val="50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latin typeface="Inter" panose="02000503000000020004" pitchFamily="2" charset="0"/>
                <a:ea typeface="Inter" panose="02000503000000020004" pitchFamily="2" charset="0"/>
              </a:rPr>
              <a:t>Wind is +3% higher Overall</a:t>
            </a:r>
            <a:endParaRPr lang="en-US" sz="1100" dirty="0">
              <a:latin typeface="Inter" panose="02000503000000020004" pitchFamily="2" charset="0"/>
              <a:ea typeface="Inter" panose="02000503000000020004" pitchFamily="2" charset="0"/>
            </a:endParaRPr>
          </a:p>
        </p:txBody>
      </p:sp>
      <p:sp>
        <p:nvSpPr>
          <p:cNvPr id="33" name="Rectangle: Diagonal Corners Rounded 32">
            <a:extLst>
              <a:ext uri="{FF2B5EF4-FFF2-40B4-BE49-F238E27FC236}">
                <a16:creationId xmlns:a16="http://schemas.microsoft.com/office/drawing/2014/main" id="{C061C08A-8C6A-3414-73D5-816C61AFE416}"/>
              </a:ext>
            </a:extLst>
          </p:cNvPr>
          <p:cNvSpPr/>
          <p:nvPr/>
        </p:nvSpPr>
        <p:spPr>
          <a:xfrm>
            <a:off x="1578125" y="5652438"/>
            <a:ext cx="9019621" cy="1074320"/>
          </a:xfrm>
          <a:prstGeom prst="round2DiagRect">
            <a:avLst/>
          </a:prstGeom>
          <a:solidFill>
            <a:srgbClr val="16586B"/>
          </a:solidFill>
          <a:ln w="76200">
            <a:solidFill>
              <a:srgbClr val="16586B">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1200" dirty="0">
                <a:solidFill>
                  <a:srgbClr val="000000"/>
                </a:solidFill>
                <a:latin typeface="Inter  "/>
              </a:rPr>
              <a:t>💡</a:t>
            </a:r>
            <a:r>
              <a:rPr lang="en-US" sz="1200" b="1" cap="all" dirty="0">
                <a:solidFill>
                  <a:srgbClr val="FBBF24"/>
                </a:solidFill>
                <a:latin typeface="Inter  "/>
              </a:rPr>
              <a:t>  Strategic Insight</a:t>
            </a:r>
          </a:p>
          <a:p>
            <a:pPr>
              <a:lnSpc>
                <a:spcPct val="150000"/>
              </a:lnSpc>
              <a:spcAft>
                <a:spcPts val="750"/>
              </a:spcAft>
            </a:pPr>
            <a:r>
              <a:rPr lang="en-US" sz="1200" dirty="0">
                <a:solidFill>
                  <a:srgbClr val="FFFFFF"/>
                </a:solidFill>
                <a:latin typeface="Inter  "/>
              </a:rPr>
              <a:t>While </a:t>
            </a:r>
            <a:r>
              <a:rPr lang="en-US" sz="1200" b="1" dirty="0">
                <a:solidFill>
                  <a:srgbClr val="FBBF24"/>
                </a:solidFill>
                <a:latin typeface="Inter  "/>
              </a:rPr>
              <a:t>onshore wind (DE)</a:t>
            </a:r>
            <a:r>
              <a:rPr lang="en-US" sz="1200" dirty="0">
                <a:solidFill>
                  <a:srgbClr val="FFFFFF"/>
                </a:solidFill>
                <a:latin typeface="Inter  "/>
              </a:rPr>
              <a:t> shows higher capture prices initially and maintains a </a:t>
            </a:r>
            <a:r>
              <a:rPr lang="en-US" sz="1200" b="1" dirty="0">
                <a:solidFill>
                  <a:srgbClr val="FBBF24"/>
                </a:solidFill>
                <a:latin typeface="Inter  "/>
              </a:rPr>
              <a:t>3% median advantage</a:t>
            </a:r>
            <a:r>
              <a:rPr lang="en-US" sz="1200" dirty="0">
                <a:solidFill>
                  <a:srgbClr val="FFFFFF"/>
                </a:solidFill>
                <a:latin typeface="Inter  "/>
              </a:rPr>
              <a:t>, </a:t>
            </a:r>
            <a:r>
              <a:rPr lang="en-US" sz="1200" b="1" dirty="0">
                <a:solidFill>
                  <a:srgbClr val="FBBF24"/>
                </a:solidFill>
                <a:latin typeface="Inter  "/>
              </a:rPr>
              <a:t>solar PV (GB)</a:t>
            </a:r>
            <a:r>
              <a:rPr lang="en-US" sz="1200" dirty="0">
                <a:solidFill>
                  <a:srgbClr val="FFFFFF"/>
                </a:solidFill>
                <a:latin typeface="Inter  "/>
              </a:rPr>
              <a:t> becomes more valuable from 2029 onwards, making it the </a:t>
            </a:r>
            <a:r>
              <a:rPr lang="en-US" sz="1200" b="1" dirty="0">
                <a:solidFill>
                  <a:srgbClr val="FBBF24"/>
                </a:solidFill>
                <a:latin typeface="Inter  "/>
              </a:rPr>
              <a:t>superior long-term investment</a:t>
            </a:r>
            <a:r>
              <a:rPr lang="en-US" sz="1200" dirty="0">
                <a:solidFill>
                  <a:srgbClr val="FFFFFF"/>
                </a:solidFill>
                <a:latin typeface="Inter  "/>
              </a:rPr>
              <a:t> from a capture price perspective</a:t>
            </a:r>
          </a:p>
        </p:txBody>
      </p:sp>
    </p:spTree>
    <p:extLst>
      <p:ext uri="{BB962C8B-B14F-4D97-AF65-F5344CB8AC3E}">
        <p14:creationId xmlns:p14="http://schemas.microsoft.com/office/powerpoint/2010/main" val="1073432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700"/>
                            </p:stCondLst>
                            <p:childTnLst>
                              <p:par>
                                <p:cTn id="9" presetID="10" presetClass="entr" presetSubtype="0" fill="hold" grpId="0" nodeType="afterEffect">
                                  <p:stCondLst>
                                    <p:cond delay="2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400"/>
                            </p:stCondLst>
                            <p:childTnLst>
                              <p:par>
                                <p:cTn id="13" presetID="10" presetClass="entr" presetSubtype="0" fill="hold" nodeType="after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2100"/>
                            </p:stCondLst>
                            <p:childTnLst>
                              <p:par>
                                <p:cTn id="17" presetID="22" presetClass="entr" presetSubtype="8" fill="hold" grpId="0" nodeType="afterEffect">
                                  <p:stCondLst>
                                    <p:cond delay="0"/>
                                  </p:stCondLst>
                                  <p:childTnLst>
                                    <p:set>
                                      <p:cBhvr>
                                        <p:cTn id="18" dur="1" fill="hold">
                                          <p:stCondLst>
                                            <p:cond delay="0"/>
                                          </p:stCondLst>
                                        </p:cTn>
                                        <p:tgtEl>
                                          <p:spTgt spid="24">
                                            <p:graphicEl>
                                              <a:chart seriesIdx="-3" categoryIdx="-3" bldStep="gridLegend"/>
                                            </p:graphicEl>
                                          </p:spTgt>
                                        </p:tgtEl>
                                        <p:attrNameLst>
                                          <p:attrName>style.visibility</p:attrName>
                                        </p:attrNameLst>
                                      </p:cBhvr>
                                      <p:to>
                                        <p:strVal val="visible"/>
                                      </p:to>
                                    </p:set>
                                    <p:animEffect transition="in" filter="wipe(left)">
                                      <p:cBhvr>
                                        <p:cTn id="19" dur="1200"/>
                                        <p:tgtEl>
                                          <p:spTgt spid="24">
                                            <p:graphicEl>
                                              <a:chart seriesIdx="-3" categoryIdx="-3" bldStep="gridLegend"/>
                                            </p:graphic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4">
                                            <p:graphicEl>
                                              <a:chart seriesIdx="0" categoryIdx="-4" bldStep="series"/>
                                            </p:graphicEl>
                                          </p:spTgt>
                                        </p:tgtEl>
                                        <p:attrNameLst>
                                          <p:attrName>style.visibility</p:attrName>
                                        </p:attrNameLst>
                                      </p:cBhvr>
                                      <p:to>
                                        <p:strVal val="visible"/>
                                      </p:to>
                                    </p:set>
                                    <p:animEffect transition="in" filter="wipe(left)">
                                      <p:cBhvr>
                                        <p:cTn id="24" dur="1200"/>
                                        <p:tgtEl>
                                          <p:spTgt spid="24">
                                            <p:graphicEl>
                                              <a:chart seriesIdx="0" categoryIdx="-4" bldStep="series"/>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4">
                                            <p:graphicEl>
                                              <a:chart seriesIdx="1" categoryIdx="-4" bldStep="series"/>
                                            </p:graphicEl>
                                          </p:spTgt>
                                        </p:tgtEl>
                                        <p:attrNameLst>
                                          <p:attrName>style.visibility</p:attrName>
                                        </p:attrNameLst>
                                      </p:cBhvr>
                                      <p:to>
                                        <p:strVal val="visible"/>
                                      </p:to>
                                    </p:set>
                                    <p:animEffect transition="in" filter="wipe(left)">
                                      <p:cBhvr>
                                        <p:cTn id="29" dur="1200"/>
                                        <p:tgtEl>
                                          <p:spTgt spid="24">
                                            <p:graphicEl>
                                              <a:chart seriesIdx="1" categoryIdx="-4" bldStep="series"/>
                                            </p:graphicEl>
                                          </p:spTgt>
                                        </p:tgtEl>
                                      </p:cBhvr>
                                    </p:animEffect>
                                  </p:childTnLst>
                                </p:cTn>
                              </p:par>
                            </p:childTnLst>
                          </p:cTn>
                        </p:par>
                        <p:par>
                          <p:cTn id="30" fill="hold">
                            <p:stCondLst>
                              <p:cond delay="1200"/>
                            </p:stCondLst>
                            <p:childTnLst>
                              <p:par>
                                <p:cTn id="31" presetID="10" presetClass="entr" presetSubtype="0" fill="hold" grpId="0" nodeType="after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mph" presetSubtype="0" decel="7000" fill="hold" grpId="1" nodeType="clickEffect">
                                  <p:stCondLst>
                                    <p:cond delay="0"/>
                                  </p:stCondLst>
                                  <p:childTnLst>
                                    <p:animScale>
                                      <p:cBhvr>
                                        <p:cTn id="37" dur="2000" fill="hold"/>
                                        <p:tgtEl>
                                          <p:spTgt spid="25"/>
                                        </p:tgtEl>
                                      </p:cBhvr>
                                      <p:by x="110000" y="110000"/>
                                    </p:animScale>
                                  </p:childTnLst>
                                </p:cTn>
                              </p:par>
                            </p:childTnLst>
                          </p:cTn>
                        </p:par>
                        <p:par>
                          <p:cTn id="38" fill="hold">
                            <p:stCondLst>
                              <p:cond delay="2000"/>
                            </p:stCondLst>
                            <p:childTnLst>
                              <p:par>
                                <p:cTn id="39" presetID="42" presetClass="entr" presetSubtype="0" fill="hold" grpId="0" nodeType="afterEffect">
                                  <p:stCondLst>
                                    <p:cond delay="0"/>
                                  </p:stCondLst>
                                  <p:childTnLst>
                                    <p:set>
                                      <p:cBhvr>
                                        <p:cTn id="40" dur="1" fill="hold">
                                          <p:stCondLst>
                                            <p:cond delay="0"/>
                                          </p:stCondLst>
                                        </p:cTn>
                                        <p:tgtEl>
                                          <p:spTgt spid="26">
                                            <p:bg/>
                                          </p:spTgt>
                                        </p:tgtEl>
                                        <p:attrNameLst>
                                          <p:attrName>style.visibility</p:attrName>
                                        </p:attrNameLst>
                                      </p:cBhvr>
                                      <p:to>
                                        <p:strVal val="visible"/>
                                      </p:to>
                                    </p:set>
                                    <p:animEffect transition="in" filter="fade">
                                      <p:cBhvr>
                                        <p:cTn id="41" dur="500"/>
                                        <p:tgtEl>
                                          <p:spTgt spid="26">
                                            <p:bg/>
                                          </p:spTgt>
                                        </p:tgtEl>
                                      </p:cBhvr>
                                    </p:animEffect>
                                    <p:anim calcmode="lin" valueType="num">
                                      <p:cBhvr>
                                        <p:cTn id="42" dur="500" fill="hold"/>
                                        <p:tgtEl>
                                          <p:spTgt spid="26">
                                            <p:bg/>
                                          </p:spTgt>
                                        </p:tgtEl>
                                        <p:attrNameLst>
                                          <p:attrName>ppt_x</p:attrName>
                                        </p:attrNameLst>
                                      </p:cBhvr>
                                      <p:tavLst>
                                        <p:tav tm="0">
                                          <p:val>
                                            <p:strVal val="#ppt_x"/>
                                          </p:val>
                                        </p:tav>
                                        <p:tav tm="100000">
                                          <p:val>
                                            <p:strVal val="#ppt_x"/>
                                          </p:val>
                                        </p:tav>
                                      </p:tavLst>
                                    </p:anim>
                                    <p:anim calcmode="lin" valueType="num">
                                      <p:cBhvr>
                                        <p:cTn id="43" dur="500" fill="hold"/>
                                        <p:tgtEl>
                                          <p:spTgt spid="26">
                                            <p:bg/>
                                          </p:spTgt>
                                        </p:tgtEl>
                                        <p:attrNameLst>
                                          <p:attrName>ppt_y</p:attrName>
                                        </p:attrNameLst>
                                      </p:cBhvr>
                                      <p:tavLst>
                                        <p:tav tm="0">
                                          <p:val>
                                            <p:strVal val="#ppt_y+.1"/>
                                          </p:val>
                                        </p:tav>
                                        <p:tav tm="100000">
                                          <p:val>
                                            <p:strVal val="#ppt_y"/>
                                          </p:val>
                                        </p:tav>
                                      </p:tavLst>
                                    </p:anim>
                                  </p:childTnLst>
                                </p:cTn>
                              </p:par>
                            </p:childTnLst>
                          </p:cTn>
                        </p:par>
                        <p:par>
                          <p:cTn id="44" fill="hold">
                            <p:stCondLst>
                              <p:cond delay="2500"/>
                            </p:stCondLst>
                            <p:childTnLst>
                              <p:par>
                                <p:cTn id="45" presetID="42" presetClass="entr" presetSubtype="0" fill="hold" grpId="0" nodeType="afterEffect">
                                  <p:stCondLst>
                                    <p:cond delay="0"/>
                                  </p:stCondLst>
                                  <p:childTnLst>
                                    <p:set>
                                      <p:cBhvr>
                                        <p:cTn id="46" dur="1" fill="hold">
                                          <p:stCondLst>
                                            <p:cond delay="0"/>
                                          </p:stCondLst>
                                        </p:cTn>
                                        <p:tgtEl>
                                          <p:spTgt spid="26">
                                            <p:txEl>
                                              <p:pRg st="0" end="0"/>
                                            </p:txEl>
                                          </p:spTgt>
                                        </p:tgtEl>
                                        <p:attrNameLst>
                                          <p:attrName>style.visibility</p:attrName>
                                        </p:attrNameLst>
                                      </p:cBhvr>
                                      <p:to>
                                        <p:strVal val="visible"/>
                                      </p:to>
                                    </p:set>
                                    <p:animEffect transition="in" filter="fade">
                                      <p:cBhvr>
                                        <p:cTn id="47" dur="500"/>
                                        <p:tgtEl>
                                          <p:spTgt spid="26">
                                            <p:txEl>
                                              <p:pRg st="0" end="0"/>
                                            </p:txEl>
                                          </p:spTgt>
                                        </p:tgtEl>
                                      </p:cBhvr>
                                    </p:animEffect>
                                    <p:anim calcmode="lin" valueType="num">
                                      <p:cBhvr>
                                        <p:cTn id="48"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49" dur="500" fill="hold"/>
                                        <p:tgtEl>
                                          <p:spTgt spid="26">
                                            <p:txEl>
                                              <p:pRg st="0" end="0"/>
                                            </p:txEl>
                                          </p:spTgt>
                                        </p:tgtEl>
                                        <p:attrNameLst>
                                          <p:attrName>ppt_y</p:attrName>
                                        </p:attrNameLst>
                                      </p:cBhvr>
                                      <p:tavLst>
                                        <p:tav tm="0">
                                          <p:val>
                                            <p:strVal val="#ppt_y+.1"/>
                                          </p:val>
                                        </p:tav>
                                        <p:tav tm="100000">
                                          <p:val>
                                            <p:strVal val="#ppt_y"/>
                                          </p:val>
                                        </p:tav>
                                      </p:tavLst>
                                    </p:anim>
                                  </p:childTnLst>
                                </p:cTn>
                              </p:par>
                            </p:childTnLst>
                          </p:cTn>
                        </p:par>
                        <p:par>
                          <p:cTn id="50" fill="hold">
                            <p:stCondLst>
                              <p:cond delay="3000"/>
                            </p:stCondLst>
                            <p:childTnLst>
                              <p:par>
                                <p:cTn id="51" presetID="42" presetClass="entr" presetSubtype="0" fill="hold" grpId="0" nodeType="afterEffect">
                                  <p:stCondLst>
                                    <p:cond delay="0"/>
                                  </p:stCondLst>
                                  <p:childTnLst>
                                    <p:set>
                                      <p:cBhvr>
                                        <p:cTn id="52" dur="1" fill="hold">
                                          <p:stCondLst>
                                            <p:cond delay="0"/>
                                          </p:stCondLst>
                                        </p:cTn>
                                        <p:tgtEl>
                                          <p:spTgt spid="26">
                                            <p:txEl>
                                              <p:pRg st="1" end="1"/>
                                            </p:txEl>
                                          </p:spTgt>
                                        </p:tgtEl>
                                        <p:attrNameLst>
                                          <p:attrName>style.visibility</p:attrName>
                                        </p:attrNameLst>
                                      </p:cBhvr>
                                      <p:to>
                                        <p:strVal val="visible"/>
                                      </p:to>
                                    </p:set>
                                    <p:animEffect transition="in" filter="fade">
                                      <p:cBhvr>
                                        <p:cTn id="53" dur="500"/>
                                        <p:tgtEl>
                                          <p:spTgt spid="26">
                                            <p:txEl>
                                              <p:pRg st="1" end="1"/>
                                            </p:txEl>
                                          </p:spTgt>
                                        </p:tgtEl>
                                      </p:cBhvr>
                                    </p:animEffect>
                                    <p:anim calcmode="lin" valueType="num">
                                      <p:cBhvr>
                                        <p:cTn id="54" dur="500" fill="hold"/>
                                        <p:tgtEl>
                                          <p:spTgt spid="26">
                                            <p:txEl>
                                              <p:pRg st="1" end="1"/>
                                            </p:txEl>
                                          </p:spTgt>
                                        </p:tgtEl>
                                        <p:attrNameLst>
                                          <p:attrName>ppt_x</p:attrName>
                                        </p:attrNameLst>
                                      </p:cBhvr>
                                      <p:tavLst>
                                        <p:tav tm="0">
                                          <p:val>
                                            <p:strVal val="#ppt_x"/>
                                          </p:val>
                                        </p:tav>
                                        <p:tav tm="100000">
                                          <p:val>
                                            <p:strVal val="#ppt_x"/>
                                          </p:val>
                                        </p:tav>
                                      </p:tavLst>
                                    </p:anim>
                                    <p:anim calcmode="lin" valueType="num">
                                      <p:cBhvr>
                                        <p:cTn id="55" dur="500" fill="hold"/>
                                        <p:tgtEl>
                                          <p:spTgt spid="26">
                                            <p:txEl>
                                              <p:pRg st="1" end="1"/>
                                            </p:txEl>
                                          </p:spTgt>
                                        </p:tgtEl>
                                        <p:attrNameLst>
                                          <p:attrName>ppt_y</p:attrName>
                                        </p:attrNameLst>
                                      </p:cBhvr>
                                      <p:tavLst>
                                        <p:tav tm="0">
                                          <p:val>
                                            <p:strVal val="#ppt_y+.1"/>
                                          </p:val>
                                        </p:tav>
                                        <p:tav tm="100000">
                                          <p:val>
                                            <p:strVal val="#ppt_y"/>
                                          </p:val>
                                        </p:tav>
                                      </p:tavLst>
                                    </p:anim>
                                  </p:childTnLst>
                                </p:cTn>
                              </p:par>
                            </p:childTnLst>
                          </p:cTn>
                        </p:par>
                        <p:par>
                          <p:cTn id="56" fill="hold">
                            <p:stCondLst>
                              <p:cond delay="3500"/>
                            </p:stCondLst>
                            <p:childTnLst>
                              <p:par>
                                <p:cTn id="57" presetID="42" presetClass="entr" presetSubtype="0" fill="hold" grpId="0" nodeType="afterEffect">
                                  <p:stCondLst>
                                    <p:cond delay="0"/>
                                  </p:stCondLst>
                                  <p:childTnLst>
                                    <p:set>
                                      <p:cBhvr>
                                        <p:cTn id="58" dur="1" fill="hold">
                                          <p:stCondLst>
                                            <p:cond delay="0"/>
                                          </p:stCondLst>
                                        </p:cTn>
                                        <p:tgtEl>
                                          <p:spTgt spid="26">
                                            <p:txEl>
                                              <p:pRg st="2" end="2"/>
                                            </p:txEl>
                                          </p:spTgt>
                                        </p:tgtEl>
                                        <p:attrNameLst>
                                          <p:attrName>style.visibility</p:attrName>
                                        </p:attrNameLst>
                                      </p:cBhvr>
                                      <p:to>
                                        <p:strVal val="visible"/>
                                      </p:to>
                                    </p:set>
                                    <p:animEffect transition="in" filter="fade">
                                      <p:cBhvr>
                                        <p:cTn id="59" dur="500"/>
                                        <p:tgtEl>
                                          <p:spTgt spid="26">
                                            <p:txEl>
                                              <p:pRg st="2" end="2"/>
                                            </p:txEl>
                                          </p:spTgt>
                                        </p:tgtEl>
                                      </p:cBhvr>
                                    </p:animEffect>
                                    <p:anim calcmode="lin" valueType="num">
                                      <p:cBhvr>
                                        <p:cTn id="60" dur="500" fill="hold"/>
                                        <p:tgtEl>
                                          <p:spTgt spid="26">
                                            <p:txEl>
                                              <p:pRg st="2" end="2"/>
                                            </p:txEl>
                                          </p:spTgt>
                                        </p:tgtEl>
                                        <p:attrNameLst>
                                          <p:attrName>ppt_x</p:attrName>
                                        </p:attrNameLst>
                                      </p:cBhvr>
                                      <p:tavLst>
                                        <p:tav tm="0">
                                          <p:val>
                                            <p:strVal val="#ppt_x"/>
                                          </p:val>
                                        </p:tav>
                                        <p:tav tm="100000">
                                          <p:val>
                                            <p:strVal val="#ppt_x"/>
                                          </p:val>
                                        </p:tav>
                                      </p:tavLst>
                                    </p:anim>
                                    <p:anim calcmode="lin" valueType="num">
                                      <p:cBhvr>
                                        <p:cTn id="61" dur="500" fill="hold"/>
                                        <p:tgtEl>
                                          <p:spTgt spid="26">
                                            <p:txEl>
                                              <p:pRg st="2" end="2"/>
                                            </p:txEl>
                                          </p:spTgt>
                                        </p:tgtEl>
                                        <p:attrNameLst>
                                          <p:attrName>ppt_y</p:attrName>
                                        </p:attrNameLst>
                                      </p:cBhvr>
                                      <p:tavLst>
                                        <p:tav tm="0">
                                          <p:val>
                                            <p:strVal val="#ppt_y+.1"/>
                                          </p:val>
                                        </p:tav>
                                        <p:tav tm="100000">
                                          <p:val>
                                            <p:strVal val="#ppt_y"/>
                                          </p:val>
                                        </p:tav>
                                      </p:tavLst>
                                    </p:anim>
                                  </p:childTnLst>
                                </p:cTn>
                              </p:par>
                            </p:childTnLst>
                          </p:cTn>
                        </p:par>
                        <p:par>
                          <p:cTn id="62" fill="hold">
                            <p:stCondLst>
                              <p:cond delay="4000"/>
                            </p:stCondLst>
                            <p:childTnLst>
                              <p:par>
                                <p:cTn id="63" presetID="42" presetClass="entr" presetSubtype="0" fill="hold" grpId="0" nodeType="afterEffect">
                                  <p:stCondLst>
                                    <p:cond delay="10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150"/>
                                        <p:tgtEl>
                                          <p:spTgt spid="32"/>
                                        </p:tgtEl>
                                      </p:cBhvr>
                                    </p:animEffect>
                                    <p:anim calcmode="lin" valueType="num">
                                      <p:cBhvr>
                                        <p:cTn id="66" dur="150" fill="hold"/>
                                        <p:tgtEl>
                                          <p:spTgt spid="32"/>
                                        </p:tgtEl>
                                        <p:attrNameLst>
                                          <p:attrName>ppt_x</p:attrName>
                                        </p:attrNameLst>
                                      </p:cBhvr>
                                      <p:tavLst>
                                        <p:tav tm="0">
                                          <p:val>
                                            <p:strVal val="#ppt_x"/>
                                          </p:val>
                                        </p:tav>
                                        <p:tav tm="100000">
                                          <p:val>
                                            <p:strVal val="#ppt_x"/>
                                          </p:val>
                                        </p:tav>
                                      </p:tavLst>
                                    </p:anim>
                                    <p:anim calcmode="lin" valueType="num">
                                      <p:cBhvr>
                                        <p:cTn id="67" dur="150" fill="hold"/>
                                        <p:tgtEl>
                                          <p:spTgt spid="32"/>
                                        </p:tgtEl>
                                        <p:attrNameLst>
                                          <p:attrName>ppt_y</p:attrName>
                                        </p:attrNameLst>
                                      </p:cBhvr>
                                      <p:tavLst>
                                        <p:tav tm="0">
                                          <p:val>
                                            <p:strVal val="#ppt_y+.1"/>
                                          </p:val>
                                        </p:tav>
                                        <p:tav tm="100000">
                                          <p:val>
                                            <p:strVal val="#ppt_y"/>
                                          </p:val>
                                        </p:tav>
                                      </p:tavLst>
                                    </p:anim>
                                  </p:childTnLst>
                                </p:cTn>
                              </p:par>
                            </p:childTnLst>
                          </p:cTn>
                        </p:par>
                        <p:par>
                          <p:cTn id="68" fill="hold">
                            <p:stCondLst>
                              <p:cond delay="4250"/>
                            </p:stCondLst>
                            <p:childTnLst>
                              <p:par>
                                <p:cTn id="69" presetID="42" presetClass="entr" presetSubtype="0" fill="hold" grpId="0" nodeType="afterEffect">
                                  <p:stCondLst>
                                    <p:cond delay="0"/>
                                  </p:stCondLst>
                                  <p:childTnLst>
                                    <p:set>
                                      <p:cBhvr>
                                        <p:cTn id="70" dur="1" fill="hold">
                                          <p:stCondLst>
                                            <p:cond delay="0"/>
                                          </p:stCondLst>
                                        </p:cTn>
                                        <p:tgtEl>
                                          <p:spTgt spid="33">
                                            <p:bg/>
                                          </p:spTgt>
                                        </p:tgtEl>
                                        <p:attrNameLst>
                                          <p:attrName>style.visibility</p:attrName>
                                        </p:attrNameLst>
                                      </p:cBhvr>
                                      <p:to>
                                        <p:strVal val="visible"/>
                                      </p:to>
                                    </p:set>
                                    <p:animEffect transition="in" filter="fade">
                                      <p:cBhvr>
                                        <p:cTn id="71" dur="500"/>
                                        <p:tgtEl>
                                          <p:spTgt spid="33">
                                            <p:bg/>
                                          </p:spTgt>
                                        </p:tgtEl>
                                      </p:cBhvr>
                                    </p:animEffect>
                                    <p:anim calcmode="lin" valueType="num">
                                      <p:cBhvr>
                                        <p:cTn id="72" dur="500" fill="hold"/>
                                        <p:tgtEl>
                                          <p:spTgt spid="33">
                                            <p:bg/>
                                          </p:spTgt>
                                        </p:tgtEl>
                                        <p:attrNameLst>
                                          <p:attrName>ppt_x</p:attrName>
                                        </p:attrNameLst>
                                      </p:cBhvr>
                                      <p:tavLst>
                                        <p:tav tm="0">
                                          <p:val>
                                            <p:strVal val="#ppt_x"/>
                                          </p:val>
                                        </p:tav>
                                        <p:tav tm="100000">
                                          <p:val>
                                            <p:strVal val="#ppt_x"/>
                                          </p:val>
                                        </p:tav>
                                      </p:tavLst>
                                    </p:anim>
                                    <p:anim calcmode="lin" valueType="num">
                                      <p:cBhvr>
                                        <p:cTn id="73" dur="500" fill="hold"/>
                                        <p:tgtEl>
                                          <p:spTgt spid="33">
                                            <p:bg/>
                                          </p:spTgt>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33">
                                            <p:txEl>
                                              <p:pRg st="0" end="0"/>
                                            </p:txEl>
                                          </p:spTgt>
                                        </p:tgtEl>
                                        <p:attrNameLst>
                                          <p:attrName>style.visibility</p:attrName>
                                        </p:attrNameLst>
                                      </p:cBhvr>
                                      <p:to>
                                        <p:strVal val="visible"/>
                                      </p:to>
                                    </p:set>
                                    <p:animEffect transition="in" filter="fade">
                                      <p:cBhvr>
                                        <p:cTn id="78" dur="500"/>
                                        <p:tgtEl>
                                          <p:spTgt spid="33">
                                            <p:txEl>
                                              <p:pRg st="0" end="0"/>
                                            </p:txEl>
                                          </p:spTgt>
                                        </p:tgtEl>
                                      </p:cBhvr>
                                    </p:animEffect>
                                    <p:anim calcmode="lin" valueType="num">
                                      <p:cBhvr>
                                        <p:cTn id="79" dur="500" fill="hold"/>
                                        <p:tgtEl>
                                          <p:spTgt spid="33">
                                            <p:txEl>
                                              <p:pRg st="0" end="0"/>
                                            </p:txEl>
                                          </p:spTgt>
                                        </p:tgtEl>
                                        <p:attrNameLst>
                                          <p:attrName>ppt_x</p:attrName>
                                        </p:attrNameLst>
                                      </p:cBhvr>
                                      <p:tavLst>
                                        <p:tav tm="0">
                                          <p:val>
                                            <p:strVal val="#ppt_x"/>
                                          </p:val>
                                        </p:tav>
                                        <p:tav tm="100000">
                                          <p:val>
                                            <p:strVal val="#ppt_x"/>
                                          </p:val>
                                        </p:tav>
                                      </p:tavLst>
                                    </p:anim>
                                    <p:anim calcmode="lin" valueType="num">
                                      <p:cBhvr>
                                        <p:cTn id="80" dur="500" fill="hold"/>
                                        <p:tgtEl>
                                          <p:spTgt spid="3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33">
                                            <p:txEl>
                                              <p:pRg st="1" end="1"/>
                                            </p:txEl>
                                          </p:spTgt>
                                        </p:tgtEl>
                                        <p:attrNameLst>
                                          <p:attrName>style.visibility</p:attrName>
                                        </p:attrNameLst>
                                      </p:cBhvr>
                                      <p:to>
                                        <p:strVal val="visible"/>
                                      </p:to>
                                    </p:set>
                                    <p:animEffect transition="in" filter="fade">
                                      <p:cBhvr>
                                        <p:cTn id="85" dur="500"/>
                                        <p:tgtEl>
                                          <p:spTgt spid="33">
                                            <p:txEl>
                                              <p:pRg st="1" end="1"/>
                                            </p:txEl>
                                          </p:spTgt>
                                        </p:tgtEl>
                                      </p:cBhvr>
                                    </p:animEffect>
                                    <p:anim calcmode="lin" valueType="num">
                                      <p:cBhvr>
                                        <p:cTn id="86" dur="500" fill="hold"/>
                                        <p:tgtEl>
                                          <p:spTgt spid="33">
                                            <p:txEl>
                                              <p:pRg st="1" end="1"/>
                                            </p:txEl>
                                          </p:spTgt>
                                        </p:tgtEl>
                                        <p:attrNameLst>
                                          <p:attrName>ppt_x</p:attrName>
                                        </p:attrNameLst>
                                      </p:cBhvr>
                                      <p:tavLst>
                                        <p:tav tm="0">
                                          <p:val>
                                            <p:strVal val="#ppt_x"/>
                                          </p:val>
                                        </p:tav>
                                        <p:tav tm="100000">
                                          <p:val>
                                            <p:strVal val="#ppt_x"/>
                                          </p:val>
                                        </p:tav>
                                      </p:tavLst>
                                    </p:anim>
                                    <p:anim calcmode="lin" valueType="num">
                                      <p:cBhvr>
                                        <p:cTn id="87" dur="500" fill="hold"/>
                                        <p:tgtEl>
                                          <p:spTgt spid="3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Graphic spid="24" grpId="0">
        <p:bldSub>
          <a:bldChart bld="series"/>
        </p:bldSub>
      </p:bldGraphic>
      <p:bldP spid="25" grpId="0" animBg="1"/>
      <p:bldP spid="25" grpId="1" animBg="1"/>
      <p:bldP spid="26" grpId="0" build="p" animBg="1"/>
      <p:bldP spid="32" grpId="0" animBg="1"/>
      <p:bldP spid="33"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2F4C"/>
        </a:solidFill>
        <a:effectLst/>
      </p:bgPr>
    </p:bg>
    <p:spTree>
      <p:nvGrpSpPr>
        <p:cNvPr id="1" name="">
          <a:extLst>
            <a:ext uri="{FF2B5EF4-FFF2-40B4-BE49-F238E27FC236}">
              <a16:creationId xmlns:a16="http://schemas.microsoft.com/office/drawing/2014/main" id="{7CFD2B96-9EBC-5395-8C48-2CFE89BD08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0832F-16E8-8502-BA9B-B2E5159AAECA}"/>
              </a:ext>
            </a:extLst>
          </p:cNvPr>
          <p:cNvSpPr>
            <a:spLocks noGrp="1"/>
          </p:cNvSpPr>
          <p:nvPr>
            <p:ph type="title"/>
          </p:nvPr>
        </p:nvSpPr>
        <p:spPr>
          <a:xfrm>
            <a:off x="1586190" y="365126"/>
            <a:ext cx="9019621" cy="993502"/>
          </a:xfrm>
        </p:spPr>
        <p:txBody>
          <a:bodyPr>
            <a:noAutofit/>
          </a:bodyPr>
          <a:lstStyle/>
          <a:p>
            <a:pPr algn="ctr">
              <a:lnSpc>
                <a:spcPct val="150000"/>
              </a:lnSpc>
            </a:pPr>
            <a:r>
              <a:rPr lang="en-US" sz="2000" dirty="0">
                <a:solidFill>
                  <a:schemeClr val="bg1"/>
                </a:solidFill>
                <a:latin typeface="Inter ExtraBold" panose="02000503000000020004" pitchFamily="2" charset="0"/>
                <a:ea typeface="Inter ExtraBold" panose="02000503000000020004" pitchFamily="2" charset="0"/>
              </a:rPr>
              <a:t>Capture Price Trend </a:t>
            </a:r>
            <a:br>
              <a:rPr lang="en-US" sz="1600" dirty="0">
                <a:solidFill>
                  <a:srgbClr val="FFC000"/>
                </a:solidFill>
                <a:latin typeface="Inter ExtraBold" panose="02000503000000020004" pitchFamily="2" charset="0"/>
                <a:ea typeface="Inter ExtraBold" panose="02000503000000020004" pitchFamily="2" charset="0"/>
              </a:rPr>
            </a:br>
            <a:r>
              <a:rPr lang="en-US" sz="1600" i="1" dirty="0">
                <a:solidFill>
                  <a:srgbClr val="FFC000"/>
                </a:solidFill>
                <a:latin typeface="Inter ExtraBold" panose="02000503000000020004" pitchFamily="2" charset="0"/>
                <a:ea typeface="Inter ExtraBold" panose="02000503000000020004" pitchFamily="2" charset="0"/>
              </a:rPr>
              <a:t>From a capture price perspective, which technology offers better potential between solar PV in GB and onshore wind in DE? </a:t>
            </a:r>
          </a:p>
        </p:txBody>
      </p:sp>
      <p:sp>
        <p:nvSpPr>
          <p:cNvPr id="4" name="Rectangle: Rounded Corners 3">
            <a:extLst>
              <a:ext uri="{FF2B5EF4-FFF2-40B4-BE49-F238E27FC236}">
                <a16:creationId xmlns:a16="http://schemas.microsoft.com/office/drawing/2014/main" id="{E5ED5B8F-E06C-1DE5-692B-D0060FC7F7C7}"/>
              </a:ext>
            </a:extLst>
          </p:cNvPr>
          <p:cNvSpPr/>
          <p:nvPr/>
        </p:nvSpPr>
        <p:spPr>
          <a:xfrm>
            <a:off x="4907968" y="1772816"/>
            <a:ext cx="900000" cy="234000"/>
          </a:xfrm>
          <a:prstGeom prst="roundRect">
            <a:avLst>
              <a:gd name="adj" fmla="val 50000"/>
            </a:avLst>
          </a:prstGeom>
          <a:solidFill>
            <a:srgbClr val="10B981">
              <a:alpha val="49804"/>
            </a:srgbClr>
          </a:solidFill>
          <a:ln w="254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atin typeface="Inter" panose="02000503000000020004" pitchFamily="2" charset="0"/>
                <a:ea typeface="Inter" panose="02000503000000020004" pitchFamily="2" charset="0"/>
              </a:rPr>
              <a:t>2023 Q1</a:t>
            </a:r>
            <a:endParaRPr lang="en-US" sz="1200" dirty="0">
              <a:latin typeface="Inter" panose="02000503000000020004" pitchFamily="2" charset="0"/>
              <a:ea typeface="Inter" panose="02000503000000020004" pitchFamily="2" charset="0"/>
            </a:endParaRPr>
          </a:p>
        </p:txBody>
      </p:sp>
      <p:cxnSp>
        <p:nvCxnSpPr>
          <p:cNvPr id="5" name="Straight Connector 4">
            <a:extLst>
              <a:ext uri="{FF2B5EF4-FFF2-40B4-BE49-F238E27FC236}">
                <a16:creationId xmlns:a16="http://schemas.microsoft.com/office/drawing/2014/main" id="{0E510C16-C34A-1F07-E5DD-07C06BD55244}"/>
              </a:ext>
            </a:extLst>
          </p:cNvPr>
          <p:cNvCxnSpPr>
            <a:cxnSpLocks/>
          </p:cNvCxnSpPr>
          <p:nvPr/>
        </p:nvCxnSpPr>
        <p:spPr>
          <a:xfrm>
            <a:off x="2234861" y="2078824"/>
            <a:ext cx="3762420" cy="0"/>
          </a:xfrm>
          <a:prstGeom prst="line">
            <a:avLst/>
          </a:prstGeom>
          <a:ln>
            <a:solidFill>
              <a:srgbClr val="FFC000">
                <a:alpha val="50000"/>
              </a:srgbClr>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F3DA93B1-0C50-4637-92A9-6F882F2ECA97}"/>
              </a:ext>
            </a:extLst>
          </p:cNvPr>
          <p:cNvGrpSpPr/>
          <p:nvPr/>
        </p:nvGrpSpPr>
        <p:grpSpPr>
          <a:xfrm>
            <a:off x="1586189" y="1484784"/>
            <a:ext cx="4771132" cy="4124378"/>
            <a:chOff x="695400" y="1466443"/>
            <a:chExt cx="3960440" cy="2970669"/>
          </a:xfrm>
        </p:grpSpPr>
        <p:sp>
          <p:nvSpPr>
            <p:cNvPr id="7" name="Rectangle: Rounded Corners 6">
              <a:extLst>
                <a:ext uri="{FF2B5EF4-FFF2-40B4-BE49-F238E27FC236}">
                  <a16:creationId xmlns:a16="http://schemas.microsoft.com/office/drawing/2014/main" id="{C8139AF0-CBAE-415A-C3B1-91C765F15BD3}"/>
                </a:ext>
              </a:extLst>
            </p:cNvPr>
            <p:cNvSpPr/>
            <p:nvPr/>
          </p:nvSpPr>
          <p:spPr>
            <a:xfrm>
              <a:off x="695400" y="1556791"/>
              <a:ext cx="3960440" cy="2793551"/>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r>
                <a:rPr lang="en-GB" sz="1200" b="1" dirty="0">
                  <a:solidFill>
                    <a:schemeClr val="bg2"/>
                  </a:solidFill>
                  <a:latin typeface="Inter" panose="02000503000000020004" pitchFamily="2" charset="0"/>
                  <a:ea typeface="Inter" panose="02000503000000020004" pitchFamily="2" charset="0"/>
                </a:rPr>
                <a:t>                    Capture Trend </a:t>
              </a:r>
              <a:r>
                <a:rPr lang="en-US" sz="1200" b="1" dirty="0">
                  <a:latin typeface="Inter  "/>
                </a:rPr>
                <a:t>☀️</a:t>
              </a:r>
              <a:r>
                <a:rPr lang="en-GB" sz="1200" b="1" dirty="0">
                  <a:solidFill>
                    <a:schemeClr val="bg2"/>
                  </a:solidFill>
                  <a:latin typeface="Inter" panose="02000503000000020004" pitchFamily="2" charset="0"/>
                  <a:ea typeface="Inter" panose="02000503000000020004" pitchFamily="2" charset="0"/>
                </a:rPr>
                <a:t> GB vs </a:t>
              </a:r>
              <a:r>
                <a:rPr lang="en-US" sz="1200" b="1" dirty="0">
                  <a:latin typeface="Inter  "/>
                </a:rPr>
                <a:t>💨</a:t>
              </a:r>
              <a:r>
                <a:rPr lang="en-GB" sz="1200" b="1" dirty="0">
                  <a:solidFill>
                    <a:schemeClr val="bg2"/>
                  </a:solidFill>
                  <a:latin typeface="Inter" panose="02000503000000020004" pitchFamily="2" charset="0"/>
                  <a:ea typeface="Inter" panose="02000503000000020004" pitchFamily="2" charset="0"/>
                </a:rPr>
                <a:t> DE</a:t>
              </a:r>
              <a:endParaRPr lang="en-GB" sz="1200" b="1" dirty="0">
                <a:solidFill>
                  <a:srgbClr val="00B0F0"/>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8" name="Group 7">
              <a:extLst>
                <a:ext uri="{FF2B5EF4-FFF2-40B4-BE49-F238E27FC236}">
                  <a16:creationId xmlns:a16="http://schemas.microsoft.com/office/drawing/2014/main" id="{B22B7C15-11D6-EEE6-218E-671E49F0091A}"/>
                </a:ext>
              </a:extLst>
            </p:cNvPr>
            <p:cNvGrpSpPr/>
            <p:nvPr/>
          </p:nvGrpSpPr>
          <p:grpSpPr>
            <a:xfrm>
              <a:off x="696556" y="1466443"/>
              <a:ext cx="457200" cy="2970669"/>
              <a:chOff x="4878000" y="1468232"/>
              <a:chExt cx="457200" cy="2970669"/>
            </a:xfrm>
          </p:grpSpPr>
          <p:sp>
            <p:nvSpPr>
              <p:cNvPr id="9" name="Arc 29">
                <a:extLst>
                  <a:ext uri="{FF2B5EF4-FFF2-40B4-BE49-F238E27FC236}">
                    <a16:creationId xmlns:a16="http://schemas.microsoft.com/office/drawing/2014/main" id="{0396DFFD-6743-B59D-2B1F-B8DC4E912605}"/>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10B981"/>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10" name="Group 9">
                <a:extLst>
                  <a:ext uri="{FF2B5EF4-FFF2-40B4-BE49-F238E27FC236}">
                    <a16:creationId xmlns:a16="http://schemas.microsoft.com/office/drawing/2014/main" id="{B6906398-C6EA-47D0-D874-AB9AE35A6298}"/>
                  </a:ext>
                </a:extLst>
              </p:cNvPr>
              <p:cNvGrpSpPr/>
              <p:nvPr/>
            </p:nvGrpSpPr>
            <p:grpSpPr>
              <a:xfrm>
                <a:off x="4878000" y="1917596"/>
                <a:ext cx="457200" cy="2521305"/>
                <a:chOff x="4871440" y="1917596"/>
                <a:chExt cx="457200" cy="2521305"/>
              </a:xfrm>
            </p:grpSpPr>
            <p:cxnSp>
              <p:nvCxnSpPr>
                <p:cNvPr id="11" name="Straight Connector 10">
                  <a:extLst>
                    <a:ext uri="{FF2B5EF4-FFF2-40B4-BE49-F238E27FC236}">
                      <a16:creationId xmlns:a16="http://schemas.microsoft.com/office/drawing/2014/main" id="{0C41D24B-0896-CEBC-EBFB-23181CB44C66}"/>
                    </a:ext>
                  </a:extLst>
                </p:cNvPr>
                <p:cNvCxnSpPr>
                  <a:cxnSpLocks/>
                </p:cNvCxnSpPr>
                <p:nvPr/>
              </p:nvCxnSpPr>
              <p:spPr>
                <a:xfrm>
                  <a:off x="4871440" y="1917596"/>
                  <a:ext cx="0" cy="2106015"/>
                </a:xfrm>
                <a:prstGeom prst="line">
                  <a:avLst/>
                </a:prstGeom>
                <a:ln w="25400">
                  <a:solidFill>
                    <a:srgbClr val="10B981"/>
                  </a:solidFill>
                </a:ln>
              </p:spPr>
              <p:style>
                <a:lnRef idx="1">
                  <a:schemeClr val="accent1"/>
                </a:lnRef>
                <a:fillRef idx="0">
                  <a:schemeClr val="accent1"/>
                </a:fillRef>
                <a:effectRef idx="0">
                  <a:schemeClr val="accent1"/>
                </a:effectRef>
                <a:fontRef idx="minor">
                  <a:schemeClr val="tx1"/>
                </a:fontRef>
              </p:style>
            </p:cxnSp>
            <p:sp>
              <p:nvSpPr>
                <p:cNvPr id="12" name="Arc 29">
                  <a:extLst>
                    <a:ext uri="{FF2B5EF4-FFF2-40B4-BE49-F238E27FC236}">
                      <a16:creationId xmlns:a16="http://schemas.microsoft.com/office/drawing/2014/main" id="{5045F3CE-DBDB-CA6E-17FB-6699F576811C}"/>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10B981"/>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sp>
        <p:nvSpPr>
          <p:cNvPr id="25" name="Rectangle: Diagonal Corners Rounded 24">
            <a:extLst>
              <a:ext uri="{FF2B5EF4-FFF2-40B4-BE49-F238E27FC236}">
                <a16:creationId xmlns:a16="http://schemas.microsoft.com/office/drawing/2014/main" id="{F21D70DF-2BD3-819B-02D1-8DA6D79422B5}"/>
              </a:ext>
            </a:extLst>
          </p:cNvPr>
          <p:cNvSpPr/>
          <p:nvPr/>
        </p:nvSpPr>
        <p:spPr>
          <a:xfrm>
            <a:off x="6860652" y="1647742"/>
            <a:ext cx="3743766" cy="2070372"/>
          </a:xfrm>
          <a:prstGeom prst="round2DiagRect">
            <a:avLst/>
          </a:prstGeom>
          <a:solidFill>
            <a:srgbClr val="16586B"/>
          </a:solidFill>
          <a:ln w="76200">
            <a:solidFill>
              <a:srgbClr val="16586B">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2500" dirty="0">
                <a:latin typeface="Inter  "/>
              </a:rPr>
              <a:t>🏆</a:t>
            </a:r>
          </a:p>
          <a:p>
            <a:pPr algn="ctr">
              <a:lnSpc>
                <a:spcPct val="150000"/>
              </a:lnSpc>
            </a:pPr>
            <a:r>
              <a:rPr lang="en-US" sz="1200" cap="all" dirty="0">
                <a:solidFill>
                  <a:srgbClr val="6EE7B7"/>
                </a:solidFill>
                <a:latin typeface="Inter  "/>
              </a:rPr>
              <a:t>CONSISTENT LEADER</a:t>
            </a:r>
          </a:p>
          <a:p>
            <a:pPr algn="ctr">
              <a:lnSpc>
                <a:spcPct val="150000"/>
              </a:lnSpc>
            </a:pPr>
            <a:r>
              <a:rPr lang="en-US" b="1" dirty="0">
                <a:latin typeface="Inter  "/>
              </a:rPr>
              <a:t>☀️ Solar PV (GB)</a:t>
            </a:r>
          </a:p>
          <a:p>
            <a:pPr algn="ctr">
              <a:lnSpc>
                <a:spcPct val="150000"/>
              </a:lnSpc>
            </a:pPr>
            <a:r>
              <a:rPr lang="en-US" sz="1200" dirty="0">
                <a:solidFill>
                  <a:schemeClr val="bg2"/>
                </a:solidFill>
                <a:latin typeface="Inter  "/>
              </a:rPr>
              <a:t>Overtakes onshore wind post-2029 and maintains higher capture prices through 2050</a:t>
            </a:r>
          </a:p>
          <a:p>
            <a:pPr algn="ctr">
              <a:lnSpc>
                <a:spcPct val="150000"/>
              </a:lnSpc>
            </a:pPr>
            <a:endParaRPr lang="en-US" sz="1200" dirty="0">
              <a:solidFill>
                <a:schemeClr val="bg2"/>
              </a:solidFill>
              <a:latin typeface="Inter  "/>
            </a:endParaRPr>
          </a:p>
        </p:txBody>
      </p:sp>
      <p:sp>
        <p:nvSpPr>
          <p:cNvPr id="26" name="Rectangle: Diagonal Corners Rounded 25">
            <a:extLst>
              <a:ext uri="{FF2B5EF4-FFF2-40B4-BE49-F238E27FC236}">
                <a16:creationId xmlns:a16="http://schemas.microsoft.com/office/drawing/2014/main" id="{5D68352F-93CD-AF83-62E4-843F6CAE6AB9}"/>
              </a:ext>
            </a:extLst>
          </p:cNvPr>
          <p:cNvSpPr/>
          <p:nvPr/>
        </p:nvSpPr>
        <p:spPr>
          <a:xfrm>
            <a:off x="6788644" y="3842208"/>
            <a:ext cx="3815774" cy="1637242"/>
          </a:xfrm>
          <a:prstGeom prst="round2DiagRect">
            <a:avLst/>
          </a:prstGeom>
          <a:solidFill>
            <a:srgbClr val="1A4877"/>
          </a:solidFill>
          <a:ln w="76200">
            <a:solidFill>
              <a:srgbClr val="1A4877">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200" b="1" dirty="0">
                <a:latin typeface="Inter  "/>
              </a:rPr>
              <a:t>         Long Term-Median Capture Price</a:t>
            </a:r>
          </a:p>
          <a:p>
            <a:pPr algn="ctr">
              <a:lnSpc>
                <a:spcPct val="150000"/>
              </a:lnSpc>
            </a:pPr>
            <a:r>
              <a:rPr lang="en-US" sz="1200" b="1" dirty="0">
                <a:latin typeface="Inter  "/>
              </a:rPr>
              <a:t>     </a:t>
            </a:r>
            <a:r>
              <a:rPr lang="en-US" sz="1200" b="1" dirty="0">
                <a:solidFill>
                  <a:srgbClr val="00B0F0"/>
                </a:solidFill>
                <a:latin typeface="Inter  "/>
              </a:rPr>
              <a:t>€62                                      </a:t>
            </a:r>
            <a:r>
              <a:rPr lang="en-US" sz="1200" b="1" dirty="0">
                <a:solidFill>
                  <a:srgbClr val="FFC000"/>
                </a:solidFill>
                <a:latin typeface="Inter  "/>
              </a:rPr>
              <a:t>€58      </a:t>
            </a:r>
          </a:p>
          <a:p>
            <a:pPr algn="ctr">
              <a:lnSpc>
                <a:spcPct val="150000"/>
              </a:lnSpc>
            </a:pPr>
            <a:r>
              <a:rPr lang="en-US" sz="1200" dirty="0">
                <a:latin typeface="Inter  "/>
              </a:rPr>
              <a:t>           Solar PV                     Onshore Wind</a:t>
            </a:r>
          </a:p>
          <a:p>
            <a:pPr algn="ctr">
              <a:lnSpc>
                <a:spcPct val="150000"/>
              </a:lnSpc>
            </a:pPr>
            <a:endParaRPr lang="en-US" sz="1200" dirty="0">
              <a:latin typeface="Inter  "/>
            </a:endParaRPr>
          </a:p>
          <a:p>
            <a:pPr algn="ctr">
              <a:lnSpc>
                <a:spcPct val="150000"/>
              </a:lnSpc>
            </a:pPr>
            <a:endParaRPr lang="en-US" sz="1200" dirty="0">
              <a:latin typeface="Inter  "/>
            </a:endParaRPr>
          </a:p>
        </p:txBody>
      </p:sp>
      <p:sp>
        <p:nvSpPr>
          <p:cNvPr id="32" name="Rectangle: Rounded Corners 31">
            <a:extLst>
              <a:ext uri="{FF2B5EF4-FFF2-40B4-BE49-F238E27FC236}">
                <a16:creationId xmlns:a16="http://schemas.microsoft.com/office/drawing/2014/main" id="{30789D4D-66A0-8D44-33BF-271AC31026D9}"/>
              </a:ext>
            </a:extLst>
          </p:cNvPr>
          <p:cNvSpPr/>
          <p:nvPr/>
        </p:nvSpPr>
        <p:spPr>
          <a:xfrm>
            <a:off x="7616531" y="5052832"/>
            <a:ext cx="2160000" cy="270030"/>
          </a:xfrm>
          <a:prstGeom prst="roundRect">
            <a:avLst>
              <a:gd name="adj" fmla="val 50000"/>
            </a:avLst>
          </a:prstGeom>
          <a:solidFill>
            <a:srgbClr val="00B0F0">
              <a:alpha val="50000"/>
            </a:srgbClr>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latin typeface="Inter" panose="02000503000000020004" pitchFamily="2" charset="0"/>
                <a:ea typeface="Inter" panose="02000503000000020004" pitchFamily="2" charset="0"/>
              </a:rPr>
              <a:t>Solar is +6.9% higher</a:t>
            </a:r>
            <a:endParaRPr lang="en-US" sz="1100" dirty="0">
              <a:latin typeface="Inter" panose="02000503000000020004" pitchFamily="2" charset="0"/>
              <a:ea typeface="Inter" panose="02000503000000020004" pitchFamily="2" charset="0"/>
            </a:endParaRPr>
          </a:p>
        </p:txBody>
      </p:sp>
      <p:sp>
        <p:nvSpPr>
          <p:cNvPr id="33" name="Rectangle: Diagonal Corners Rounded 32">
            <a:extLst>
              <a:ext uri="{FF2B5EF4-FFF2-40B4-BE49-F238E27FC236}">
                <a16:creationId xmlns:a16="http://schemas.microsoft.com/office/drawing/2014/main" id="{1E9469C5-FFF6-80F0-4799-233270F1F95E}"/>
              </a:ext>
            </a:extLst>
          </p:cNvPr>
          <p:cNvSpPr/>
          <p:nvPr/>
        </p:nvSpPr>
        <p:spPr>
          <a:xfrm>
            <a:off x="1578125" y="5651289"/>
            <a:ext cx="9019621" cy="1075469"/>
          </a:xfrm>
          <a:prstGeom prst="round2DiagRect">
            <a:avLst/>
          </a:prstGeom>
          <a:solidFill>
            <a:srgbClr val="16586B"/>
          </a:solidFill>
          <a:ln w="76200">
            <a:solidFill>
              <a:srgbClr val="16586B">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1200" dirty="0">
                <a:solidFill>
                  <a:srgbClr val="000000"/>
                </a:solidFill>
                <a:latin typeface="Inter  "/>
              </a:rPr>
              <a:t>💡</a:t>
            </a:r>
            <a:r>
              <a:rPr lang="en-US" sz="1200" b="1" cap="all" dirty="0">
                <a:solidFill>
                  <a:srgbClr val="FBBF24"/>
                </a:solidFill>
                <a:latin typeface="Inter  "/>
              </a:rPr>
              <a:t>  Strategic Insight</a:t>
            </a:r>
          </a:p>
          <a:p>
            <a:pPr>
              <a:lnSpc>
                <a:spcPct val="150000"/>
              </a:lnSpc>
              <a:spcAft>
                <a:spcPts val="750"/>
              </a:spcAft>
            </a:pPr>
            <a:r>
              <a:rPr lang="en-US" sz="1200" dirty="0">
                <a:solidFill>
                  <a:srgbClr val="FFFFFF"/>
                </a:solidFill>
                <a:latin typeface="Inter  "/>
              </a:rPr>
              <a:t>Onshore wind (DE) leads with </a:t>
            </a:r>
            <a:r>
              <a:rPr lang="en-US" sz="1200" b="1" dirty="0">
                <a:solidFill>
                  <a:srgbClr val="FBBF24"/>
                </a:solidFill>
                <a:latin typeface="Inter  "/>
              </a:rPr>
              <a:t>3% higher median</a:t>
            </a:r>
            <a:r>
              <a:rPr lang="en-US" sz="1200" dirty="0">
                <a:solidFill>
                  <a:srgbClr val="FFFFFF"/>
                </a:solidFill>
                <a:latin typeface="Inter  "/>
              </a:rPr>
              <a:t> initially, but Solar PV (GB) </a:t>
            </a:r>
            <a:r>
              <a:rPr lang="en-US" sz="1200" b="1" dirty="0">
                <a:solidFill>
                  <a:srgbClr val="FBBF24"/>
                </a:solidFill>
                <a:latin typeface="Inter  "/>
              </a:rPr>
              <a:t>overtakes after 2029</a:t>
            </a:r>
            <a:r>
              <a:rPr lang="en-US" sz="1200" dirty="0">
                <a:solidFill>
                  <a:srgbClr val="FFFFFF"/>
                </a:solidFill>
                <a:latin typeface="Inter  "/>
              </a:rPr>
              <a:t> and remains </a:t>
            </a:r>
            <a:r>
              <a:rPr lang="en-US" sz="1200" b="1" dirty="0">
                <a:solidFill>
                  <a:srgbClr val="FBBF24"/>
                </a:solidFill>
                <a:latin typeface="Inter  "/>
              </a:rPr>
              <a:t>more valuable long-term</a:t>
            </a:r>
            <a:r>
              <a:rPr lang="en-US" sz="1200" dirty="0">
                <a:solidFill>
                  <a:srgbClr val="FFFFFF"/>
                </a:solidFill>
                <a:latin typeface="Inter  "/>
              </a:rPr>
              <a:t>, making it the better investment for future returns.</a:t>
            </a:r>
          </a:p>
        </p:txBody>
      </p:sp>
      <p:graphicFrame>
        <p:nvGraphicFramePr>
          <p:cNvPr id="3" name="Chart 2">
            <a:extLst>
              <a:ext uri="{FF2B5EF4-FFF2-40B4-BE49-F238E27FC236}">
                <a16:creationId xmlns:a16="http://schemas.microsoft.com/office/drawing/2014/main" id="{8556F5D6-3D78-8E13-6426-CC497424F91A}"/>
              </a:ext>
            </a:extLst>
          </p:cNvPr>
          <p:cNvGraphicFramePr>
            <a:graphicFrameLocks/>
          </p:cNvGraphicFramePr>
          <p:nvPr/>
        </p:nvGraphicFramePr>
        <p:xfrm>
          <a:off x="1735200" y="2091600"/>
          <a:ext cx="4392000" cy="3168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52303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700"/>
                            </p:stCondLst>
                            <p:childTnLst>
                              <p:par>
                                <p:cTn id="9" presetID="10" presetClass="entr" presetSubtype="0" fill="hold" grpId="0" nodeType="afterEffect">
                                  <p:stCondLst>
                                    <p:cond delay="2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400"/>
                            </p:stCondLst>
                            <p:childTnLst>
                              <p:par>
                                <p:cTn id="13" presetID="10" presetClass="entr" presetSubtype="0" fill="hold" nodeType="after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par>
                          <p:cTn id="16" fill="hold">
                            <p:stCondLst>
                              <p:cond delay="2100"/>
                            </p:stCondLst>
                            <p:childTnLst>
                              <p:par>
                                <p:cTn id="17" presetID="22" presetClass="entr" presetSubtype="8" fill="hold" grpId="0" nodeType="afterEffect">
                                  <p:stCondLst>
                                    <p:cond delay="0"/>
                                  </p:stCondLst>
                                  <p:childTnLst>
                                    <p:set>
                                      <p:cBhvr>
                                        <p:cTn id="18" dur="1" fill="hold">
                                          <p:stCondLst>
                                            <p:cond delay="0"/>
                                          </p:stCondLst>
                                        </p:cTn>
                                        <p:tgtEl>
                                          <p:spTgt spid="3">
                                            <p:graphicEl>
                                              <a:chart seriesIdx="-3" categoryIdx="-3" bldStep="gridLegend"/>
                                            </p:graphicEl>
                                          </p:spTgt>
                                        </p:tgtEl>
                                        <p:attrNameLst>
                                          <p:attrName>style.visibility</p:attrName>
                                        </p:attrNameLst>
                                      </p:cBhvr>
                                      <p:to>
                                        <p:strVal val="visible"/>
                                      </p:to>
                                    </p:set>
                                    <p:animEffect transition="in" filter="wipe(left)">
                                      <p:cBhvr>
                                        <p:cTn id="19" dur="1000"/>
                                        <p:tgtEl>
                                          <p:spTgt spid="3">
                                            <p:graphicEl>
                                              <a:chart seriesIdx="-3" categoryIdx="-3" bldStep="gridLegend"/>
                                            </p:graphic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3">
                                            <p:graphicEl>
                                              <a:chart seriesIdx="0" categoryIdx="-4" bldStep="series"/>
                                            </p:graphicEl>
                                          </p:spTgt>
                                        </p:tgtEl>
                                        <p:attrNameLst>
                                          <p:attrName>style.visibility</p:attrName>
                                        </p:attrNameLst>
                                      </p:cBhvr>
                                      <p:to>
                                        <p:strVal val="visible"/>
                                      </p:to>
                                    </p:set>
                                    <p:animEffect transition="in" filter="wipe(left)">
                                      <p:cBhvr>
                                        <p:cTn id="24" dur="1000"/>
                                        <p:tgtEl>
                                          <p:spTgt spid="3">
                                            <p:graphicEl>
                                              <a:chart seriesIdx="0" categoryIdx="-4" bldStep="series"/>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
                                            <p:graphicEl>
                                              <a:chart seriesIdx="1" categoryIdx="-4" bldStep="series"/>
                                            </p:graphicEl>
                                          </p:spTgt>
                                        </p:tgtEl>
                                        <p:attrNameLst>
                                          <p:attrName>style.visibility</p:attrName>
                                        </p:attrNameLst>
                                      </p:cBhvr>
                                      <p:to>
                                        <p:strVal val="visible"/>
                                      </p:to>
                                    </p:set>
                                    <p:animEffect transition="in" filter="wipe(left)">
                                      <p:cBhvr>
                                        <p:cTn id="29" dur="1000"/>
                                        <p:tgtEl>
                                          <p:spTgt spid="3">
                                            <p:graphicEl>
                                              <a:chart seriesIdx="1" categoryIdx="-4" bldStep="series"/>
                                            </p:graphicEl>
                                          </p:spTgt>
                                        </p:tgtEl>
                                      </p:cBhvr>
                                    </p:animEffect>
                                  </p:childTnLst>
                                </p:cTn>
                              </p:par>
                            </p:childTnLst>
                          </p:cTn>
                        </p:par>
                        <p:par>
                          <p:cTn id="30" fill="hold">
                            <p:stCondLst>
                              <p:cond delay="1000"/>
                            </p:stCondLst>
                            <p:childTnLst>
                              <p:par>
                                <p:cTn id="31" presetID="42" presetClass="entr" presetSubtype="0" fill="hold" grpId="0" nodeType="afterEffect">
                                  <p:stCondLst>
                                    <p:cond delay="0"/>
                                  </p:stCondLst>
                                  <p:childTnLst>
                                    <p:set>
                                      <p:cBhvr>
                                        <p:cTn id="32" dur="1" fill="hold">
                                          <p:stCondLst>
                                            <p:cond delay="0"/>
                                          </p:stCondLst>
                                        </p:cTn>
                                        <p:tgtEl>
                                          <p:spTgt spid="33">
                                            <p:bg/>
                                          </p:spTgt>
                                        </p:tgtEl>
                                        <p:attrNameLst>
                                          <p:attrName>style.visibility</p:attrName>
                                        </p:attrNameLst>
                                      </p:cBhvr>
                                      <p:to>
                                        <p:strVal val="visible"/>
                                      </p:to>
                                    </p:set>
                                    <p:animEffect transition="in" filter="fade">
                                      <p:cBhvr>
                                        <p:cTn id="33" dur="500"/>
                                        <p:tgtEl>
                                          <p:spTgt spid="33">
                                            <p:bg/>
                                          </p:spTgt>
                                        </p:tgtEl>
                                      </p:cBhvr>
                                    </p:animEffect>
                                    <p:anim calcmode="lin" valueType="num">
                                      <p:cBhvr>
                                        <p:cTn id="34" dur="500" fill="hold"/>
                                        <p:tgtEl>
                                          <p:spTgt spid="33">
                                            <p:bg/>
                                          </p:spTgt>
                                        </p:tgtEl>
                                        <p:attrNameLst>
                                          <p:attrName>ppt_x</p:attrName>
                                        </p:attrNameLst>
                                      </p:cBhvr>
                                      <p:tavLst>
                                        <p:tav tm="0">
                                          <p:val>
                                            <p:strVal val="#ppt_x"/>
                                          </p:val>
                                        </p:tav>
                                        <p:tav tm="100000">
                                          <p:val>
                                            <p:strVal val="#ppt_x"/>
                                          </p:val>
                                        </p:tav>
                                      </p:tavLst>
                                    </p:anim>
                                    <p:anim calcmode="lin" valueType="num">
                                      <p:cBhvr>
                                        <p:cTn id="35" dur="500" fill="hold"/>
                                        <p:tgtEl>
                                          <p:spTgt spid="33">
                                            <p:bg/>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3">
                                            <p:txEl>
                                              <p:pRg st="0" end="0"/>
                                            </p:txEl>
                                          </p:spTgt>
                                        </p:tgtEl>
                                        <p:attrNameLst>
                                          <p:attrName>style.visibility</p:attrName>
                                        </p:attrNameLst>
                                      </p:cBhvr>
                                      <p:to>
                                        <p:strVal val="visible"/>
                                      </p:to>
                                    </p:set>
                                    <p:animEffect transition="in" filter="fade">
                                      <p:cBhvr>
                                        <p:cTn id="40" dur="500"/>
                                        <p:tgtEl>
                                          <p:spTgt spid="33">
                                            <p:txEl>
                                              <p:pRg st="0" end="0"/>
                                            </p:txEl>
                                          </p:spTgt>
                                        </p:tgtEl>
                                      </p:cBhvr>
                                    </p:animEffect>
                                    <p:anim calcmode="lin" valueType="num">
                                      <p:cBhvr>
                                        <p:cTn id="41" dur="500" fill="hold"/>
                                        <p:tgtEl>
                                          <p:spTgt spid="33">
                                            <p:txEl>
                                              <p:pRg st="0" end="0"/>
                                            </p:txEl>
                                          </p:spTgt>
                                        </p:tgtEl>
                                        <p:attrNameLst>
                                          <p:attrName>ppt_x</p:attrName>
                                        </p:attrNameLst>
                                      </p:cBhvr>
                                      <p:tavLst>
                                        <p:tav tm="0">
                                          <p:val>
                                            <p:strVal val="#ppt_x"/>
                                          </p:val>
                                        </p:tav>
                                        <p:tav tm="100000">
                                          <p:val>
                                            <p:strVal val="#ppt_x"/>
                                          </p:val>
                                        </p:tav>
                                      </p:tavLst>
                                    </p:anim>
                                    <p:anim calcmode="lin" valueType="num">
                                      <p:cBhvr>
                                        <p:cTn id="42" dur="500" fill="hold"/>
                                        <p:tgtEl>
                                          <p:spTgt spid="3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3" grpId="0" build="p" animBg="1"/>
      <p:bldGraphic spid="3" grpId="0">
        <p:bldSub>
          <a:bldChart bld="series"/>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F4C"/>
        </a:solidFill>
        <a:effectLst/>
      </p:bgPr>
    </p:bg>
    <p:spTree>
      <p:nvGrpSpPr>
        <p:cNvPr id="1" name="">
          <a:extLst>
            <a:ext uri="{FF2B5EF4-FFF2-40B4-BE49-F238E27FC236}">
              <a16:creationId xmlns:a16="http://schemas.microsoft.com/office/drawing/2014/main" id="{F0605B9D-D95F-13C2-63D6-B4D7AD01C430}"/>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9768570F-AC46-4519-8A83-D1CCD2E28282}"/>
              </a:ext>
            </a:extLst>
          </p:cNvPr>
          <p:cNvSpPr/>
          <p:nvPr/>
        </p:nvSpPr>
        <p:spPr>
          <a:xfrm>
            <a:off x="4115880" y="2531936"/>
            <a:ext cx="900000" cy="234000"/>
          </a:xfrm>
          <a:prstGeom prst="roundRect">
            <a:avLst>
              <a:gd name="adj" fmla="val 50000"/>
            </a:avLst>
          </a:prstGeom>
          <a:solidFill>
            <a:srgbClr val="7F46EA">
              <a:alpha val="50000"/>
            </a:srgbClr>
          </a:solidFill>
          <a:ln w="25400">
            <a:solidFill>
              <a:srgbClr val="7F46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atin typeface="Inter" panose="02000503000000020004" pitchFamily="2" charset="0"/>
                <a:ea typeface="Inter" panose="02000503000000020004" pitchFamily="2" charset="0"/>
              </a:rPr>
              <a:t>2022 Q3</a:t>
            </a:r>
            <a:endParaRPr lang="en-US" sz="1200" dirty="0">
              <a:latin typeface="Inter" panose="02000503000000020004" pitchFamily="2" charset="0"/>
              <a:ea typeface="Inter" panose="02000503000000020004" pitchFamily="2" charset="0"/>
            </a:endParaRPr>
          </a:p>
        </p:txBody>
      </p:sp>
      <p:cxnSp>
        <p:nvCxnSpPr>
          <p:cNvPr id="20" name="Straight Connector 19">
            <a:extLst>
              <a:ext uri="{FF2B5EF4-FFF2-40B4-BE49-F238E27FC236}">
                <a16:creationId xmlns:a16="http://schemas.microsoft.com/office/drawing/2014/main" id="{6469990D-A68B-A72D-2CE7-B771EB56C5C6}"/>
              </a:ext>
            </a:extLst>
          </p:cNvPr>
          <p:cNvCxnSpPr>
            <a:cxnSpLocks/>
          </p:cNvCxnSpPr>
          <p:nvPr/>
        </p:nvCxnSpPr>
        <p:spPr>
          <a:xfrm>
            <a:off x="1757516" y="2837944"/>
            <a:ext cx="3762420" cy="0"/>
          </a:xfrm>
          <a:prstGeom prst="line">
            <a:avLst/>
          </a:prstGeom>
          <a:ln>
            <a:solidFill>
              <a:srgbClr val="FFC000">
                <a:alpha val="50000"/>
              </a:srgbClr>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D936EA53-CA7D-5295-AACF-71CCC45CDDC5}"/>
              </a:ext>
            </a:extLst>
          </p:cNvPr>
          <p:cNvGrpSpPr/>
          <p:nvPr/>
        </p:nvGrpSpPr>
        <p:grpSpPr>
          <a:xfrm>
            <a:off x="1108844" y="2242296"/>
            <a:ext cx="4771132" cy="3546443"/>
            <a:chOff x="695400" y="1466443"/>
            <a:chExt cx="3960440" cy="2970669"/>
          </a:xfrm>
        </p:grpSpPr>
        <p:sp>
          <p:nvSpPr>
            <p:cNvPr id="5" name="Rectangle: Rounded Corners 4">
              <a:extLst>
                <a:ext uri="{FF2B5EF4-FFF2-40B4-BE49-F238E27FC236}">
                  <a16:creationId xmlns:a16="http://schemas.microsoft.com/office/drawing/2014/main" id="{2010A3D1-2BC9-BDFA-1EEB-0F925F2CCF1D}"/>
                </a:ext>
              </a:extLst>
            </p:cNvPr>
            <p:cNvSpPr/>
            <p:nvPr/>
          </p:nvSpPr>
          <p:spPr>
            <a:xfrm>
              <a:off x="695400" y="1556791"/>
              <a:ext cx="3960440" cy="2793551"/>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r>
                <a:rPr lang="en-US" sz="1200" dirty="0">
                  <a:latin typeface="Inter" panose="02000503000000020004" pitchFamily="2" charset="0"/>
                  <a:ea typeface="Inter" panose="02000503000000020004" pitchFamily="2" charset="0"/>
                </a:rPr>
                <a:t>                Capture Price vs Generation</a:t>
              </a:r>
            </a:p>
            <a:p>
              <a:endParaRPr lang="en-US" sz="1400" dirty="0">
                <a:latin typeface="Inter" panose="02000503000000020004" pitchFamily="2" charset="0"/>
                <a:ea typeface="Inter" panose="02000503000000020004" pitchFamily="2" charset="0"/>
              </a:endParaRPr>
            </a:p>
            <a:p>
              <a:r>
                <a:rPr lang="en-US" sz="1400" dirty="0">
                  <a:latin typeface="Inter" panose="02000503000000020004" pitchFamily="2" charset="0"/>
                  <a:ea typeface="Inter" panose="02000503000000020004" pitchFamily="2" charset="0"/>
                </a:rPr>
                <a:t>☀️</a:t>
              </a:r>
              <a:r>
                <a:rPr lang="en-US" sz="1400" b="1" dirty="0">
                  <a:latin typeface="Inter" panose="02000503000000020004" pitchFamily="2" charset="0"/>
                  <a:ea typeface="Inter" panose="02000503000000020004" pitchFamily="2" charset="0"/>
                </a:rPr>
                <a:t>Solar PV </a:t>
              </a:r>
              <a:r>
                <a:rPr lang="en-US" sz="1400" dirty="0">
                  <a:latin typeface="Inter" panose="02000503000000020004" pitchFamily="2" charset="0"/>
                  <a:ea typeface="Inter" panose="02000503000000020004" pitchFamily="2" charset="0"/>
                </a:rPr>
                <a:t>GB</a:t>
              </a: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6" name="Group 5">
              <a:extLst>
                <a:ext uri="{FF2B5EF4-FFF2-40B4-BE49-F238E27FC236}">
                  <a16:creationId xmlns:a16="http://schemas.microsoft.com/office/drawing/2014/main" id="{30E11B46-70C7-8199-D251-20EF896B9BF3}"/>
                </a:ext>
              </a:extLst>
            </p:cNvPr>
            <p:cNvGrpSpPr/>
            <p:nvPr/>
          </p:nvGrpSpPr>
          <p:grpSpPr>
            <a:xfrm>
              <a:off x="696556" y="1466443"/>
              <a:ext cx="457200" cy="2970669"/>
              <a:chOff x="4878000" y="1468232"/>
              <a:chExt cx="457200" cy="2970669"/>
            </a:xfrm>
          </p:grpSpPr>
          <p:sp>
            <p:nvSpPr>
              <p:cNvPr id="7" name="Arc 29">
                <a:extLst>
                  <a:ext uri="{FF2B5EF4-FFF2-40B4-BE49-F238E27FC236}">
                    <a16:creationId xmlns:a16="http://schemas.microsoft.com/office/drawing/2014/main" id="{FDAE56A1-D6AD-F6E1-EFC2-CD920B28CEE2}"/>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8" name="Group 7">
                <a:extLst>
                  <a:ext uri="{FF2B5EF4-FFF2-40B4-BE49-F238E27FC236}">
                    <a16:creationId xmlns:a16="http://schemas.microsoft.com/office/drawing/2014/main" id="{06231DFE-8CF5-725F-95BD-69007C1CB571}"/>
                  </a:ext>
                </a:extLst>
              </p:cNvPr>
              <p:cNvGrpSpPr/>
              <p:nvPr/>
            </p:nvGrpSpPr>
            <p:grpSpPr>
              <a:xfrm>
                <a:off x="4878000" y="1917596"/>
                <a:ext cx="457200" cy="2521305"/>
                <a:chOff x="4871440" y="1917596"/>
                <a:chExt cx="457200" cy="2521305"/>
              </a:xfrm>
            </p:grpSpPr>
            <p:cxnSp>
              <p:nvCxnSpPr>
                <p:cNvPr id="12" name="Straight Connector 11">
                  <a:extLst>
                    <a:ext uri="{FF2B5EF4-FFF2-40B4-BE49-F238E27FC236}">
                      <a16:creationId xmlns:a16="http://schemas.microsoft.com/office/drawing/2014/main" id="{56ECAA35-9385-D610-FED8-178742B8E7E4}"/>
                    </a:ext>
                  </a:extLst>
                </p:cNvPr>
                <p:cNvCxnSpPr>
                  <a:cxnSpLocks/>
                </p:cNvCxnSpPr>
                <p:nvPr/>
              </p:nvCxnSpPr>
              <p:spPr>
                <a:xfrm>
                  <a:off x="4871440" y="1917596"/>
                  <a:ext cx="0" cy="2106015"/>
                </a:xfrm>
                <a:prstGeom prst="line">
                  <a:avLst/>
                </a:prstGeom>
                <a:ln w="25400">
                  <a:solidFill>
                    <a:srgbClr val="7F46EA"/>
                  </a:solidFill>
                </a:ln>
              </p:spPr>
              <p:style>
                <a:lnRef idx="1">
                  <a:schemeClr val="accent1"/>
                </a:lnRef>
                <a:fillRef idx="0">
                  <a:schemeClr val="accent1"/>
                </a:fillRef>
                <a:effectRef idx="0">
                  <a:schemeClr val="accent1"/>
                </a:effectRef>
                <a:fontRef idx="minor">
                  <a:schemeClr val="tx1"/>
                </a:fontRef>
              </p:style>
            </p:cxnSp>
            <p:sp>
              <p:nvSpPr>
                <p:cNvPr id="14" name="Arc 29">
                  <a:extLst>
                    <a:ext uri="{FF2B5EF4-FFF2-40B4-BE49-F238E27FC236}">
                      <a16:creationId xmlns:a16="http://schemas.microsoft.com/office/drawing/2014/main" id="{0C2A7444-CA7F-DE9D-9B04-2703B27936F4}"/>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sp>
        <p:nvSpPr>
          <p:cNvPr id="69" name="Title 1">
            <a:extLst>
              <a:ext uri="{FF2B5EF4-FFF2-40B4-BE49-F238E27FC236}">
                <a16:creationId xmlns:a16="http://schemas.microsoft.com/office/drawing/2014/main" id="{C1C26962-4259-7B67-A57D-E359EAAB551A}"/>
              </a:ext>
            </a:extLst>
          </p:cNvPr>
          <p:cNvSpPr txBox="1">
            <a:spLocks/>
          </p:cNvSpPr>
          <p:nvPr/>
        </p:nvSpPr>
        <p:spPr>
          <a:xfrm>
            <a:off x="1181452" y="198947"/>
            <a:ext cx="9487662" cy="905528"/>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70000"/>
              </a:lnSpc>
            </a:pPr>
            <a:br>
              <a:rPr lang="en-US" sz="3600" dirty="0">
                <a:solidFill>
                  <a:schemeClr val="bg1"/>
                </a:solidFill>
                <a:latin typeface="Inter ExtraBold" panose="02000503000000020004" pitchFamily="2" charset="0"/>
                <a:ea typeface="Inter ExtraBold" panose="02000503000000020004" pitchFamily="2" charset="0"/>
              </a:rPr>
            </a:br>
            <a:r>
              <a:rPr lang="en-US" sz="8000" dirty="0">
                <a:solidFill>
                  <a:schemeClr val="bg1"/>
                </a:solidFill>
                <a:latin typeface="Inter ExtraBold" panose="02000503000000020004" pitchFamily="2" charset="0"/>
                <a:ea typeface="Inter ExtraBold" panose="02000503000000020004" pitchFamily="2" charset="0"/>
              </a:rPr>
              <a:t>CORRELATION ANALYSIS</a:t>
            </a:r>
            <a:br>
              <a:rPr lang="en-US" sz="2000" i="1" dirty="0">
                <a:solidFill>
                  <a:srgbClr val="FFC000"/>
                </a:solidFill>
                <a:latin typeface="Inter  "/>
              </a:rPr>
            </a:br>
            <a:r>
              <a:rPr lang="en-US" sz="5600" i="1" dirty="0">
                <a:solidFill>
                  <a:srgbClr val="FFC000"/>
                </a:solidFill>
                <a:latin typeface="Inter  "/>
              </a:rPr>
              <a:t>In the long run, is there a relationship between capture prices and power generation output (GWh) for solar PV and onshore wind in DE? </a:t>
            </a:r>
            <a:br>
              <a:rPr lang="en-US" sz="2000" i="1" dirty="0">
                <a:solidFill>
                  <a:srgbClr val="FFC000"/>
                </a:solidFill>
                <a:latin typeface="Inter  "/>
              </a:rPr>
            </a:br>
            <a:br>
              <a:rPr lang="en-US" sz="2000" i="1" dirty="0">
                <a:solidFill>
                  <a:srgbClr val="FFC000"/>
                </a:solidFill>
                <a:latin typeface="Inter  "/>
              </a:rPr>
            </a:br>
            <a:endParaRPr lang="en-US" sz="1600" i="1" dirty="0">
              <a:solidFill>
                <a:srgbClr val="FFC000"/>
              </a:solidFill>
              <a:latin typeface="Inter" panose="02000503000000020004" pitchFamily="2" charset="0"/>
              <a:ea typeface="Inter" panose="02000503000000020004" pitchFamily="2" charset="0"/>
            </a:endParaRPr>
          </a:p>
        </p:txBody>
      </p:sp>
      <p:sp>
        <p:nvSpPr>
          <p:cNvPr id="70" name="Rectangle: Diagonal Corners Rounded 69">
            <a:extLst>
              <a:ext uri="{FF2B5EF4-FFF2-40B4-BE49-F238E27FC236}">
                <a16:creationId xmlns:a16="http://schemas.microsoft.com/office/drawing/2014/main" id="{2BF98ECA-FDF3-3878-8714-3DE5AA28EC9D}"/>
              </a:ext>
            </a:extLst>
          </p:cNvPr>
          <p:cNvSpPr/>
          <p:nvPr/>
        </p:nvSpPr>
        <p:spPr>
          <a:xfrm>
            <a:off x="1128115" y="1224407"/>
            <a:ext cx="9988669" cy="946147"/>
          </a:xfrm>
          <a:prstGeom prst="round2DiagRect">
            <a:avLst/>
          </a:prstGeom>
          <a:solidFill>
            <a:srgbClr val="16586B"/>
          </a:solidFill>
          <a:ln w="76200">
            <a:solidFill>
              <a:srgbClr val="16586B">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50000"/>
              </a:lnSpc>
            </a:pPr>
            <a:r>
              <a:rPr lang="en-US" dirty="0">
                <a:solidFill>
                  <a:prstClr val="white"/>
                </a:solidFill>
                <a:latin typeface="Inter" panose="02000503000000020004" pitchFamily="2" charset="0"/>
                <a:ea typeface="Inter" panose="02000503000000020004" pitchFamily="2" charset="0"/>
              </a:rPr>
              <a:t>✅ </a:t>
            </a:r>
            <a:r>
              <a:rPr lang="en-US" sz="1200" b="1" dirty="0">
                <a:solidFill>
                  <a:srgbClr val="6EE7B7"/>
                </a:solidFill>
                <a:latin typeface="Inter" panose="02000503000000020004" pitchFamily="2" charset="0"/>
                <a:ea typeface="Inter" panose="02000503000000020004" pitchFamily="2" charset="0"/>
              </a:rPr>
              <a:t>Yes – Strong negative relationships.</a:t>
            </a:r>
            <a:r>
              <a:rPr lang="en-US" sz="1200" dirty="0">
                <a:solidFill>
                  <a:srgbClr val="FFFFFF"/>
                </a:solidFill>
                <a:latin typeface="Inter" panose="02000503000000020004" pitchFamily="2" charset="0"/>
                <a:ea typeface="Inter" panose="02000503000000020004" pitchFamily="2" charset="0"/>
              </a:rPr>
              <a:t> Solar PV shows </a:t>
            </a:r>
            <a:r>
              <a:rPr lang="en-US" sz="1200" b="1" dirty="0">
                <a:solidFill>
                  <a:srgbClr val="6EE7B7"/>
                </a:solidFill>
                <a:latin typeface="Inter" panose="02000503000000020004" pitchFamily="2" charset="0"/>
                <a:ea typeface="Inter" panose="02000503000000020004" pitchFamily="2" charset="0"/>
              </a:rPr>
              <a:t>very strong correlation (R = -0.89)</a:t>
            </a:r>
            <a:r>
              <a:rPr lang="en-US" sz="1200" dirty="0">
                <a:solidFill>
                  <a:srgbClr val="FFFFFF"/>
                </a:solidFill>
                <a:latin typeface="Inter" panose="02000503000000020004" pitchFamily="2" charset="0"/>
                <a:ea typeface="Inter" panose="02000503000000020004" pitchFamily="2" charset="0"/>
              </a:rPr>
              <a:t>, Onshore Wind shows </a:t>
            </a:r>
            <a:r>
              <a:rPr lang="en-US" sz="1200" b="1" dirty="0">
                <a:solidFill>
                  <a:srgbClr val="6EE7B7"/>
                </a:solidFill>
                <a:latin typeface="Inter" panose="02000503000000020004" pitchFamily="2" charset="0"/>
                <a:ea typeface="Inter" panose="02000503000000020004" pitchFamily="2" charset="0"/>
              </a:rPr>
              <a:t>strong correlation (R = -0.70)</a:t>
            </a:r>
            <a:r>
              <a:rPr lang="en-US" sz="1200" dirty="0">
                <a:solidFill>
                  <a:srgbClr val="FFFFFF"/>
                </a:solidFill>
                <a:latin typeface="Inter" panose="02000503000000020004" pitchFamily="2" charset="0"/>
                <a:ea typeface="Inter" panose="02000503000000020004" pitchFamily="2" charset="0"/>
              </a:rPr>
              <a:t>. As generation ↑, capture prices ↓</a:t>
            </a:r>
            <a:endParaRPr lang="en-US" sz="1200" dirty="0">
              <a:solidFill>
                <a:prstClr val="white"/>
              </a:solidFill>
              <a:latin typeface="Inter" panose="02000503000000020004" pitchFamily="2" charset="0"/>
              <a:ea typeface="Inter" panose="02000503000000020004" pitchFamily="2" charset="0"/>
            </a:endParaRPr>
          </a:p>
        </p:txBody>
      </p:sp>
      <p:sp>
        <p:nvSpPr>
          <p:cNvPr id="24" name="Rectangle: Rounded Corners 23">
            <a:extLst>
              <a:ext uri="{FF2B5EF4-FFF2-40B4-BE49-F238E27FC236}">
                <a16:creationId xmlns:a16="http://schemas.microsoft.com/office/drawing/2014/main" id="{A6741494-2096-8723-73D4-3598AF691475}"/>
              </a:ext>
            </a:extLst>
          </p:cNvPr>
          <p:cNvSpPr/>
          <p:nvPr/>
        </p:nvSpPr>
        <p:spPr>
          <a:xfrm>
            <a:off x="9426678" y="2536385"/>
            <a:ext cx="900000" cy="234000"/>
          </a:xfrm>
          <a:prstGeom prst="roundRect">
            <a:avLst>
              <a:gd name="adj" fmla="val 50000"/>
            </a:avLst>
          </a:prstGeom>
          <a:solidFill>
            <a:srgbClr val="7F46EA">
              <a:alpha val="50000"/>
            </a:srgbClr>
          </a:solidFill>
          <a:ln w="25400">
            <a:solidFill>
              <a:srgbClr val="7F46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atin typeface="Inter" panose="02000503000000020004" pitchFamily="2" charset="0"/>
                <a:ea typeface="Inter" panose="02000503000000020004" pitchFamily="2" charset="0"/>
              </a:rPr>
              <a:t>2022 Q3</a:t>
            </a:r>
            <a:endParaRPr lang="en-US" sz="1200" dirty="0">
              <a:latin typeface="Inter" panose="02000503000000020004" pitchFamily="2" charset="0"/>
              <a:ea typeface="Inter" panose="02000503000000020004" pitchFamily="2" charset="0"/>
            </a:endParaRPr>
          </a:p>
        </p:txBody>
      </p:sp>
      <p:cxnSp>
        <p:nvCxnSpPr>
          <p:cNvPr id="25" name="Straight Connector 24">
            <a:extLst>
              <a:ext uri="{FF2B5EF4-FFF2-40B4-BE49-F238E27FC236}">
                <a16:creationId xmlns:a16="http://schemas.microsoft.com/office/drawing/2014/main" id="{8C9398D2-81A0-07F1-EABD-3D505DA5A416}"/>
              </a:ext>
            </a:extLst>
          </p:cNvPr>
          <p:cNvCxnSpPr>
            <a:cxnSpLocks/>
          </p:cNvCxnSpPr>
          <p:nvPr/>
        </p:nvCxnSpPr>
        <p:spPr>
          <a:xfrm>
            <a:off x="7068314" y="2842393"/>
            <a:ext cx="3762420" cy="0"/>
          </a:xfrm>
          <a:prstGeom prst="line">
            <a:avLst/>
          </a:prstGeom>
          <a:ln>
            <a:solidFill>
              <a:srgbClr val="FFC000">
                <a:alpha val="50000"/>
              </a:srgbClr>
            </a:solidFill>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F6903C6B-ADBE-A3DB-9EAD-EC9578D87EFA}"/>
              </a:ext>
            </a:extLst>
          </p:cNvPr>
          <p:cNvGrpSpPr/>
          <p:nvPr/>
        </p:nvGrpSpPr>
        <p:grpSpPr>
          <a:xfrm>
            <a:off x="6419642" y="2246745"/>
            <a:ext cx="4771132" cy="3546443"/>
            <a:chOff x="695400" y="1466443"/>
            <a:chExt cx="3960440" cy="2970669"/>
          </a:xfrm>
        </p:grpSpPr>
        <p:sp>
          <p:nvSpPr>
            <p:cNvPr id="27" name="Rectangle: Rounded Corners 26">
              <a:extLst>
                <a:ext uri="{FF2B5EF4-FFF2-40B4-BE49-F238E27FC236}">
                  <a16:creationId xmlns:a16="http://schemas.microsoft.com/office/drawing/2014/main" id="{4A6740EF-A275-94DA-5B74-C9E6596D063A}"/>
                </a:ext>
              </a:extLst>
            </p:cNvPr>
            <p:cNvSpPr/>
            <p:nvPr/>
          </p:nvSpPr>
          <p:spPr>
            <a:xfrm>
              <a:off x="695400" y="1556791"/>
              <a:ext cx="3960440" cy="2793551"/>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r>
                <a:rPr lang="en-US" sz="1200" dirty="0">
                  <a:latin typeface="Inter" panose="02000503000000020004" pitchFamily="2" charset="0"/>
                  <a:ea typeface="Inter" panose="02000503000000020004" pitchFamily="2" charset="0"/>
                </a:rPr>
                <a:t>                Capture Price vs Generation</a:t>
              </a:r>
              <a:endParaRPr lang="en-GB" sz="1200" b="1" dirty="0">
                <a:solidFill>
                  <a:schemeClr val="bg2"/>
                </a:solidFill>
                <a:latin typeface="Inter" panose="02000503000000020004" pitchFamily="2" charset="0"/>
                <a:ea typeface="Inter" panose="02000503000000020004" pitchFamily="2" charset="0"/>
              </a:endParaRPr>
            </a:p>
            <a:p>
              <a:pPr lvl="0">
                <a:defRPr/>
              </a:pPr>
              <a:endParaRPr lang="en-US" sz="1400" dirty="0">
                <a:latin typeface="Inter" panose="02000503000000020004" pitchFamily="2" charset="0"/>
                <a:ea typeface="Inter" panose="02000503000000020004" pitchFamily="2" charset="0"/>
              </a:endParaRPr>
            </a:p>
            <a:p>
              <a:pPr lvl="0">
                <a:defRPr/>
              </a:pPr>
              <a:r>
                <a:rPr lang="en-US" sz="1400" dirty="0">
                  <a:latin typeface="Inter" panose="02000503000000020004" pitchFamily="2" charset="0"/>
                  <a:ea typeface="Inter" panose="02000503000000020004" pitchFamily="2" charset="0"/>
                </a:rPr>
                <a:t>💨</a:t>
              </a:r>
              <a:r>
                <a:rPr lang="en-US" sz="1400" b="1" dirty="0">
                  <a:solidFill>
                    <a:prstClr val="white"/>
                  </a:solidFill>
                  <a:latin typeface="Inter" panose="02000503000000020004" pitchFamily="2" charset="0"/>
                  <a:ea typeface="Inter" panose="02000503000000020004" pitchFamily="2" charset="0"/>
                </a:rPr>
                <a:t>Onshore Wind DE</a:t>
              </a: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28" name="Group 27">
              <a:extLst>
                <a:ext uri="{FF2B5EF4-FFF2-40B4-BE49-F238E27FC236}">
                  <a16:creationId xmlns:a16="http://schemas.microsoft.com/office/drawing/2014/main" id="{14729A9E-8E04-4CB9-3ABF-FD995B51F128}"/>
                </a:ext>
              </a:extLst>
            </p:cNvPr>
            <p:cNvGrpSpPr/>
            <p:nvPr/>
          </p:nvGrpSpPr>
          <p:grpSpPr>
            <a:xfrm>
              <a:off x="696556" y="1466443"/>
              <a:ext cx="457200" cy="2970669"/>
              <a:chOff x="4878000" y="1468232"/>
              <a:chExt cx="457200" cy="2970669"/>
            </a:xfrm>
          </p:grpSpPr>
          <p:sp>
            <p:nvSpPr>
              <p:cNvPr id="29" name="Arc 29">
                <a:extLst>
                  <a:ext uri="{FF2B5EF4-FFF2-40B4-BE49-F238E27FC236}">
                    <a16:creationId xmlns:a16="http://schemas.microsoft.com/office/drawing/2014/main" id="{CB5D2825-2160-4E69-4B7E-78171225ACBF}"/>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30" name="Group 29">
                <a:extLst>
                  <a:ext uri="{FF2B5EF4-FFF2-40B4-BE49-F238E27FC236}">
                    <a16:creationId xmlns:a16="http://schemas.microsoft.com/office/drawing/2014/main" id="{BD6F0839-744D-7649-EBCD-CBEB1A93F4C5}"/>
                  </a:ext>
                </a:extLst>
              </p:cNvPr>
              <p:cNvGrpSpPr/>
              <p:nvPr/>
            </p:nvGrpSpPr>
            <p:grpSpPr>
              <a:xfrm>
                <a:off x="4878000" y="1917596"/>
                <a:ext cx="457200" cy="2521305"/>
                <a:chOff x="4871440" y="1917596"/>
                <a:chExt cx="457200" cy="2521305"/>
              </a:xfrm>
            </p:grpSpPr>
            <p:cxnSp>
              <p:nvCxnSpPr>
                <p:cNvPr id="31" name="Straight Connector 30">
                  <a:extLst>
                    <a:ext uri="{FF2B5EF4-FFF2-40B4-BE49-F238E27FC236}">
                      <a16:creationId xmlns:a16="http://schemas.microsoft.com/office/drawing/2014/main" id="{25EEB255-BF3E-1EC1-E2B4-2F5C0295504C}"/>
                    </a:ext>
                  </a:extLst>
                </p:cNvPr>
                <p:cNvCxnSpPr>
                  <a:cxnSpLocks/>
                </p:cNvCxnSpPr>
                <p:nvPr/>
              </p:nvCxnSpPr>
              <p:spPr>
                <a:xfrm>
                  <a:off x="4871440" y="1917596"/>
                  <a:ext cx="0" cy="2106015"/>
                </a:xfrm>
                <a:prstGeom prst="line">
                  <a:avLst/>
                </a:prstGeom>
                <a:ln w="25400">
                  <a:solidFill>
                    <a:srgbClr val="7F46EA"/>
                  </a:solidFill>
                </a:ln>
              </p:spPr>
              <p:style>
                <a:lnRef idx="1">
                  <a:schemeClr val="accent1"/>
                </a:lnRef>
                <a:fillRef idx="0">
                  <a:schemeClr val="accent1"/>
                </a:fillRef>
                <a:effectRef idx="0">
                  <a:schemeClr val="accent1"/>
                </a:effectRef>
                <a:fontRef idx="minor">
                  <a:schemeClr val="tx1"/>
                </a:fontRef>
              </p:style>
            </p:cxnSp>
            <p:sp>
              <p:nvSpPr>
                <p:cNvPr id="32" name="Arc 29">
                  <a:extLst>
                    <a:ext uri="{FF2B5EF4-FFF2-40B4-BE49-F238E27FC236}">
                      <a16:creationId xmlns:a16="http://schemas.microsoft.com/office/drawing/2014/main" id="{34843691-511F-ABEB-0A6B-B28DE4F24F72}"/>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7F46EA"/>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graphicFrame>
        <p:nvGraphicFramePr>
          <p:cNvPr id="3" name="Chart 2">
            <a:extLst>
              <a:ext uri="{FF2B5EF4-FFF2-40B4-BE49-F238E27FC236}">
                <a16:creationId xmlns:a16="http://schemas.microsoft.com/office/drawing/2014/main" id="{F6CC3ABF-AF0D-1878-086C-DBF5D3A94D73}"/>
              </a:ext>
            </a:extLst>
          </p:cNvPr>
          <p:cNvGraphicFramePr>
            <a:graphicFrameLocks/>
          </p:cNvGraphicFramePr>
          <p:nvPr>
            <p:extLst>
              <p:ext uri="{D42A27DB-BD31-4B8C-83A1-F6EECF244321}">
                <p14:modId xmlns:p14="http://schemas.microsoft.com/office/powerpoint/2010/main" val="2727468760"/>
              </p:ext>
            </p:extLst>
          </p:nvPr>
        </p:nvGraphicFramePr>
        <p:xfrm>
          <a:off x="2858881" y="2951558"/>
          <a:ext cx="2880000" cy="27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417F9430-84D0-082C-2AED-0D53F974A9B0}"/>
              </a:ext>
            </a:extLst>
          </p:cNvPr>
          <p:cNvGraphicFramePr>
            <a:graphicFrameLocks/>
          </p:cNvGraphicFramePr>
          <p:nvPr>
            <p:extLst>
              <p:ext uri="{D42A27DB-BD31-4B8C-83A1-F6EECF244321}">
                <p14:modId xmlns:p14="http://schemas.microsoft.com/office/powerpoint/2010/main" val="1833513109"/>
              </p:ext>
            </p:extLst>
          </p:nvPr>
        </p:nvGraphicFramePr>
        <p:xfrm>
          <a:off x="8299653" y="2951558"/>
          <a:ext cx="2880000" cy="2700000"/>
        </p:xfrm>
        <a:graphic>
          <a:graphicData uri="http://schemas.openxmlformats.org/drawingml/2006/chart">
            <c:chart xmlns:c="http://schemas.openxmlformats.org/drawingml/2006/chart" xmlns:r="http://schemas.openxmlformats.org/officeDocument/2006/relationships" r:id="rId3"/>
          </a:graphicData>
        </a:graphic>
      </p:graphicFrame>
      <p:cxnSp>
        <p:nvCxnSpPr>
          <p:cNvPr id="16" name="Straight Connector 15">
            <a:extLst>
              <a:ext uri="{FF2B5EF4-FFF2-40B4-BE49-F238E27FC236}">
                <a16:creationId xmlns:a16="http://schemas.microsoft.com/office/drawing/2014/main" id="{215C2515-FB5E-B592-5B68-89C873694CF6}"/>
              </a:ext>
            </a:extLst>
          </p:cNvPr>
          <p:cNvCxnSpPr>
            <a:cxnSpLocks/>
          </p:cNvCxnSpPr>
          <p:nvPr/>
        </p:nvCxnSpPr>
        <p:spPr>
          <a:xfrm>
            <a:off x="1350923" y="3204023"/>
            <a:ext cx="1231856" cy="0"/>
          </a:xfrm>
          <a:prstGeom prst="line">
            <a:avLst/>
          </a:prstGeom>
          <a:ln>
            <a:solidFill>
              <a:srgbClr val="7F46EA"/>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871B1F4-E0C7-BD81-3966-6F4A7A254D6F}"/>
              </a:ext>
            </a:extLst>
          </p:cNvPr>
          <p:cNvCxnSpPr>
            <a:cxnSpLocks/>
          </p:cNvCxnSpPr>
          <p:nvPr/>
        </p:nvCxnSpPr>
        <p:spPr>
          <a:xfrm>
            <a:off x="6696429" y="3204023"/>
            <a:ext cx="1603224" cy="0"/>
          </a:xfrm>
          <a:prstGeom prst="line">
            <a:avLst/>
          </a:prstGeom>
          <a:ln>
            <a:solidFill>
              <a:srgbClr val="7F46EA"/>
            </a:solidFill>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D7E7665C-031F-EE90-60D5-FE1A03F22DAF}"/>
              </a:ext>
            </a:extLst>
          </p:cNvPr>
          <p:cNvSpPr/>
          <p:nvPr/>
        </p:nvSpPr>
        <p:spPr>
          <a:xfrm>
            <a:off x="1366963" y="3294880"/>
            <a:ext cx="1290673" cy="620206"/>
          </a:xfrm>
          <a:prstGeom prst="roundRect">
            <a:avLst>
              <a:gd name="adj" fmla="val 10155"/>
            </a:avLst>
          </a:prstGeom>
          <a:solidFill>
            <a:srgbClr val="7F46EA">
              <a:alpha val="50000"/>
            </a:srgbClr>
          </a:solidFill>
          <a:ln w="19050">
            <a:solidFill>
              <a:srgbClr val="7F46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Inter" panose="02000503000000020004" pitchFamily="2" charset="0"/>
                <a:ea typeface="Inter" panose="02000503000000020004" pitchFamily="2" charset="0"/>
              </a:rPr>
              <a:t>Correlation</a:t>
            </a:r>
          </a:p>
          <a:p>
            <a:pPr algn="ctr"/>
            <a:r>
              <a:rPr lang="en-US" sz="1400" b="1" dirty="0">
                <a:latin typeface="Inter" panose="02000503000000020004" pitchFamily="2" charset="0"/>
                <a:ea typeface="Inter" panose="02000503000000020004" pitchFamily="2" charset="0"/>
              </a:rPr>
              <a:t>-0.89</a:t>
            </a:r>
          </a:p>
          <a:p>
            <a:pPr algn="ctr"/>
            <a:r>
              <a:rPr lang="en-US" sz="1000" dirty="0">
                <a:latin typeface="Inter" panose="02000503000000020004" pitchFamily="2" charset="0"/>
                <a:ea typeface="Inter" panose="02000503000000020004" pitchFamily="2" charset="0"/>
              </a:rPr>
              <a:t>R² = 0.7</a:t>
            </a:r>
          </a:p>
        </p:txBody>
      </p:sp>
      <p:sp>
        <p:nvSpPr>
          <p:cNvPr id="22" name="Rectangle: Rounded Corners 21">
            <a:extLst>
              <a:ext uri="{FF2B5EF4-FFF2-40B4-BE49-F238E27FC236}">
                <a16:creationId xmlns:a16="http://schemas.microsoft.com/office/drawing/2014/main" id="{EBCD289A-4BD0-6903-A320-1F8699530E52}"/>
              </a:ext>
            </a:extLst>
          </p:cNvPr>
          <p:cNvSpPr/>
          <p:nvPr/>
        </p:nvSpPr>
        <p:spPr>
          <a:xfrm>
            <a:off x="1366964" y="4012262"/>
            <a:ext cx="1292400" cy="379823"/>
          </a:xfrm>
          <a:prstGeom prst="roundRect">
            <a:avLst>
              <a:gd name="adj" fmla="val 998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Inter" panose="02000503000000020004" pitchFamily="2" charset="0"/>
                <a:ea typeface="Inter" panose="02000503000000020004" pitchFamily="2" charset="0"/>
              </a:rPr>
              <a:t>⭐⭐⭐⭐⭐</a:t>
            </a:r>
          </a:p>
          <a:p>
            <a:pPr algn="ctr"/>
            <a:r>
              <a:rPr lang="en-US" sz="1000" dirty="0">
                <a:latin typeface="Inter" panose="02000503000000020004" pitchFamily="2" charset="0"/>
                <a:ea typeface="Inter" panose="02000503000000020004" pitchFamily="2" charset="0"/>
              </a:rPr>
              <a:t>Very Strong</a:t>
            </a:r>
          </a:p>
        </p:txBody>
      </p:sp>
      <p:sp>
        <p:nvSpPr>
          <p:cNvPr id="23" name="Rectangle: Rounded Corners 22">
            <a:extLst>
              <a:ext uri="{FF2B5EF4-FFF2-40B4-BE49-F238E27FC236}">
                <a16:creationId xmlns:a16="http://schemas.microsoft.com/office/drawing/2014/main" id="{CC19455A-DC1A-8F00-83F0-028CD780F9DA}"/>
              </a:ext>
            </a:extLst>
          </p:cNvPr>
          <p:cNvSpPr/>
          <p:nvPr/>
        </p:nvSpPr>
        <p:spPr>
          <a:xfrm>
            <a:off x="1350923" y="4489261"/>
            <a:ext cx="1584000" cy="1144324"/>
          </a:xfrm>
          <a:prstGeom prst="roundRect">
            <a:avLst>
              <a:gd name="adj" fmla="val 4186"/>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900" b="1" dirty="0">
                <a:latin typeface="Inter" panose="02000503000000020004" pitchFamily="2" charset="0"/>
                <a:ea typeface="Inter" panose="02000503000000020004" pitchFamily="2" charset="0"/>
              </a:rPr>
              <a:t>79%</a:t>
            </a:r>
            <a:r>
              <a:rPr lang="en-US" sz="900" dirty="0">
                <a:latin typeface="Inter" panose="02000503000000020004" pitchFamily="2" charset="0"/>
                <a:ea typeface="Inter" panose="02000503000000020004" pitchFamily="2" charset="0"/>
              </a:rPr>
              <a:t> of price variation explained by generation. Near-perfect inverse relationship.</a:t>
            </a:r>
            <a:endParaRPr lang="en-US" sz="900" dirty="0">
              <a:solidFill>
                <a:schemeClr val="bg2"/>
              </a:solidFill>
              <a:latin typeface="Inter" panose="02000503000000020004" pitchFamily="2" charset="0"/>
              <a:ea typeface="Inter" panose="02000503000000020004" pitchFamily="2" charset="0"/>
            </a:endParaRPr>
          </a:p>
        </p:txBody>
      </p:sp>
      <p:sp>
        <p:nvSpPr>
          <p:cNvPr id="33" name="Rectangle: Rounded Corners 32">
            <a:extLst>
              <a:ext uri="{FF2B5EF4-FFF2-40B4-BE49-F238E27FC236}">
                <a16:creationId xmlns:a16="http://schemas.microsoft.com/office/drawing/2014/main" id="{8C40AABC-C066-7EA9-2112-BBB354D595AE}"/>
              </a:ext>
            </a:extLst>
          </p:cNvPr>
          <p:cNvSpPr/>
          <p:nvPr/>
        </p:nvSpPr>
        <p:spPr>
          <a:xfrm>
            <a:off x="6733587" y="3294880"/>
            <a:ext cx="1290673" cy="620206"/>
          </a:xfrm>
          <a:prstGeom prst="roundRect">
            <a:avLst>
              <a:gd name="adj" fmla="val 10155"/>
            </a:avLst>
          </a:prstGeom>
          <a:solidFill>
            <a:srgbClr val="7F46EA">
              <a:alpha val="50000"/>
            </a:srgbClr>
          </a:solidFill>
          <a:ln w="19050">
            <a:solidFill>
              <a:srgbClr val="7F46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Inter" panose="02000503000000020004" pitchFamily="2" charset="0"/>
                <a:ea typeface="Inter" panose="02000503000000020004" pitchFamily="2" charset="0"/>
              </a:rPr>
              <a:t>Correlation</a:t>
            </a:r>
          </a:p>
          <a:p>
            <a:pPr algn="ctr"/>
            <a:r>
              <a:rPr lang="en-US" sz="1400" b="1" dirty="0">
                <a:latin typeface="Inter" panose="02000503000000020004" pitchFamily="2" charset="0"/>
                <a:ea typeface="Inter" panose="02000503000000020004" pitchFamily="2" charset="0"/>
              </a:rPr>
              <a:t>-0.70</a:t>
            </a:r>
          </a:p>
          <a:p>
            <a:pPr algn="ctr"/>
            <a:r>
              <a:rPr lang="en-US" sz="1000" dirty="0">
                <a:latin typeface="Inter" panose="02000503000000020004" pitchFamily="2" charset="0"/>
                <a:ea typeface="Inter" panose="02000503000000020004" pitchFamily="2" charset="0"/>
              </a:rPr>
              <a:t>R² = 0.49</a:t>
            </a:r>
          </a:p>
        </p:txBody>
      </p:sp>
      <p:sp>
        <p:nvSpPr>
          <p:cNvPr id="35" name="Rectangle: Rounded Corners 34">
            <a:extLst>
              <a:ext uri="{FF2B5EF4-FFF2-40B4-BE49-F238E27FC236}">
                <a16:creationId xmlns:a16="http://schemas.microsoft.com/office/drawing/2014/main" id="{4A5C3ACC-D139-99BD-906D-997E662469FE}"/>
              </a:ext>
            </a:extLst>
          </p:cNvPr>
          <p:cNvSpPr/>
          <p:nvPr/>
        </p:nvSpPr>
        <p:spPr>
          <a:xfrm>
            <a:off x="6733588" y="4012262"/>
            <a:ext cx="1292400" cy="379823"/>
          </a:xfrm>
          <a:prstGeom prst="roundRect">
            <a:avLst>
              <a:gd name="adj" fmla="val 998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Inter" panose="02000503000000020004" pitchFamily="2" charset="0"/>
                <a:ea typeface="Inter" panose="02000503000000020004" pitchFamily="2" charset="0"/>
              </a:rPr>
              <a:t>⭐⭐⭐⭐</a:t>
            </a:r>
          </a:p>
          <a:p>
            <a:pPr algn="ctr"/>
            <a:r>
              <a:rPr lang="en-US" sz="1000" dirty="0">
                <a:latin typeface="Inter" panose="02000503000000020004" pitchFamily="2" charset="0"/>
                <a:ea typeface="Inter" panose="02000503000000020004" pitchFamily="2" charset="0"/>
              </a:rPr>
              <a:t>Strong</a:t>
            </a:r>
          </a:p>
        </p:txBody>
      </p:sp>
      <p:sp>
        <p:nvSpPr>
          <p:cNvPr id="36" name="Rectangle: Rounded Corners 35">
            <a:extLst>
              <a:ext uri="{FF2B5EF4-FFF2-40B4-BE49-F238E27FC236}">
                <a16:creationId xmlns:a16="http://schemas.microsoft.com/office/drawing/2014/main" id="{9EC7D916-46A5-99A2-583F-F55BF613A8E2}"/>
              </a:ext>
            </a:extLst>
          </p:cNvPr>
          <p:cNvSpPr/>
          <p:nvPr/>
        </p:nvSpPr>
        <p:spPr>
          <a:xfrm>
            <a:off x="6717547" y="4489261"/>
            <a:ext cx="1584000" cy="1144325"/>
          </a:xfrm>
          <a:prstGeom prst="roundRect">
            <a:avLst>
              <a:gd name="adj" fmla="val 4186"/>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900" b="1" i="0" dirty="0">
                <a:solidFill>
                  <a:schemeClr val="bg1"/>
                </a:solidFill>
                <a:effectLst/>
                <a:latin typeface="Segoe UI" panose="020B0502040204020203" pitchFamily="34" charset="0"/>
              </a:rPr>
              <a:t>49%</a:t>
            </a:r>
            <a:r>
              <a:rPr lang="en-US" sz="900" b="0" i="0" dirty="0">
                <a:solidFill>
                  <a:schemeClr val="bg1"/>
                </a:solidFill>
                <a:effectLst/>
                <a:latin typeface="Segoe UI" panose="020B0502040204020203" pitchFamily="34" charset="0"/>
              </a:rPr>
              <a:t> of price variation explained by generation. Clear inverse relationship</a:t>
            </a:r>
          </a:p>
          <a:p>
            <a:pPr algn="ctr">
              <a:lnSpc>
                <a:spcPct val="150000"/>
              </a:lnSpc>
            </a:pPr>
            <a:endParaRPr lang="en-US" sz="900" dirty="0">
              <a:solidFill>
                <a:schemeClr val="bg2"/>
              </a:solidFill>
              <a:latin typeface="Inter" panose="02000503000000020004" pitchFamily="2" charset="0"/>
              <a:ea typeface="Inter" panose="02000503000000020004" pitchFamily="2" charset="0"/>
            </a:endParaRPr>
          </a:p>
        </p:txBody>
      </p:sp>
      <p:sp>
        <p:nvSpPr>
          <p:cNvPr id="39" name="Rectangle: Diagonal Corners Rounded 38">
            <a:extLst>
              <a:ext uri="{FF2B5EF4-FFF2-40B4-BE49-F238E27FC236}">
                <a16:creationId xmlns:a16="http://schemas.microsoft.com/office/drawing/2014/main" id="{77C9FBD8-E0AD-4204-EBA0-493F188C9008}"/>
              </a:ext>
            </a:extLst>
          </p:cNvPr>
          <p:cNvSpPr/>
          <p:nvPr/>
        </p:nvSpPr>
        <p:spPr>
          <a:xfrm>
            <a:off x="1108843" y="5803962"/>
            <a:ext cx="10070809" cy="974082"/>
          </a:xfrm>
          <a:prstGeom prst="round2DiagRect">
            <a:avLst/>
          </a:prstGeom>
          <a:solidFill>
            <a:srgbClr val="16586B"/>
          </a:solidFill>
          <a:ln w="76200">
            <a:solidFill>
              <a:srgbClr val="16586B">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1200" dirty="0">
                <a:solidFill>
                  <a:srgbClr val="000000"/>
                </a:solidFill>
                <a:latin typeface="Inter" panose="02000503000000020004" pitchFamily="2" charset="0"/>
                <a:ea typeface="Inter" panose="02000503000000020004" pitchFamily="2" charset="0"/>
              </a:rPr>
              <a:t>💡</a:t>
            </a:r>
            <a:r>
              <a:rPr lang="en-US" sz="1200" b="1" cap="all" dirty="0">
                <a:solidFill>
                  <a:srgbClr val="FBBF24"/>
                </a:solidFill>
                <a:latin typeface="Inter" panose="02000503000000020004" pitchFamily="2" charset="0"/>
                <a:ea typeface="Inter" panose="02000503000000020004" pitchFamily="2" charset="0"/>
              </a:rPr>
              <a:t>  Strategic Insight</a:t>
            </a:r>
          </a:p>
          <a:p>
            <a:pPr>
              <a:lnSpc>
                <a:spcPct val="150000"/>
              </a:lnSpc>
              <a:spcAft>
                <a:spcPts val="750"/>
              </a:spcAft>
            </a:pPr>
            <a:r>
              <a:rPr lang="en-US" sz="1200" dirty="0">
                <a:solidFill>
                  <a:srgbClr val="FFFFFF"/>
                </a:solidFill>
                <a:latin typeface="Inter" panose="02000503000000020004" pitchFamily="2" charset="0"/>
                <a:ea typeface="Inter" panose="02000503000000020004" pitchFamily="2" charset="0"/>
              </a:rPr>
              <a:t>Strong negative correlations indicate </a:t>
            </a:r>
            <a:r>
              <a:rPr lang="en-US" sz="1200" b="1" dirty="0">
                <a:solidFill>
                  <a:srgbClr val="FBBF24"/>
                </a:solidFill>
                <a:latin typeface="Inter" panose="02000503000000020004" pitchFamily="2" charset="0"/>
                <a:ea typeface="Inter" panose="02000503000000020004" pitchFamily="2" charset="0"/>
              </a:rPr>
              <a:t>market saturation effects</a:t>
            </a:r>
            <a:r>
              <a:rPr lang="en-US" sz="1200" dirty="0">
                <a:solidFill>
                  <a:srgbClr val="FFFFFF"/>
                </a:solidFill>
                <a:latin typeface="Inter" panose="02000503000000020004" pitchFamily="2" charset="0"/>
                <a:ea typeface="Inter" panose="02000503000000020004" pitchFamily="2" charset="0"/>
              </a:rPr>
              <a:t>: as renewable capacity grows, capture prices decline due to </a:t>
            </a:r>
            <a:r>
              <a:rPr lang="en-US" sz="1200" b="1" dirty="0">
                <a:solidFill>
                  <a:srgbClr val="FBBF24"/>
                </a:solidFill>
                <a:latin typeface="Inter" panose="02000503000000020004" pitchFamily="2" charset="0"/>
                <a:ea typeface="Inter" panose="02000503000000020004" pitchFamily="2" charset="0"/>
              </a:rPr>
              <a:t>merit order displacement</a:t>
            </a:r>
            <a:r>
              <a:rPr lang="en-US" sz="1200" dirty="0">
                <a:solidFill>
                  <a:srgbClr val="FFFFFF"/>
                </a:solidFill>
                <a:latin typeface="Inter" panose="02000503000000020004" pitchFamily="2" charset="0"/>
                <a:ea typeface="Inter" panose="02000503000000020004" pitchFamily="2" charset="0"/>
              </a:rPr>
              <a:t> and </a:t>
            </a:r>
            <a:r>
              <a:rPr lang="en-US" sz="1200" b="1" dirty="0">
                <a:solidFill>
                  <a:srgbClr val="FBBF24"/>
                </a:solidFill>
                <a:latin typeface="Inter" panose="02000503000000020004" pitchFamily="2" charset="0"/>
                <a:ea typeface="Inter" panose="02000503000000020004" pitchFamily="2" charset="0"/>
              </a:rPr>
              <a:t>cannibalization</a:t>
            </a:r>
            <a:r>
              <a:rPr lang="en-US" sz="1200" dirty="0">
                <a:solidFill>
                  <a:srgbClr val="FFFFFF"/>
                </a:solidFill>
                <a:latin typeface="Inter" panose="02000503000000020004" pitchFamily="2" charset="0"/>
                <a:ea typeface="Inter" panose="02000503000000020004" pitchFamily="2" charset="0"/>
              </a:rPr>
              <a:t>. Solar PV's stronger correlation (R² = 0.79) suggests more predictable price dynamics</a:t>
            </a:r>
          </a:p>
        </p:txBody>
      </p:sp>
    </p:spTree>
    <p:extLst>
      <p:ext uri="{BB962C8B-B14F-4D97-AF65-F5344CB8AC3E}">
        <p14:creationId xmlns:p14="http://schemas.microsoft.com/office/powerpoint/2010/main" val="3990010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500"/>
                                        <p:tgtEl>
                                          <p:spTgt spid="70"/>
                                        </p:tgtEl>
                                      </p:cBhvr>
                                    </p:animEffect>
                                    <p:anim calcmode="lin" valueType="num">
                                      <p:cBhvr>
                                        <p:cTn id="8" dur="500" fill="hold"/>
                                        <p:tgtEl>
                                          <p:spTgt spid="70"/>
                                        </p:tgtEl>
                                        <p:attrNameLst>
                                          <p:attrName>ppt_x</p:attrName>
                                        </p:attrNameLst>
                                      </p:cBhvr>
                                      <p:tavLst>
                                        <p:tav tm="0">
                                          <p:val>
                                            <p:strVal val="#ppt_x"/>
                                          </p:val>
                                        </p:tav>
                                        <p:tav tm="100000">
                                          <p:val>
                                            <p:strVal val="#ppt_x"/>
                                          </p:val>
                                        </p:tav>
                                      </p:tavLst>
                                    </p:anim>
                                    <p:anim calcmode="lin" valueType="num">
                                      <p:cBhvr>
                                        <p:cTn id="9" dur="500" fill="hold"/>
                                        <p:tgtEl>
                                          <p:spTgt spid="7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2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par>
                          <p:cTn id="14" fill="hold">
                            <p:stCondLst>
                              <p:cond delay="1200"/>
                            </p:stCondLst>
                            <p:childTnLst>
                              <p:par>
                                <p:cTn id="15" presetID="10" presetClass="entr" presetSubtype="0" fill="hold" grpId="0" nodeType="afterEffect">
                                  <p:stCondLst>
                                    <p:cond delay="2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1900"/>
                            </p:stCondLst>
                            <p:childTnLst>
                              <p:par>
                                <p:cTn id="19" presetID="10" presetClass="entr" presetSubtype="0" fill="hold" nodeType="afterEffect">
                                  <p:stCondLst>
                                    <p:cond delay="20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par>
                          <p:cTn id="22" fill="hold">
                            <p:stCondLst>
                              <p:cond delay="2600"/>
                            </p:stCondLst>
                            <p:childTnLst>
                              <p:par>
                                <p:cTn id="23" presetID="10" presetClass="entr" presetSubtype="0" fill="hold" nodeType="afterEffect">
                                  <p:stCondLst>
                                    <p:cond delay="20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200"/>
                                        <p:tgtEl>
                                          <p:spTgt spid="26"/>
                                        </p:tgtEl>
                                      </p:cBhvr>
                                    </p:animEffect>
                                  </p:childTnLst>
                                </p:cTn>
                              </p:par>
                            </p:childTnLst>
                          </p:cTn>
                        </p:par>
                        <p:par>
                          <p:cTn id="26" fill="hold">
                            <p:stCondLst>
                              <p:cond delay="3000"/>
                            </p:stCondLst>
                            <p:childTnLst>
                              <p:par>
                                <p:cTn id="27" presetID="10" presetClass="entr" presetSubtype="0" fill="hold" grpId="0" nodeType="afterEffect">
                                  <p:stCondLst>
                                    <p:cond delay="20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childTnLst>
                          </p:cTn>
                        </p:par>
                        <p:par>
                          <p:cTn id="30" fill="hold">
                            <p:stCondLst>
                              <p:cond delay="3700"/>
                            </p:stCondLst>
                            <p:childTnLst>
                              <p:par>
                                <p:cTn id="31" presetID="10" presetClass="entr" presetSubtype="0" fill="hold" nodeType="afterEffect">
                                  <p:stCondLst>
                                    <p:cond delay="20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childTnLst>
                          </p:cTn>
                        </p:par>
                        <p:par>
                          <p:cTn id="34" fill="hold">
                            <p:stCondLst>
                              <p:cond delay="4400"/>
                            </p:stCondLst>
                            <p:childTnLst>
                              <p:par>
                                <p:cTn id="35" presetID="42" presetClass="entr" presetSubtype="0" fill="hold" grpId="0" nodeType="afterEffect">
                                  <p:stCondLst>
                                    <p:cond delay="0"/>
                                  </p:stCondLst>
                                  <p:childTnLst>
                                    <p:set>
                                      <p:cBhvr>
                                        <p:cTn id="36" dur="1" fill="hold">
                                          <p:stCondLst>
                                            <p:cond delay="0"/>
                                          </p:stCondLst>
                                        </p:cTn>
                                        <p:tgtEl>
                                          <p:spTgt spid="39">
                                            <p:bg/>
                                          </p:spTgt>
                                        </p:tgtEl>
                                        <p:attrNameLst>
                                          <p:attrName>style.visibility</p:attrName>
                                        </p:attrNameLst>
                                      </p:cBhvr>
                                      <p:to>
                                        <p:strVal val="visible"/>
                                      </p:to>
                                    </p:set>
                                    <p:animEffect transition="in" filter="fade">
                                      <p:cBhvr>
                                        <p:cTn id="37" dur="500"/>
                                        <p:tgtEl>
                                          <p:spTgt spid="39">
                                            <p:bg/>
                                          </p:spTgt>
                                        </p:tgtEl>
                                      </p:cBhvr>
                                    </p:animEffect>
                                    <p:anim calcmode="lin" valueType="num">
                                      <p:cBhvr>
                                        <p:cTn id="38" dur="500" fill="hold"/>
                                        <p:tgtEl>
                                          <p:spTgt spid="39">
                                            <p:bg/>
                                          </p:spTgt>
                                        </p:tgtEl>
                                        <p:attrNameLst>
                                          <p:attrName>ppt_x</p:attrName>
                                        </p:attrNameLst>
                                      </p:cBhvr>
                                      <p:tavLst>
                                        <p:tav tm="0">
                                          <p:val>
                                            <p:strVal val="#ppt_x"/>
                                          </p:val>
                                        </p:tav>
                                        <p:tav tm="100000">
                                          <p:val>
                                            <p:strVal val="#ppt_x"/>
                                          </p:val>
                                        </p:tav>
                                      </p:tavLst>
                                    </p:anim>
                                    <p:anim calcmode="lin" valueType="num">
                                      <p:cBhvr>
                                        <p:cTn id="39" dur="500" fill="hold"/>
                                        <p:tgtEl>
                                          <p:spTgt spid="39">
                                            <p:bg/>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39">
                                            <p:txEl>
                                              <p:pRg st="0" end="0"/>
                                            </p:txEl>
                                          </p:spTgt>
                                        </p:tgtEl>
                                        <p:attrNameLst>
                                          <p:attrName>style.visibility</p:attrName>
                                        </p:attrNameLst>
                                      </p:cBhvr>
                                      <p:to>
                                        <p:strVal val="visible"/>
                                      </p:to>
                                    </p:set>
                                    <p:animEffect transition="in" filter="fade">
                                      <p:cBhvr>
                                        <p:cTn id="44" dur="500"/>
                                        <p:tgtEl>
                                          <p:spTgt spid="39">
                                            <p:txEl>
                                              <p:pRg st="0" end="0"/>
                                            </p:txEl>
                                          </p:spTgt>
                                        </p:tgtEl>
                                      </p:cBhvr>
                                    </p:animEffect>
                                    <p:anim calcmode="lin" valueType="num">
                                      <p:cBhvr>
                                        <p:cTn id="45" dur="500" fill="hold"/>
                                        <p:tgtEl>
                                          <p:spTgt spid="39">
                                            <p:txEl>
                                              <p:pRg st="0" end="0"/>
                                            </p:txEl>
                                          </p:spTgt>
                                        </p:tgtEl>
                                        <p:attrNameLst>
                                          <p:attrName>ppt_x</p:attrName>
                                        </p:attrNameLst>
                                      </p:cBhvr>
                                      <p:tavLst>
                                        <p:tav tm="0">
                                          <p:val>
                                            <p:strVal val="#ppt_x"/>
                                          </p:val>
                                        </p:tav>
                                        <p:tav tm="100000">
                                          <p:val>
                                            <p:strVal val="#ppt_x"/>
                                          </p:val>
                                        </p:tav>
                                      </p:tavLst>
                                    </p:anim>
                                    <p:anim calcmode="lin" valueType="num">
                                      <p:cBhvr>
                                        <p:cTn id="46" dur="500" fill="hold"/>
                                        <p:tgtEl>
                                          <p:spTgt spid="3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70" grpId="0" animBg="1"/>
      <p:bldP spid="24" grpId="0" animBg="1"/>
      <p:bldP spid="39" grpId="0"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2F4C"/>
        </a:solidFill>
        <a:effectLst/>
      </p:bgPr>
    </p:bg>
    <p:spTree>
      <p:nvGrpSpPr>
        <p:cNvPr id="1" name="">
          <a:extLst>
            <a:ext uri="{FF2B5EF4-FFF2-40B4-BE49-F238E27FC236}">
              <a16:creationId xmlns:a16="http://schemas.microsoft.com/office/drawing/2014/main" id="{23F318BD-EE75-4C69-9377-617293B4649F}"/>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5BE7FAF2-7D12-5F48-A39E-1957C78DC505}"/>
              </a:ext>
            </a:extLst>
          </p:cNvPr>
          <p:cNvSpPr/>
          <p:nvPr/>
        </p:nvSpPr>
        <p:spPr>
          <a:xfrm>
            <a:off x="4115880" y="2531936"/>
            <a:ext cx="900000" cy="234000"/>
          </a:xfrm>
          <a:prstGeom prst="roundRect">
            <a:avLst>
              <a:gd name="adj" fmla="val 50000"/>
            </a:avLst>
          </a:prstGeom>
          <a:solidFill>
            <a:srgbClr val="10B981">
              <a:alpha val="50000"/>
            </a:srgbClr>
          </a:solidFill>
          <a:ln w="254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atin typeface="Inter" panose="02000503000000020004" pitchFamily="2" charset="0"/>
                <a:ea typeface="Inter" panose="02000503000000020004" pitchFamily="2" charset="0"/>
              </a:rPr>
              <a:t>2023 Q1</a:t>
            </a:r>
            <a:endParaRPr lang="en-US" sz="1200" dirty="0">
              <a:latin typeface="Inter" panose="02000503000000020004" pitchFamily="2" charset="0"/>
              <a:ea typeface="Inter" panose="02000503000000020004" pitchFamily="2" charset="0"/>
            </a:endParaRPr>
          </a:p>
        </p:txBody>
      </p:sp>
      <p:cxnSp>
        <p:nvCxnSpPr>
          <p:cNvPr id="20" name="Straight Connector 19">
            <a:extLst>
              <a:ext uri="{FF2B5EF4-FFF2-40B4-BE49-F238E27FC236}">
                <a16:creationId xmlns:a16="http://schemas.microsoft.com/office/drawing/2014/main" id="{B31EF75A-7E3C-3B2D-0278-6F8E9A1027A2}"/>
              </a:ext>
            </a:extLst>
          </p:cNvPr>
          <p:cNvCxnSpPr>
            <a:cxnSpLocks/>
          </p:cNvCxnSpPr>
          <p:nvPr/>
        </p:nvCxnSpPr>
        <p:spPr>
          <a:xfrm>
            <a:off x="1757516" y="2837944"/>
            <a:ext cx="3762420" cy="0"/>
          </a:xfrm>
          <a:prstGeom prst="line">
            <a:avLst/>
          </a:prstGeom>
          <a:ln>
            <a:solidFill>
              <a:srgbClr val="FFC000">
                <a:alpha val="50000"/>
              </a:srgbClr>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ED294208-22E9-83E5-4277-BB70DB2A907C}"/>
              </a:ext>
            </a:extLst>
          </p:cNvPr>
          <p:cNvGrpSpPr/>
          <p:nvPr/>
        </p:nvGrpSpPr>
        <p:grpSpPr>
          <a:xfrm>
            <a:off x="1108844" y="2242296"/>
            <a:ext cx="4771132" cy="3546443"/>
            <a:chOff x="695400" y="1466443"/>
            <a:chExt cx="3960440" cy="2970669"/>
          </a:xfrm>
        </p:grpSpPr>
        <p:sp>
          <p:nvSpPr>
            <p:cNvPr id="5" name="Rectangle: Rounded Corners 4">
              <a:extLst>
                <a:ext uri="{FF2B5EF4-FFF2-40B4-BE49-F238E27FC236}">
                  <a16:creationId xmlns:a16="http://schemas.microsoft.com/office/drawing/2014/main" id="{CF8D9BEB-4BD5-B868-4F48-1724C84718A6}"/>
                </a:ext>
              </a:extLst>
            </p:cNvPr>
            <p:cNvSpPr/>
            <p:nvPr/>
          </p:nvSpPr>
          <p:spPr>
            <a:xfrm>
              <a:off x="695400" y="1556791"/>
              <a:ext cx="3960440" cy="2793551"/>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r>
                <a:rPr lang="en-GB" sz="1200" b="1" dirty="0">
                  <a:solidFill>
                    <a:schemeClr val="bg2"/>
                  </a:solidFill>
                  <a:latin typeface="Inter" panose="02000503000000020004" pitchFamily="2" charset="0"/>
                  <a:ea typeface="Inter" panose="02000503000000020004" pitchFamily="2" charset="0"/>
                </a:rPr>
                <a:t>                 </a:t>
              </a:r>
              <a:r>
                <a:rPr lang="en-US" dirty="0"/>
                <a:t> </a:t>
              </a:r>
            </a:p>
            <a:p>
              <a:r>
                <a:rPr lang="en-US" sz="1200" dirty="0">
                  <a:latin typeface="Inter" panose="02000503000000020004" pitchFamily="2" charset="0"/>
                  <a:ea typeface="Inter" panose="02000503000000020004" pitchFamily="2" charset="0"/>
                </a:rPr>
                <a:t>               Capture Price vs Generation</a:t>
              </a:r>
            </a:p>
            <a:p>
              <a:endParaRPr lang="en-US" sz="1400" dirty="0">
                <a:latin typeface="Inter" panose="02000503000000020004" pitchFamily="2" charset="0"/>
                <a:ea typeface="Inter" panose="02000503000000020004" pitchFamily="2" charset="0"/>
              </a:endParaRPr>
            </a:p>
            <a:p>
              <a:r>
                <a:rPr lang="en-US" sz="1400" dirty="0">
                  <a:latin typeface="Inter" panose="02000503000000020004" pitchFamily="2" charset="0"/>
                  <a:ea typeface="Inter" panose="02000503000000020004" pitchFamily="2" charset="0"/>
                </a:rPr>
                <a:t>☀️</a:t>
              </a:r>
              <a:r>
                <a:rPr lang="en-US" sz="1400" b="1" dirty="0">
                  <a:latin typeface="Inter" panose="02000503000000020004" pitchFamily="2" charset="0"/>
                  <a:ea typeface="Inter" panose="02000503000000020004" pitchFamily="2" charset="0"/>
                </a:rPr>
                <a:t>Solar PV </a:t>
              </a:r>
              <a:r>
                <a:rPr lang="en-US" sz="1400" dirty="0">
                  <a:latin typeface="Inter" panose="02000503000000020004" pitchFamily="2" charset="0"/>
                  <a:ea typeface="Inter" panose="02000503000000020004" pitchFamily="2" charset="0"/>
                </a:rPr>
                <a:t>GB</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6" name="Group 5">
              <a:extLst>
                <a:ext uri="{FF2B5EF4-FFF2-40B4-BE49-F238E27FC236}">
                  <a16:creationId xmlns:a16="http://schemas.microsoft.com/office/drawing/2014/main" id="{D08E7EE0-A784-2AE0-25FA-143C9E1C4D29}"/>
                </a:ext>
              </a:extLst>
            </p:cNvPr>
            <p:cNvGrpSpPr/>
            <p:nvPr/>
          </p:nvGrpSpPr>
          <p:grpSpPr>
            <a:xfrm>
              <a:off x="696556" y="1466443"/>
              <a:ext cx="457200" cy="2970669"/>
              <a:chOff x="4878000" y="1468232"/>
              <a:chExt cx="457200" cy="2970669"/>
            </a:xfrm>
          </p:grpSpPr>
          <p:sp>
            <p:nvSpPr>
              <p:cNvPr id="7" name="Arc 29">
                <a:extLst>
                  <a:ext uri="{FF2B5EF4-FFF2-40B4-BE49-F238E27FC236}">
                    <a16:creationId xmlns:a16="http://schemas.microsoft.com/office/drawing/2014/main" id="{488D5413-CA9F-9C2F-FF81-F59881EB183C}"/>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10B981"/>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8" name="Group 7">
                <a:extLst>
                  <a:ext uri="{FF2B5EF4-FFF2-40B4-BE49-F238E27FC236}">
                    <a16:creationId xmlns:a16="http://schemas.microsoft.com/office/drawing/2014/main" id="{7CD28FE0-7EB5-5BA9-3197-8CD030B1DD1B}"/>
                  </a:ext>
                </a:extLst>
              </p:cNvPr>
              <p:cNvGrpSpPr/>
              <p:nvPr/>
            </p:nvGrpSpPr>
            <p:grpSpPr>
              <a:xfrm>
                <a:off x="4878000" y="1917596"/>
                <a:ext cx="457200" cy="2521305"/>
                <a:chOff x="4871440" y="1917596"/>
                <a:chExt cx="457200" cy="2521305"/>
              </a:xfrm>
            </p:grpSpPr>
            <p:cxnSp>
              <p:nvCxnSpPr>
                <p:cNvPr id="12" name="Straight Connector 11">
                  <a:extLst>
                    <a:ext uri="{FF2B5EF4-FFF2-40B4-BE49-F238E27FC236}">
                      <a16:creationId xmlns:a16="http://schemas.microsoft.com/office/drawing/2014/main" id="{2C37638A-708E-0347-3E18-B95390A51E44}"/>
                    </a:ext>
                  </a:extLst>
                </p:cNvPr>
                <p:cNvCxnSpPr>
                  <a:cxnSpLocks/>
                </p:cNvCxnSpPr>
                <p:nvPr/>
              </p:nvCxnSpPr>
              <p:spPr>
                <a:xfrm>
                  <a:off x="4871440" y="1917596"/>
                  <a:ext cx="0" cy="2106015"/>
                </a:xfrm>
                <a:prstGeom prst="line">
                  <a:avLst/>
                </a:prstGeom>
                <a:ln w="25400">
                  <a:solidFill>
                    <a:srgbClr val="10B981"/>
                  </a:solidFill>
                </a:ln>
              </p:spPr>
              <p:style>
                <a:lnRef idx="1">
                  <a:schemeClr val="accent1"/>
                </a:lnRef>
                <a:fillRef idx="0">
                  <a:schemeClr val="accent1"/>
                </a:fillRef>
                <a:effectRef idx="0">
                  <a:schemeClr val="accent1"/>
                </a:effectRef>
                <a:fontRef idx="minor">
                  <a:schemeClr val="tx1"/>
                </a:fontRef>
              </p:style>
            </p:cxnSp>
            <p:sp>
              <p:nvSpPr>
                <p:cNvPr id="14" name="Arc 29">
                  <a:extLst>
                    <a:ext uri="{FF2B5EF4-FFF2-40B4-BE49-F238E27FC236}">
                      <a16:creationId xmlns:a16="http://schemas.microsoft.com/office/drawing/2014/main" id="{C6F07DB8-549E-981D-CA0D-974DD1431AE4}"/>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10B981"/>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sp>
        <p:nvSpPr>
          <p:cNvPr id="69" name="Title 1">
            <a:extLst>
              <a:ext uri="{FF2B5EF4-FFF2-40B4-BE49-F238E27FC236}">
                <a16:creationId xmlns:a16="http://schemas.microsoft.com/office/drawing/2014/main" id="{A9E6B49A-74E3-2F1A-0B5A-4163A3F2F9CB}"/>
              </a:ext>
            </a:extLst>
          </p:cNvPr>
          <p:cNvSpPr txBox="1">
            <a:spLocks/>
          </p:cNvSpPr>
          <p:nvPr/>
        </p:nvSpPr>
        <p:spPr>
          <a:xfrm>
            <a:off x="1181452" y="158329"/>
            <a:ext cx="9487662" cy="946146"/>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70000"/>
              </a:lnSpc>
            </a:pPr>
            <a:br>
              <a:rPr lang="en-US" sz="1100" dirty="0">
                <a:solidFill>
                  <a:schemeClr val="bg1"/>
                </a:solidFill>
                <a:latin typeface="Inter ExtraBold" panose="02000503000000020004" pitchFamily="2" charset="0"/>
                <a:ea typeface="Inter ExtraBold" panose="02000503000000020004" pitchFamily="2" charset="0"/>
              </a:rPr>
            </a:br>
            <a:r>
              <a:rPr lang="en-US" sz="5000" dirty="0">
                <a:solidFill>
                  <a:schemeClr val="bg1"/>
                </a:solidFill>
                <a:latin typeface="Inter ExtraBold" panose="02000503000000020004" pitchFamily="2" charset="0"/>
                <a:ea typeface="Inter ExtraBold" panose="02000503000000020004" pitchFamily="2" charset="0"/>
              </a:rPr>
              <a:t>CORRELATION ANALYSIS</a:t>
            </a:r>
            <a:br>
              <a:rPr lang="en-US" sz="800" i="1" dirty="0">
                <a:solidFill>
                  <a:srgbClr val="FFC000"/>
                </a:solidFill>
                <a:latin typeface="Inter  "/>
              </a:rPr>
            </a:br>
            <a:r>
              <a:rPr lang="en-US" sz="4900" i="1" dirty="0">
                <a:solidFill>
                  <a:srgbClr val="FFC000"/>
                </a:solidFill>
                <a:latin typeface="Inter  "/>
              </a:rPr>
              <a:t>In the long run, is there a relationship between capture prices and power generation output (GWh) for solar PV and onshore wind in DE? </a:t>
            </a:r>
            <a:br>
              <a:rPr lang="en-US" sz="800" i="1" dirty="0">
                <a:solidFill>
                  <a:srgbClr val="FFC000"/>
                </a:solidFill>
                <a:latin typeface="Inter  "/>
              </a:rPr>
            </a:br>
            <a:br>
              <a:rPr lang="en-US" sz="800" i="1" dirty="0">
                <a:solidFill>
                  <a:srgbClr val="FFC000"/>
                </a:solidFill>
                <a:latin typeface="Inter  "/>
              </a:rPr>
            </a:br>
            <a:endParaRPr lang="en-US" sz="800" i="1" dirty="0">
              <a:solidFill>
                <a:srgbClr val="FFC000"/>
              </a:solidFill>
              <a:latin typeface="Inter" panose="02000503000000020004" pitchFamily="2" charset="0"/>
              <a:ea typeface="Inter" panose="02000503000000020004" pitchFamily="2" charset="0"/>
            </a:endParaRPr>
          </a:p>
        </p:txBody>
      </p:sp>
      <p:sp>
        <p:nvSpPr>
          <p:cNvPr id="70" name="Rectangle: Diagonal Corners Rounded 69">
            <a:extLst>
              <a:ext uri="{FF2B5EF4-FFF2-40B4-BE49-F238E27FC236}">
                <a16:creationId xmlns:a16="http://schemas.microsoft.com/office/drawing/2014/main" id="{F16763E4-DC17-9A88-BA18-275C8014FC26}"/>
              </a:ext>
            </a:extLst>
          </p:cNvPr>
          <p:cNvSpPr/>
          <p:nvPr/>
        </p:nvSpPr>
        <p:spPr>
          <a:xfrm>
            <a:off x="1128115" y="1224407"/>
            <a:ext cx="9988669" cy="946147"/>
          </a:xfrm>
          <a:prstGeom prst="round2DiagRect">
            <a:avLst/>
          </a:prstGeom>
          <a:solidFill>
            <a:srgbClr val="16586B"/>
          </a:solidFill>
          <a:ln w="76200">
            <a:solidFill>
              <a:srgbClr val="16586B">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50000"/>
              </a:lnSpc>
            </a:pPr>
            <a:r>
              <a:rPr lang="en-US" dirty="0">
                <a:latin typeface="Inter" panose="02000503000000020004" pitchFamily="2" charset="0"/>
                <a:ea typeface="Inter" panose="02000503000000020004" pitchFamily="2" charset="0"/>
              </a:rPr>
              <a:t>✅ </a:t>
            </a:r>
            <a:r>
              <a:rPr lang="en-US" sz="1200" b="1" dirty="0">
                <a:solidFill>
                  <a:srgbClr val="6EE7B7"/>
                </a:solidFill>
                <a:latin typeface="Inter" panose="02000503000000020004" pitchFamily="2" charset="0"/>
                <a:ea typeface="Inter" panose="02000503000000020004" pitchFamily="2" charset="0"/>
              </a:rPr>
              <a:t>Yes – Strong negative relationships, strengthening over time.</a:t>
            </a:r>
            <a:r>
              <a:rPr lang="en-US" sz="1200" dirty="0">
                <a:solidFill>
                  <a:srgbClr val="FFFFFF"/>
                </a:solidFill>
                <a:latin typeface="Inter" panose="02000503000000020004" pitchFamily="2" charset="0"/>
                <a:ea typeface="Inter" panose="02000503000000020004" pitchFamily="2" charset="0"/>
              </a:rPr>
              <a:t> Solar PV maintains </a:t>
            </a:r>
            <a:r>
              <a:rPr lang="en-US" sz="1200" b="1" dirty="0">
                <a:solidFill>
                  <a:srgbClr val="6EE7B7"/>
                </a:solidFill>
                <a:latin typeface="Inter" panose="02000503000000020004" pitchFamily="2" charset="0"/>
                <a:ea typeface="Inter" panose="02000503000000020004" pitchFamily="2" charset="0"/>
              </a:rPr>
              <a:t>very strong correlation (R = -0.89)</a:t>
            </a:r>
            <a:r>
              <a:rPr lang="en-US" sz="1200" dirty="0">
                <a:solidFill>
                  <a:srgbClr val="FFFFFF"/>
                </a:solidFill>
                <a:latin typeface="Inter" panose="02000503000000020004" pitchFamily="2" charset="0"/>
                <a:ea typeface="Inter" panose="02000503000000020004" pitchFamily="2" charset="0"/>
              </a:rPr>
              <a:t>, Onshore Wind correlation </a:t>
            </a:r>
            <a:r>
              <a:rPr lang="en-US" sz="1200" b="1" dirty="0">
                <a:solidFill>
                  <a:srgbClr val="6EE7B7"/>
                </a:solidFill>
                <a:latin typeface="Inter" panose="02000503000000020004" pitchFamily="2" charset="0"/>
                <a:ea typeface="Inter" panose="02000503000000020004" pitchFamily="2" charset="0"/>
              </a:rPr>
              <a:t>strengthened to R = -0.82</a:t>
            </a:r>
            <a:r>
              <a:rPr lang="en-US" sz="1200" dirty="0">
                <a:solidFill>
                  <a:srgbClr val="FFFFFF"/>
                </a:solidFill>
                <a:latin typeface="Inter" panose="02000503000000020004" pitchFamily="2" charset="0"/>
                <a:ea typeface="Inter" panose="02000503000000020004" pitchFamily="2" charset="0"/>
              </a:rPr>
              <a:t> (from -0.70 in Q3). As generation ↑, capture prices ↓</a:t>
            </a:r>
            <a:endParaRPr lang="en-US" sz="1200" dirty="0">
              <a:solidFill>
                <a:prstClr val="white"/>
              </a:solidFill>
              <a:latin typeface="Inter" panose="02000503000000020004" pitchFamily="2" charset="0"/>
              <a:ea typeface="Inter" panose="02000503000000020004" pitchFamily="2" charset="0"/>
            </a:endParaRPr>
          </a:p>
        </p:txBody>
      </p:sp>
      <p:sp>
        <p:nvSpPr>
          <p:cNvPr id="24" name="Rectangle: Rounded Corners 23">
            <a:extLst>
              <a:ext uri="{FF2B5EF4-FFF2-40B4-BE49-F238E27FC236}">
                <a16:creationId xmlns:a16="http://schemas.microsoft.com/office/drawing/2014/main" id="{EE8B9DC7-7187-CB2F-FF33-EAEA062E9D91}"/>
              </a:ext>
            </a:extLst>
          </p:cNvPr>
          <p:cNvSpPr/>
          <p:nvPr/>
        </p:nvSpPr>
        <p:spPr>
          <a:xfrm>
            <a:off x="9426678" y="2536385"/>
            <a:ext cx="900000" cy="234000"/>
          </a:xfrm>
          <a:prstGeom prst="roundRect">
            <a:avLst>
              <a:gd name="adj" fmla="val 50000"/>
            </a:avLst>
          </a:prstGeom>
          <a:solidFill>
            <a:srgbClr val="10B981">
              <a:alpha val="50000"/>
            </a:srgbClr>
          </a:solidFill>
          <a:ln w="254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latin typeface="Inter" panose="02000503000000020004" pitchFamily="2" charset="0"/>
                <a:ea typeface="Inter" panose="02000503000000020004" pitchFamily="2" charset="0"/>
              </a:rPr>
              <a:t>2023 Q1</a:t>
            </a:r>
            <a:endParaRPr lang="en-US" sz="1200" dirty="0">
              <a:latin typeface="Inter" panose="02000503000000020004" pitchFamily="2" charset="0"/>
              <a:ea typeface="Inter" panose="02000503000000020004" pitchFamily="2" charset="0"/>
            </a:endParaRPr>
          </a:p>
        </p:txBody>
      </p:sp>
      <p:cxnSp>
        <p:nvCxnSpPr>
          <p:cNvPr id="25" name="Straight Connector 24">
            <a:extLst>
              <a:ext uri="{FF2B5EF4-FFF2-40B4-BE49-F238E27FC236}">
                <a16:creationId xmlns:a16="http://schemas.microsoft.com/office/drawing/2014/main" id="{C16FCBED-7CAA-4494-C9D6-C366C370CC01}"/>
              </a:ext>
            </a:extLst>
          </p:cNvPr>
          <p:cNvCxnSpPr>
            <a:cxnSpLocks/>
          </p:cNvCxnSpPr>
          <p:nvPr/>
        </p:nvCxnSpPr>
        <p:spPr>
          <a:xfrm>
            <a:off x="7068314" y="2842393"/>
            <a:ext cx="3762420" cy="0"/>
          </a:xfrm>
          <a:prstGeom prst="line">
            <a:avLst/>
          </a:prstGeom>
          <a:ln>
            <a:solidFill>
              <a:srgbClr val="FFC000">
                <a:alpha val="50000"/>
              </a:srgbClr>
            </a:solidFill>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F7153902-860B-D9F1-481B-DF0187E6B9D3}"/>
              </a:ext>
            </a:extLst>
          </p:cNvPr>
          <p:cNvGrpSpPr/>
          <p:nvPr/>
        </p:nvGrpSpPr>
        <p:grpSpPr>
          <a:xfrm>
            <a:off x="6419642" y="2246745"/>
            <a:ext cx="4771132" cy="3546443"/>
            <a:chOff x="695400" y="1466443"/>
            <a:chExt cx="3960440" cy="2970669"/>
          </a:xfrm>
        </p:grpSpPr>
        <p:sp>
          <p:nvSpPr>
            <p:cNvPr id="27" name="Rectangle: Rounded Corners 26">
              <a:extLst>
                <a:ext uri="{FF2B5EF4-FFF2-40B4-BE49-F238E27FC236}">
                  <a16:creationId xmlns:a16="http://schemas.microsoft.com/office/drawing/2014/main" id="{BE950565-547F-DC7C-0366-A0BE9EEEA674}"/>
                </a:ext>
              </a:extLst>
            </p:cNvPr>
            <p:cNvSpPr/>
            <p:nvPr/>
          </p:nvSpPr>
          <p:spPr>
            <a:xfrm>
              <a:off x="695400" y="1556791"/>
              <a:ext cx="3960440" cy="2793551"/>
            </a:xfrm>
            <a:prstGeom prst="roundRect">
              <a:avLst>
                <a:gd name="adj" fmla="val 557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r>
                <a:rPr lang="en-GB" sz="1200" b="1" dirty="0">
                  <a:solidFill>
                    <a:schemeClr val="bg2"/>
                  </a:solidFill>
                  <a:latin typeface="Inter" panose="02000503000000020004" pitchFamily="2" charset="0"/>
                  <a:ea typeface="Inter" panose="02000503000000020004" pitchFamily="2" charset="0"/>
                </a:rPr>
                <a:t>                     </a:t>
              </a: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r>
                <a:rPr lang="en-US" sz="1200" dirty="0">
                  <a:latin typeface="Inter" panose="02000503000000020004" pitchFamily="2" charset="0"/>
                  <a:ea typeface="Inter" panose="02000503000000020004" pitchFamily="2" charset="0"/>
                </a:rPr>
                <a:t>            </a:t>
              </a:r>
            </a:p>
            <a:p>
              <a:r>
                <a:rPr lang="en-US" sz="1200" dirty="0">
                  <a:latin typeface="Inter" panose="02000503000000020004" pitchFamily="2" charset="0"/>
                  <a:ea typeface="Inter" panose="02000503000000020004" pitchFamily="2" charset="0"/>
                </a:rPr>
                <a:t>                Capture Price vs Generation</a:t>
              </a:r>
              <a:endParaRPr lang="en-GB" sz="1200" b="1" dirty="0">
                <a:solidFill>
                  <a:schemeClr val="bg2"/>
                </a:solidFill>
                <a:latin typeface="Inter" panose="02000503000000020004" pitchFamily="2" charset="0"/>
                <a:ea typeface="Inter" panose="02000503000000020004" pitchFamily="2" charset="0"/>
              </a:endParaRPr>
            </a:p>
            <a:p>
              <a:pPr lvl="0">
                <a:defRPr/>
              </a:pPr>
              <a:endParaRPr lang="en-US" sz="1400" dirty="0">
                <a:latin typeface="Inter" panose="02000503000000020004" pitchFamily="2" charset="0"/>
                <a:ea typeface="Inter" panose="02000503000000020004" pitchFamily="2" charset="0"/>
              </a:endParaRPr>
            </a:p>
            <a:p>
              <a:pPr lvl="0">
                <a:defRPr/>
              </a:pPr>
              <a:r>
                <a:rPr lang="en-US" sz="1400" dirty="0">
                  <a:latin typeface="Inter" panose="02000503000000020004" pitchFamily="2" charset="0"/>
                  <a:ea typeface="Inter" panose="02000503000000020004" pitchFamily="2" charset="0"/>
                </a:rPr>
                <a:t>💨</a:t>
              </a:r>
              <a:r>
                <a:rPr lang="en-US" sz="1400" b="1" dirty="0">
                  <a:solidFill>
                    <a:prstClr val="white"/>
                  </a:solidFill>
                  <a:latin typeface="Inter" panose="02000503000000020004" pitchFamily="2" charset="0"/>
                  <a:ea typeface="Inter" panose="02000503000000020004" pitchFamily="2" charset="0"/>
                </a:rPr>
                <a:t>Onshore Wind</a:t>
              </a:r>
              <a:r>
                <a:rPr kumimoji="0" lang="en-US" sz="1400" b="1" i="0" u="none" strike="noStrike" kern="1200" cap="none" spc="0" normalizeH="0" baseline="0" noProof="0" dirty="0">
                  <a:ln>
                    <a:noFill/>
                  </a:ln>
                  <a:solidFill>
                    <a:prstClr val="white"/>
                  </a:solidFill>
                  <a:effectLst/>
                  <a:uLnTx/>
                  <a:uFillTx/>
                  <a:latin typeface="Inter" panose="02000503000000020004" pitchFamily="2" charset="0"/>
                  <a:ea typeface="Inter" panose="02000503000000020004" pitchFamily="2" charset="0"/>
                </a:rPr>
                <a:t> DE</a:t>
              </a:r>
              <a:endParaRPr kumimoji="0" lang="en-US" sz="1400" b="0" i="0" u="none" strike="noStrike" kern="1200" cap="none" spc="0" normalizeH="0" baseline="0" noProof="0" dirty="0">
                <a:ln>
                  <a:noFill/>
                </a:ln>
                <a:solidFill>
                  <a:prstClr val="white"/>
                </a:solidFill>
                <a:effectLst/>
                <a:uLnTx/>
                <a:uFillTx/>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2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2"/>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b="1" dirty="0">
                <a:solidFill>
                  <a:schemeClr val="bg1"/>
                </a:solidFill>
                <a:latin typeface="Inter" panose="02000503000000020004" pitchFamily="2" charset="0"/>
                <a:ea typeface="Inter" panose="02000503000000020004" pitchFamily="2" charset="0"/>
              </a:endParaRPr>
            </a:p>
            <a:p>
              <a:pPr>
                <a:lnSpc>
                  <a:spcPct val="150000"/>
                </a:lnSpc>
              </a:pPr>
              <a:endParaRPr lang="en-GB" sz="1400" dirty="0">
                <a:latin typeface="Inter" panose="02000503000000020004" pitchFamily="2" charset="0"/>
                <a:ea typeface="Inter" panose="02000503000000020004" pitchFamily="2" charset="0"/>
              </a:endParaRPr>
            </a:p>
          </p:txBody>
        </p:sp>
        <p:grpSp>
          <p:nvGrpSpPr>
            <p:cNvPr id="28" name="Group 27">
              <a:extLst>
                <a:ext uri="{FF2B5EF4-FFF2-40B4-BE49-F238E27FC236}">
                  <a16:creationId xmlns:a16="http://schemas.microsoft.com/office/drawing/2014/main" id="{813D9601-CD4C-55C3-2588-38FDD81CF03A}"/>
                </a:ext>
              </a:extLst>
            </p:cNvPr>
            <p:cNvGrpSpPr/>
            <p:nvPr/>
          </p:nvGrpSpPr>
          <p:grpSpPr>
            <a:xfrm>
              <a:off x="696556" y="1466443"/>
              <a:ext cx="457200" cy="2970669"/>
              <a:chOff x="4878000" y="1468232"/>
              <a:chExt cx="457200" cy="2970669"/>
            </a:xfrm>
          </p:grpSpPr>
          <p:sp>
            <p:nvSpPr>
              <p:cNvPr id="29" name="Arc 29">
                <a:extLst>
                  <a:ext uri="{FF2B5EF4-FFF2-40B4-BE49-F238E27FC236}">
                    <a16:creationId xmlns:a16="http://schemas.microsoft.com/office/drawing/2014/main" id="{B3F14293-B36F-6DEA-2873-7365AAADCE8B}"/>
                  </a:ext>
                </a:extLst>
              </p:cNvPr>
              <p:cNvSpPr/>
              <p:nvPr/>
            </p:nvSpPr>
            <p:spPr>
              <a:xfrm rot="16200000">
                <a:off x="4878000" y="1468232"/>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10B981"/>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nvGrpSpPr>
              <p:cNvPr id="30" name="Group 29">
                <a:extLst>
                  <a:ext uri="{FF2B5EF4-FFF2-40B4-BE49-F238E27FC236}">
                    <a16:creationId xmlns:a16="http://schemas.microsoft.com/office/drawing/2014/main" id="{B49149D4-3198-CE34-1232-99232318D406}"/>
                  </a:ext>
                </a:extLst>
              </p:cNvPr>
              <p:cNvGrpSpPr/>
              <p:nvPr/>
            </p:nvGrpSpPr>
            <p:grpSpPr>
              <a:xfrm>
                <a:off x="4878000" y="1917596"/>
                <a:ext cx="457200" cy="2521305"/>
                <a:chOff x="4871440" y="1917596"/>
                <a:chExt cx="457200" cy="2521305"/>
              </a:xfrm>
            </p:grpSpPr>
            <p:cxnSp>
              <p:nvCxnSpPr>
                <p:cNvPr id="31" name="Straight Connector 30">
                  <a:extLst>
                    <a:ext uri="{FF2B5EF4-FFF2-40B4-BE49-F238E27FC236}">
                      <a16:creationId xmlns:a16="http://schemas.microsoft.com/office/drawing/2014/main" id="{F1B8E85F-7B01-21E6-8EFE-B70334FC9C75}"/>
                    </a:ext>
                  </a:extLst>
                </p:cNvPr>
                <p:cNvCxnSpPr>
                  <a:cxnSpLocks/>
                </p:cNvCxnSpPr>
                <p:nvPr/>
              </p:nvCxnSpPr>
              <p:spPr>
                <a:xfrm>
                  <a:off x="4871440" y="1917596"/>
                  <a:ext cx="0" cy="2106015"/>
                </a:xfrm>
                <a:prstGeom prst="line">
                  <a:avLst/>
                </a:prstGeom>
                <a:ln w="25400">
                  <a:solidFill>
                    <a:srgbClr val="10B981"/>
                  </a:solidFill>
                </a:ln>
              </p:spPr>
              <p:style>
                <a:lnRef idx="1">
                  <a:schemeClr val="accent1"/>
                </a:lnRef>
                <a:fillRef idx="0">
                  <a:schemeClr val="accent1"/>
                </a:fillRef>
                <a:effectRef idx="0">
                  <a:schemeClr val="accent1"/>
                </a:effectRef>
                <a:fontRef idx="minor">
                  <a:schemeClr val="tx1"/>
                </a:fontRef>
              </p:style>
            </p:cxnSp>
            <p:sp>
              <p:nvSpPr>
                <p:cNvPr id="32" name="Arc 29">
                  <a:extLst>
                    <a:ext uri="{FF2B5EF4-FFF2-40B4-BE49-F238E27FC236}">
                      <a16:creationId xmlns:a16="http://schemas.microsoft.com/office/drawing/2014/main" id="{38AC7BFD-09DB-1FD5-20BC-4C264AC15664}"/>
                    </a:ext>
                  </a:extLst>
                </p:cNvPr>
                <p:cNvSpPr/>
                <p:nvPr/>
              </p:nvSpPr>
              <p:spPr>
                <a:xfrm rot="5400000" flipV="1">
                  <a:off x="4871440" y="3981701"/>
                  <a:ext cx="457200" cy="457200"/>
                </a:xfrm>
                <a:custGeom>
                  <a:avLst/>
                  <a:gdLst>
                    <a:gd name="connsiteX0" fmla="*/ 457200 w 914400"/>
                    <a:gd name="connsiteY0" fmla="*/ 0 h 914400"/>
                    <a:gd name="connsiteX1" fmla="*/ 914400 w 914400"/>
                    <a:gd name="connsiteY1" fmla="*/ 457200 h 914400"/>
                    <a:gd name="connsiteX2" fmla="*/ 457200 w 914400"/>
                    <a:gd name="connsiteY2" fmla="*/ 457200 h 914400"/>
                    <a:gd name="connsiteX3" fmla="*/ 457200 w 914400"/>
                    <a:gd name="connsiteY3" fmla="*/ 0 h 914400"/>
                    <a:gd name="connsiteX0" fmla="*/ 457200 w 914400"/>
                    <a:gd name="connsiteY0" fmla="*/ 0 h 914400"/>
                    <a:gd name="connsiteX1" fmla="*/ 914400 w 914400"/>
                    <a:gd name="connsiteY1" fmla="*/ 457200 h 914400"/>
                    <a:gd name="connsiteX0" fmla="*/ 0 w 457200"/>
                    <a:gd name="connsiteY0" fmla="*/ 0 h 457200"/>
                    <a:gd name="connsiteX1" fmla="*/ 457200 w 457200"/>
                    <a:gd name="connsiteY1" fmla="*/ 457200 h 457200"/>
                    <a:gd name="connsiteX2" fmla="*/ 0 w 457200"/>
                    <a:gd name="connsiteY2" fmla="*/ 457200 h 457200"/>
                    <a:gd name="connsiteX3" fmla="*/ 0 w 457200"/>
                    <a:gd name="connsiteY3" fmla="*/ 0 h 457200"/>
                    <a:gd name="connsiteX0" fmla="*/ 0 w 457200"/>
                    <a:gd name="connsiteY0" fmla="*/ 0 h 457200"/>
                    <a:gd name="connsiteX1" fmla="*/ 365760 w 457200"/>
                    <a:gd name="connsiteY1" fmla="*/ 259080 h 457200"/>
                  </a:gdLst>
                  <a:ahLst/>
                  <a:cxnLst>
                    <a:cxn ang="0">
                      <a:pos x="connsiteX0" y="connsiteY0"/>
                    </a:cxn>
                    <a:cxn ang="0">
                      <a:pos x="connsiteX1" y="connsiteY1"/>
                    </a:cxn>
                  </a:cxnLst>
                  <a:rect l="l" t="t" r="r" b="b"/>
                  <a:pathLst>
                    <a:path w="457200" h="457200" stroke="0" extrusionOk="0">
                      <a:moveTo>
                        <a:pt x="0" y="0"/>
                      </a:moveTo>
                      <a:cubicBezTo>
                        <a:pt x="252505" y="0"/>
                        <a:pt x="457200" y="204695"/>
                        <a:pt x="457200" y="457200"/>
                      </a:cubicBezTo>
                      <a:lnTo>
                        <a:pt x="0" y="457200"/>
                      </a:lnTo>
                      <a:lnTo>
                        <a:pt x="0" y="0"/>
                      </a:lnTo>
                      <a:close/>
                    </a:path>
                    <a:path w="457200" h="457200" fill="none">
                      <a:moveTo>
                        <a:pt x="0" y="0"/>
                      </a:moveTo>
                      <a:cubicBezTo>
                        <a:pt x="252505" y="0"/>
                        <a:pt x="365760" y="6575"/>
                        <a:pt x="365760" y="259080"/>
                      </a:cubicBezTo>
                    </a:path>
                  </a:pathLst>
                </a:custGeom>
                <a:ln w="25400">
                  <a:solidFill>
                    <a:srgbClr val="10B981"/>
                  </a:solidFill>
                </a:ln>
              </p:spPr>
              <p:style>
                <a:lnRef idx="1">
                  <a:schemeClr val="accent1"/>
                </a:lnRef>
                <a:fillRef idx="0">
                  <a:schemeClr val="accent1"/>
                </a:fillRef>
                <a:effectRef idx="0">
                  <a:schemeClr val="accent1"/>
                </a:effectRef>
                <a:fontRef idx="minor">
                  <a:schemeClr val="tx1"/>
                </a:fontRef>
              </p:style>
              <p:txBody>
                <a:bodyPr rtlCol="0" anchor="ctr"/>
                <a:lstStyle/>
                <a:p>
                  <a:pPr algn="just"/>
                  <a:endParaRPr lang="en-US"/>
                </a:p>
              </p:txBody>
            </p:sp>
          </p:grpSp>
        </p:grpSp>
      </p:grpSp>
      <p:cxnSp>
        <p:nvCxnSpPr>
          <p:cNvPr id="16" name="Straight Connector 15">
            <a:extLst>
              <a:ext uri="{FF2B5EF4-FFF2-40B4-BE49-F238E27FC236}">
                <a16:creationId xmlns:a16="http://schemas.microsoft.com/office/drawing/2014/main" id="{C4959A60-A73E-8BCB-4371-388AD8F5FB0D}"/>
              </a:ext>
            </a:extLst>
          </p:cNvPr>
          <p:cNvCxnSpPr>
            <a:cxnSpLocks/>
          </p:cNvCxnSpPr>
          <p:nvPr/>
        </p:nvCxnSpPr>
        <p:spPr>
          <a:xfrm>
            <a:off x="1350923" y="3204023"/>
            <a:ext cx="1231856" cy="0"/>
          </a:xfrm>
          <a:prstGeom prst="line">
            <a:avLst/>
          </a:prstGeom>
          <a:ln>
            <a:solidFill>
              <a:srgbClr val="7F46EA"/>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38A78F4-F69D-503D-6E10-6E21208A466E}"/>
              </a:ext>
            </a:extLst>
          </p:cNvPr>
          <p:cNvCxnSpPr>
            <a:cxnSpLocks/>
          </p:cNvCxnSpPr>
          <p:nvPr/>
        </p:nvCxnSpPr>
        <p:spPr>
          <a:xfrm>
            <a:off x="6696429" y="3204023"/>
            <a:ext cx="1603224" cy="0"/>
          </a:xfrm>
          <a:prstGeom prst="line">
            <a:avLst/>
          </a:prstGeom>
          <a:ln>
            <a:solidFill>
              <a:srgbClr val="7F46EA"/>
            </a:solidFill>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1A836DAC-DE1B-973E-77F5-4318A7843474}"/>
              </a:ext>
            </a:extLst>
          </p:cNvPr>
          <p:cNvSpPr/>
          <p:nvPr/>
        </p:nvSpPr>
        <p:spPr>
          <a:xfrm>
            <a:off x="1366963" y="3294880"/>
            <a:ext cx="1290673" cy="620206"/>
          </a:xfrm>
          <a:prstGeom prst="roundRect">
            <a:avLst>
              <a:gd name="adj" fmla="val 10155"/>
            </a:avLst>
          </a:prstGeom>
          <a:solidFill>
            <a:srgbClr val="7F46EA">
              <a:alpha val="50000"/>
            </a:srgbClr>
          </a:solidFill>
          <a:ln w="19050">
            <a:solidFill>
              <a:srgbClr val="7F46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Inter" panose="02000503000000020004" pitchFamily="2" charset="0"/>
                <a:ea typeface="Inter" panose="02000503000000020004" pitchFamily="2" charset="0"/>
              </a:rPr>
              <a:t>Correlation</a:t>
            </a:r>
          </a:p>
          <a:p>
            <a:pPr algn="ctr"/>
            <a:r>
              <a:rPr lang="en-US" sz="1400" b="1" dirty="0">
                <a:latin typeface="Inter" panose="02000503000000020004" pitchFamily="2" charset="0"/>
                <a:ea typeface="Inter" panose="02000503000000020004" pitchFamily="2" charset="0"/>
              </a:rPr>
              <a:t>-0.89</a:t>
            </a:r>
          </a:p>
          <a:p>
            <a:pPr algn="ctr"/>
            <a:r>
              <a:rPr lang="en-US" sz="1000" dirty="0">
                <a:latin typeface="Inter" panose="02000503000000020004" pitchFamily="2" charset="0"/>
                <a:ea typeface="Inter" panose="02000503000000020004" pitchFamily="2" charset="0"/>
              </a:rPr>
              <a:t>R² = 0.7</a:t>
            </a:r>
          </a:p>
        </p:txBody>
      </p:sp>
      <p:sp>
        <p:nvSpPr>
          <p:cNvPr id="22" name="Rectangle: Rounded Corners 21">
            <a:extLst>
              <a:ext uri="{FF2B5EF4-FFF2-40B4-BE49-F238E27FC236}">
                <a16:creationId xmlns:a16="http://schemas.microsoft.com/office/drawing/2014/main" id="{064B154D-2E1D-5A51-72C8-98001F953505}"/>
              </a:ext>
            </a:extLst>
          </p:cNvPr>
          <p:cNvSpPr/>
          <p:nvPr/>
        </p:nvSpPr>
        <p:spPr>
          <a:xfrm>
            <a:off x="1366964" y="4012262"/>
            <a:ext cx="1292400" cy="379823"/>
          </a:xfrm>
          <a:prstGeom prst="roundRect">
            <a:avLst>
              <a:gd name="adj" fmla="val 998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Inter" panose="02000503000000020004" pitchFamily="2" charset="0"/>
                <a:ea typeface="Inter" panose="02000503000000020004" pitchFamily="2" charset="0"/>
              </a:rPr>
              <a:t>⭐⭐⭐⭐⭐</a:t>
            </a:r>
          </a:p>
          <a:p>
            <a:pPr algn="ctr"/>
            <a:r>
              <a:rPr lang="en-US" sz="1000" dirty="0">
                <a:latin typeface="Inter" panose="02000503000000020004" pitchFamily="2" charset="0"/>
                <a:ea typeface="Inter" panose="02000503000000020004" pitchFamily="2" charset="0"/>
              </a:rPr>
              <a:t>Very Strong</a:t>
            </a:r>
          </a:p>
        </p:txBody>
      </p:sp>
      <p:sp>
        <p:nvSpPr>
          <p:cNvPr id="23" name="Rectangle: Rounded Corners 22">
            <a:extLst>
              <a:ext uri="{FF2B5EF4-FFF2-40B4-BE49-F238E27FC236}">
                <a16:creationId xmlns:a16="http://schemas.microsoft.com/office/drawing/2014/main" id="{8B0B67D9-3814-57DA-758F-CC3EAC3A388A}"/>
              </a:ext>
            </a:extLst>
          </p:cNvPr>
          <p:cNvSpPr/>
          <p:nvPr/>
        </p:nvSpPr>
        <p:spPr>
          <a:xfrm>
            <a:off x="1350921" y="4489261"/>
            <a:ext cx="1584000" cy="1144324"/>
          </a:xfrm>
          <a:prstGeom prst="roundRect">
            <a:avLst>
              <a:gd name="adj" fmla="val 4186"/>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900" b="1" dirty="0">
                <a:latin typeface="Inter" panose="02000503000000020004" pitchFamily="2" charset="0"/>
                <a:ea typeface="Inter" panose="02000503000000020004" pitchFamily="2" charset="0"/>
              </a:rPr>
              <a:t>79%</a:t>
            </a:r>
            <a:r>
              <a:rPr lang="en-US" sz="900" dirty="0">
                <a:latin typeface="Inter" panose="02000503000000020004" pitchFamily="2" charset="0"/>
                <a:ea typeface="Inter" panose="02000503000000020004" pitchFamily="2" charset="0"/>
              </a:rPr>
              <a:t> of price variation explained by generation. Relationship remains unchanged from 2022Q3</a:t>
            </a:r>
            <a:endParaRPr lang="en-US" sz="900" dirty="0">
              <a:solidFill>
                <a:schemeClr val="bg2"/>
              </a:solidFill>
              <a:latin typeface="Inter" panose="02000503000000020004" pitchFamily="2" charset="0"/>
              <a:ea typeface="Inter" panose="02000503000000020004" pitchFamily="2" charset="0"/>
            </a:endParaRPr>
          </a:p>
        </p:txBody>
      </p:sp>
      <p:sp>
        <p:nvSpPr>
          <p:cNvPr id="33" name="Rectangle: Rounded Corners 32">
            <a:extLst>
              <a:ext uri="{FF2B5EF4-FFF2-40B4-BE49-F238E27FC236}">
                <a16:creationId xmlns:a16="http://schemas.microsoft.com/office/drawing/2014/main" id="{35C9F88E-45FF-F6F6-CFA2-9402D932D42E}"/>
              </a:ext>
            </a:extLst>
          </p:cNvPr>
          <p:cNvSpPr/>
          <p:nvPr/>
        </p:nvSpPr>
        <p:spPr>
          <a:xfrm>
            <a:off x="6733587" y="3294880"/>
            <a:ext cx="1290673" cy="620206"/>
          </a:xfrm>
          <a:prstGeom prst="roundRect">
            <a:avLst>
              <a:gd name="adj" fmla="val 10155"/>
            </a:avLst>
          </a:prstGeom>
          <a:solidFill>
            <a:srgbClr val="7F46EA">
              <a:alpha val="50000"/>
            </a:srgbClr>
          </a:solidFill>
          <a:ln w="19050">
            <a:solidFill>
              <a:srgbClr val="7F46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Inter" panose="02000503000000020004" pitchFamily="2" charset="0"/>
                <a:ea typeface="Inter" panose="02000503000000020004" pitchFamily="2" charset="0"/>
              </a:rPr>
              <a:t>Correlation</a:t>
            </a:r>
          </a:p>
          <a:p>
            <a:pPr algn="ctr"/>
            <a:r>
              <a:rPr lang="en-US" sz="1400" b="1" dirty="0">
                <a:latin typeface="Inter" panose="02000503000000020004" pitchFamily="2" charset="0"/>
                <a:ea typeface="Inter" panose="02000503000000020004" pitchFamily="2" charset="0"/>
              </a:rPr>
              <a:t>-0.82</a:t>
            </a:r>
          </a:p>
          <a:p>
            <a:pPr algn="ctr"/>
            <a:r>
              <a:rPr lang="en-US" sz="1000" dirty="0">
                <a:latin typeface="Inter" panose="02000503000000020004" pitchFamily="2" charset="0"/>
                <a:ea typeface="Inter" panose="02000503000000020004" pitchFamily="2" charset="0"/>
              </a:rPr>
              <a:t>R² = 0.67</a:t>
            </a:r>
          </a:p>
        </p:txBody>
      </p:sp>
      <p:sp>
        <p:nvSpPr>
          <p:cNvPr id="35" name="Rectangle: Rounded Corners 34">
            <a:extLst>
              <a:ext uri="{FF2B5EF4-FFF2-40B4-BE49-F238E27FC236}">
                <a16:creationId xmlns:a16="http://schemas.microsoft.com/office/drawing/2014/main" id="{3537F71F-F863-9873-B2F1-14B9916181F8}"/>
              </a:ext>
            </a:extLst>
          </p:cNvPr>
          <p:cNvSpPr/>
          <p:nvPr/>
        </p:nvSpPr>
        <p:spPr>
          <a:xfrm>
            <a:off x="6733588" y="4012262"/>
            <a:ext cx="1292400" cy="379823"/>
          </a:xfrm>
          <a:prstGeom prst="roundRect">
            <a:avLst>
              <a:gd name="adj" fmla="val 9980"/>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latin typeface="Inter" panose="02000503000000020004" pitchFamily="2" charset="0"/>
                <a:ea typeface="Inter" panose="02000503000000020004" pitchFamily="2" charset="0"/>
              </a:rPr>
              <a:t>⭐⭐⭐⭐ ⭐</a:t>
            </a:r>
          </a:p>
          <a:p>
            <a:pPr algn="ctr"/>
            <a:r>
              <a:rPr lang="en-US" sz="1000" dirty="0">
                <a:latin typeface="Inter" panose="02000503000000020004" pitchFamily="2" charset="0"/>
                <a:ea typeface="Inter" panose="02000503000000020004" pitchFamily="2" charset="0"/>
              </a:rPr>
              <a:t>Very Strong</a:t>
            </a:r>
          </a:p>
        </p:txBody>
      </p:sp>
      <p:sp>
        <p:nvSpPr>
          <p:cNvPr id="36" name="Rectangle: Rounded Corners 35">
            <a:extLst>
              <a:ext uri="{FF2B5EF4-FFF2-40B4-BE49-F238E27FC236}">
                <a16:creationId xmlns:a16="http://schemas.microsoft.com/office/drawing/2014/main" id="{BF1E3015-70E0-6B92-DD83-7E950AAB3C03}"/>
              </a:ext>
            </a:extLst>
          </p:cNvPr>
          <p:cNvSpPr/>
          <p:nvPr/>
        </p:nvSpPr>
        <p:spPr>
          <a:xfrm>
            <a:off x="6717546" y="4489261"/>
            <a:ext cx="1582106" cy="1144325"/>
          </a:xfrm>
          <a:prstGeom prst="roundRect">
            <a:avLst>
              <a:gd name="adj" fmla="val 4186"/>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900" b="1" dirty="0">
                <a:solidFill>
                  <a:schemeClr val="bg1"/>
                </a:solidFill>
                <a:latin typeface="Inter" panose="02000503000000020004" pitchFamily="2" charset="0"/>
                <a:ea typeface="Inter" panose="02000503000000020004" pitchFamily="2" charset="0"/>
              </a:rPr>
              <a:t>67</a:t>
            </a:r>
            <a:r>
              <a:rPr lang="en-US" sz="900" b="1" i="0" dirty="0">
                <a:solidFill>
                  <a:schemeClr val="bg1"/>
                </a:solidFill>
                <a:effectLst/>
                <a:latin typeface="Inter" panose="02000503000000020004" pitchFamily="2" charset="0"/>
                <a:ea typeface="Inter" panose="02000503000000020004" pitchFamily="2" charset="0"/>
              </a:rPr>
              <a:t>%</a:t>
            </a:r>
            <a:r>
              <a:rPr lang="en-US" sz="900" b="0" i="0" dirty="0">
                <a:solidFill>
                  <a:schemeClr val="bg1"/>
                </a:solidFill>
                <a:effectLst/>
                <a:latin typeface="Inter" panose="02000503000000020004" pitchFamily="2" charset="0"/>
                <a:ea typeface="Inter" panose="02000503000000020004" pitchFamily="2" charset="0"/>
              </a:rPr>
              <a:t> of price variation explained by generation. Strengthened from  Q3</a:t>
            </a:r>
            <a:r>
              <a:rPr lang="en-US" sz="900" b="0" i="0" dirty="0">
                <a:solidFill>
                  <a:srgbClr val="FFC000"/>
                </a:solidFill>
                <a:effectLst/>
                <a:latin typeface="Inter" panose="02000503000000020004" pitchFamily="2" charset="0"/>
                <a:ea typeface="Inter" panose="02000503000000020004" pitchFamily="2" charset="0"/>
              </a:rPr>
              <a:t>. Improved </a:t>
            </a:r>
            <a:r>
              <a:rPr lang="en-US" sz="900" b="1" dirty="0">
                <a:solidFill>
                  <a:srgbClr val="FFC000"/>
                </a:solidFill>
                <a:latin typeface="Inter" panose="02000503000000020004" pitchFamily="2" charset="0"/>
                <a:ea typeface="Inter" panose="02000503000000020004" pitchFamily="2" charset="0"/>
              </a:rPr>
              <a:t>↑</a:t>
            </a:r>
            <a:r>
              <a:rPr lang="en-GB" sz="900" b="1" dirty="0">
                <a:solidFill>
                  <a:srgbClr val="FFC000"/>
                </a:solidFill>
                <a:latin typeface="Inter" panose="02000503000000020004" pitchFamily="2" charset="0"/>
                <a:ea typeface="Inter" panose="02000503000000020004" pitchFamily="2" charset="0"/>
              </a:rPr>
              <a:t>  </a:t>
            </a:r>
            <a:r>
              <a:rPr lang="en-US" sz="900" b="0" i="0" dirty="0">
                <a:solidFill>
                  <a:srgbClr val="FFC000"/>
                </a:solidFill>
                <a:effectLst/>
                <a:latin typeface="Inter" panose="02000503000000020004" pitchFamily="2" charset="0"/>
                <a:ea typeface="Inter" panose="02000503000000020004" pitchFamily="2" charset="0"/>
              </a:rPr>
              <a:t> from -0.70</a:t>
            </a:r>
          </a:p>
          <a:p>
            <a:pPr>
              <a:lnSpc>
                <a:spcPct val="150000"/>
              </a:lnSpc>
            </a:pPr>
            <a:endParaRPr lang="en-US" sz="900" dirty="0">
              <a:solidFill>
                <a:schemeClr val="bg1"/>
              </a:solidFill>
              <a:latin typeface="Inter" panose="02000503000000020004" pitchFamily="2" charset="0"/>
              <a:ea typeface="Inter" panose="02000503000000020004" pitchFamily="2" charset="0"/>
            </a:endParaRPr>
          </a:p>
        </p:txBody>
      </p:sp>
      <p:sp>
        <p:nvSpPr>
          <p:cNvPr id="2" name="Rectangle: Diagonal Corners Rounded 1">
            <a:extLst>
              <a:ext uri="{FF2B5EF4-FFF2-40B4-BE49-F238E27FC236}">
                <a16:creationId xmlns:a16="http://schemas.microsoft.com/office/drawing/2014/main" id="{E7B656FA-7CBF-064A-BA76-A275913D822D}"/>
              </a:ext>
            </a:extLst>
          </p:cNvPr>
          <p:cNvSpPr/>
          <p:nvPr/>
        </p:nvSpPr>
        <p:spPr>
          <a:xfrm>
            <a:off x="1108843" y="5803962"/>
            <a:ext cx="10070809" cy="974082"/>
          </a:xfrm>
          <a:prstGeom prst="round2DiagRect">
            <a:avLst/>
          </a:prstGeom>
          <a:solidFill>
            <a:srgbClr val="16586B"/>
          </a:solidFill>
          <a:ln w="76200">
            <a:solidFill>
              <a:srgbClr val="16586B">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sz="1200" dirty="0">
                <a:solidFill>
                  <a:srgbClr val="000000"/>
                </a:solidFill>
                <a:latin typeface="Inter  "/>
              </a:rPr>
              <a:t>💡</a:t>
            </a:r>
            <a:r>
              <a:rPr lang="en-US" sz="1200" b="1" cap="all" dirty="0">
                <a:solidFill>
                  <a:srgbClr val="FBBF24"/>
                </a:solidFill>
                <a:latin typeface="Inter  "/>
              </a:rPr>
              <a:t>  Strategic Insight</a:t>
            </a:r>
          </a:p>
          <a:p>
            <a:pPr>
              <a:lnSpc>
                <a:spcPct val="150000"/>
              </a:lnSpc>
              <a:spcAft>
                <a:spcPts val="750"/>
              </a:spcAft>
            </a:pPr>
            <a:r>
              <a:rPr lang="en-US" sz="1200" dirty="0">
                <a:solidFill>
                  <a:srgbClr val="FFFFFF"/>
                </a:solidFill>
                <a:latin typeface="Segoe UI" panose="020B0502040204020203" pitchFamily="34" charset="0"/>
              </a:rPr>
              <a:t>Correlation strengthened for Onshore Wind (R: -0.70 → -0.82), indicating </a:t>
            </a:r>
            <a:r>
              <a:rPr lang="en-US" sz="1200" b="1" dirty="0">
                <a:solidFill>
                  <a:srgbClr val="6EE7B7"/>
                </a:solidFill>
                <a:latin typeface="Segoe UI" panose="020B0502040204020203" pitchFamily="34" charset="0"/>
              </a:rPr>
              <a:t>increasing market saturation concerns</a:t>
            </a:r>
            <a:r>
              <a:rPr lang="en-US" sz="1200" dirty="0">
                <a:solidFill>
                  <a:srgbClr val="FFFFFF"/>
                </a:solidFill>
                <a:latin typeface="Segoe UI" panose="020B0502040204020203" pitchFamily="34" charset="0"/>
              </a:rPr>
              <a:t> as renewable capacity grows. Both technologies now show </a:t>
            </a:r>
            <a:r>
              <a:rPr lang="en-US" sz="1200" b="1" dirty="0">
                <a:solidFill>
                  <a:srgbClr val="6EE7B7"/>
                </a:solidFill>
                <a:latin typeface="Segoe UI" panose="020B0502040204020203" pitchFamily="34" charset="0"/>
              </a:rPr>
              <a:t>very strong inverse relationships</a:t>
            </a:r>
            <a:r>
              <a:rPr lang="en-US" sz="1200" dirty="0">
                <a:solidFill>
                  <a:srgbClr val="FFFFFF"/>
                </a:solidFill>
                <a:latin typeface="Segoe UI" panose="020B0502040204020203" pitchFamily="34" charset="0"/>
              </a:rPr>
              <a:t>, suggesting more predictable </a:t>
            </a:r>
            <a:r>
              <a:rPr lang="en-US" sz="1200" b="1" dirty="0">
                <a:solidFill>
                  <a:srgbClr val="6EE7B7"/>
                </a:solidFill>
                <a:latin typeface="Segoe UI" panose="020B0502040204020203" pitchFamily="34" charset="0"/>
              </a:rPr>
              <a:t>cannibalization effects</a:t>
            </a:r>
            <a:r>
              <a:rPr lang="en-US" sz="1200" dirty="0">
                <a:solidFill>
                  <a:srgbClr val="FFFFFF"/>
                </a:solidFill>
                <a:latin typeface="Segoe UI" panose="020B0502040204020203" pitchFamily="34" charset="0"/>
              </a:rPr>
              <a:t> in the 2023 Q1 forecast scenario</a:t>
            </a:r>
            <a:endParaRPr lang="en-US" sz="1200" dirty="0">
              <a:solidFill>
                <a:srgbClr val="FFFFFF"/>
              </a:solidFill>
              <a:latin typeface="Inter  "/>
            </a:endParaRPr>
          </a:p>
        </p:txBody>
      </p:sp>
      <p:graphicFrame>
        <p:nvGraphicFramePr>
          <p:cNvPr id="10" name="Chart 9">
            <a:extLst>
              <a:ext uri="{FF2B5EF4-FFF2-40B4-BE49-F238E27FC236}">
                <a16:creationId xmlns:a16="http://schemas.microsoft.com/office/drawing/2014/main" id="{FAEAAA9F-7F7B-7D22-A4AC-8675F99A523F}"/>
              </a:ext>
            </a:extLst>
          </p:cNvPr>
          <p:cNvGraphicFramePr>
            <a:graphicFrameLocks/>
          </p:cNvGraphicFramePr>
          <p:nvPr>
            <p:extLst>
              <p:ext uri="{D42A27DB-BD31-4B8C-83A1-F6EECF244321}">
                <p14:modId xmlns:p14="http://schemas.microsoft.com/office/powerpoint/2010/main" val="2775972708"/>
              </p:ext>
            </p:extLst>
          </p:nvPr>
        </p:nvGraphicFramePr>
        <p:xfrm>
          <a:off x="2858400" y="2952000"/>
          <a:ext cx="2880000" cy="270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408DC62E-A634-4A04-61B8-55C164B6D47D}"/>
              </a:ext>
            </a:extLst>
          </p:cNvPr>
          <p:cNvGraphicFramePr>
            <a:graphicFrameLocks/>
          </p:cNvGraphicFramePr>
          <p:nvPr>
            <p:extLst>
              <p:ext uri="{D42A27DB-BD31-4B8C-83A1-F6EECF244321}">
                <p14:modId xmlns:p14="http://schemas.microsoft.com/office/powerpoint/2010/main" val="1548875954"/>
              </p:ext>
            </p:extLst>
          </p:nvPr>
        </p:nvGraphicFramePr>
        <p:xfrm>
          <a:off x="8301600" y="2952000"/>
          <a:ext cx="2880000" cy="2700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427332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500"/>
                                        <p:tgtEl>
                                          <p:spTgt spid="70"/>
                                        </p:tgtEl>
                                      </p:cBhvr>
                                    </p:animEffect>
                                    <p:anim calcmode="lin" valueType="num">
                                      <p:cBhvr>
                                        <p:cTn id="8" dur="500" fill="hold"/>
                                        <p:tgtEl>
                                          <p:spTgt spid="70"/>
                                        </p:tgtEl>
                                        <p:attrNameLst>
                                          <p:attrName>ppt_x</p:attrName>
                                        </p:attrNameLst>
                                      </p:cBhvr>
                                      <p:tavLst>
                                        <p:tav tm="0">
                                          <p:val>
                                            <p:strVal val="#ppt_x"/>
                                          </p:val>
                                        </p:tav>
                                        <p:tav tm="100000">
                                          <p:val>
                                            <p:strVal val="#ppt_x"/>
                                          </p:val>
                                        </p:tav>
                                      </p:tavLst>
                                    </p:anim>
                                    <p:anim calcmode="lin" valueType="num">
                                      <p:cBhvr>
                                        <p:cTn id="9" dur="500" fill="hold"/>
                                        <p:tgtEl>
                                          <p:spTgt spid="7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nodeType="afterEffect">
                                  <p:stCondLst>
                                    <p:cond delay="2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par>
                          <p:cTn id="14" fill="hold">
                            <p:stCondLst>
                              <p:cond delay="1200"/>
                            </p:stCondLst>
                            <p:childTnLst>
                              <p:par>
                                <p:cTn id="15" presetID="10" presetClass="entr" presetSubtype="0" fill="hold" grpId="0" nodeType="afterEffect">
                                  <p:stCondLst>
                                    <p:cond delay="2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par>
                          <p:cTn id="18" fill="hold">
                            <p:stCondLst>
                              <p:cond delay="1900"/>
                            </p:stCondLst>
                            <p:childTnLst>
                              <p:par>
                                <p:cTn id="19" presetID="10" presetClass="entr" presetSubtype="0" fill="hold" nodeType="afterEffect">
                                  <p:stCondLst>
                                    <p:cond delay="20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par>
                          <p:cTn id="22" fill="hold">
                            <p:stCondLst>
                              <p:cond delay="2600"/>
                            </p:stCondLst>
                            <p:childTnLst>
                              <p:par>
                                <p:cTn id="23" presetID="10" presetClass="entr" presetSubtype="0" fill="hold" nodeType="afterEffect">
                                  <p:stCondLst>
                                    <p:cond delay="20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200"/>
                                        <p:tgtEl>
                                          <p:spTgt spid="26"/>
                                        </p:tgtEl>
                                      </p:cBhvr>
                                    </p:animEffect>
                                  </p:childTnLst>
                                </p:cTn>
                              </p:par>
                            </p:childTnLst>
                          </p:cTn>
                        </p:par>
                        <p:par>
                          <p:cTn id="26" fill="hold">
                            <p:stCondLst>
                              <p:cond delay="3000"/>
                            </p:stCondLst>
                            <p:childTnLst>
                              <p:par>
                                <p:cTn id="27" presetID="10" presetClass="entr" presetSubtype="0" fill="hold" grpId="0" nodeType="afterEffect">
                                  <p:stCondLst>
                                    <p:cond delay="20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childTnLst>
                          </p:cTn>
                        </p:par>
                        <p:par>
                          <p:cTn id="30" fill="hold">
                            <p:stCondLst>
                              <p:cond delay="3700"/>
                            </p:stCondLst>
                            <p:childTnLst>
                              <p:par>
                                <p:cTn id="31" presetID="10" presetClass="entr" presetSubtype="0" fill="hold" nodeType="afterEffect">
                                  <p:stCondLst>
                                    <p:cond delay="20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childTnLst>
                          </p:cTn>
                        </p:par>
                        <p:par>
                          <p:cTn id="34" fill="hold">
                            <p:stCondLst>
                              <p:cond delay="4400"/>
                            </p:stCondLst>
                            <p:childTnLst>
                              <p:par>
                                <p:cTn id="35" presetID="42" presetClass="entr" presetSubtype="0" fill="hold" grpId="0" nodeType="afterEffect">
                                  <p:stCondLst>
                                    <p:cond delay="0"/>
                                  </p:stCondLst>
                                  <p:childTnLst>
                                    <p:set>
                                      <p:cBhvr>
                                        <p:cTn id="36" dur="1" fill="hold">
                                          <p:stCondLst>
                                            <p:cond delay="0"/>
                                          </p:stCondLst>
                                        </p:cTn>
                                        <p:tgtEl>
                                          <p:spTgt spid="2">
                                            <p:bg/>
                                          </p:spTgt>
                                        </p:tgtEl>
                                        <p:attrNameLst>
                                          <p:attrName>style.visibility</p:attrName>
                                        </p:attrNameLst>
                                      </p:cBhvr>
                                      <p:to>
                                        <p:strVal val="visible"/>
                                      </p:to>
                                    </p:set>
                                    <p:animEffect transition="in" filter="fade">
                                      <p:cBhvr>
                                        <p:cTn id="37" dur="500"/>
                                        <p:tgtEl>
                                          <p:spTgt spid="2">
                                            <p:bg/>
                                          </p:spTgt>
                                        </p:tgtEl>
                                      </p:cBhvr>
                                    </p:animEffect>
                                    <p:anim calcmode="lin" valueType="num">
                                      <p:cBhvr>
                                        <p:cTn id="38" dur="500" fill="hold"/>
                                        <p:tgtEl>
                                          <p:spTgt spid="2">
                                            <p:bg/>
                                          </p:spTgt>
                                        </p:tgtEl>
                                        <p:attrNameLst>
                                          <p:attrName>ppt_x</p:attrName>
                                        </p:attrNameLst>
                                      </p:cBhvr>
                                      <p:tavLst>
                                        <p:tav tm="0">
                                          <p:val>
                                            <p:strVal val="#ppt_x"/>
                                          </p:val>
                                        </p:tav>
                                        <p:tav tm="100000">
                                          <p:val>
                                            <p:strVal val="#ppt_x"/>
                                          </p:val>
                                        </p:tav>
                                      </p:tavLst>
                                    </p:anim>
                                    <p:anim calcmode="lin" valueType="num">
                                      <p:cBhvr>
                                        <p:cTn id="39" dur="500" fill="hold"/>
                                        <p:tgtEl>
                                          <p:spTgt spid="2">
                                            <p:bg/>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2">
                                            <p:txEl>
                                              <p:pRg st="0" end="0"/>
                                            </p:txEl>
                                          </p:spTgt>
                                        </p:tgtEl>
                                        <p:attrNameLst>
                                          <p:attrName>style.visibility</p:attrName>
                                        </p:attrNameLst>
                                      </p:cBhvr>
                                      <p:to>
                                        <p:strVal val="visible"/>
                                      </p:to>
                                    </p:set>
                                    <p:animEffect transition="in" filter="fade">
                                      <p:cBhvr>
                                        <p:cTn id="44" dur="500"/>
                                        <p:tgtEl>
                                          <p:spTgt spid="2">
                                            <p:txEl>
                                              <p:pRg st="0" end="0"/>
                                            </p:txEl>
                                          </p:spTgt>
                                        </p:tgtEl>
                                      </p:cBhvr>
                                    </p:animEffect>
                                    <p:anim calcmode="lin" valueType="num">
                                      <p:cBhvr>
                                        <p:cTn id="45"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46" dur="5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70" grpId="0" animBg="1"/>
      <p:bldP spid="24" grpId="0" animBg="1"/>
      <p:bldP spid="2" grpId="0"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F4C"/>
        </a:solidFill>
        <a:effectLst/>
      </p:bgPr>
    </p:bg>
    <p:spTree>
      <p:nvGrpSpPr>
        <p:cNvPr id="1" name="">
          <a:extLst>
            <a:ext uri="{FF2B5EF4-FFF2-40B4-BE49-F238E27FC236}">
              <a16:creationId xmlns:a16="http://schemas.microsoft.com/office/drawing/2014/main" id="{D0D10AFD-632A-9A64-F3EC-9BE9F4B7F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3C3D43-4FC6-3BCC-058F-F681388BF7D2}"/>
              </a:ext>
            </a:extLst>
          </p:cNvPr>
          <p:cNvSpPr>
            <a:spLocks noGrp="1"/>
          </p:cNvSpPr>
          <p:nvPr>
            <p:ph type="title"/>
          </p:nvPr>
        </p:nvSpPr>
        <p:spPr/>
        <p:txBody>
          <a:bodyPr>
            <a:noAutofit/>
          </a:bodyPr>
          <a:lstStyle/>
          <a:p>
            <a:pPr algn="ctr">
              <a:lnSpc>
                <a:spcPct val="150000"/>
              </a:lnSpc>
              <a:spcAft>
                <a:spcPts val="600"/>
              </a:spcAft>
              <a:buNone/>
            </a:pPr>
            <a:r>
              <a:rPr lang="en-US" sz="2000" b="1" i="0" dirty="0">
                <a:solidFill>
                  <a:srgbClr val="FFFFFF"/>
                </a:solidFill>
                <a:effectLst/>
                <a:latin typeface="Inter" panose="02000503000000020004" pitchFamily="2" charset="0"/>
                <a:ea typeface="Inter" panose="02000503000000020004" pitchFamily="2" charset="0"/>
              </a:rPr>
              <a:t>Forecast Change Analysis (2022 Q3 → 2023 Q1)</a:t>
            </a:r>
            <a:br>
              <a:rPr lang="en-US" sz="1100" b="1" i="0" dirty="0">
                <a:solidFill>
                  <a:srgbClr val="FFFFFF"/>
                </a:solidFill>
                <a:effectLst/>
                <a:latin typeface="Inter" panose="02000503000000020004" pitchFamily="2" charset="0"/>
                <a:ea typeface="Inter" panose="02000503000000020004" pitchFamily="2" charset="0"/>
              </a:rPr>
            </a:br>
            <a:r>
              <a:rPr lang="en-US" sz="1600" b="0" i="1" dirty="0">
                <a:solidFill>
                  <a:srgbClr val="FBBF24"/>
                </a:solidFill>
                <a:effectLst/>
                <a:latin typeface="Inter" panose="02000503000000020004" pitchFamily="2" charset="0"/>
                <a:ea typeface="Inter" panose="02000503000000020004" pitchFamily="2" charset="0"/>
              </a:rPr>
              <a:t>Did Aaron change his forecast for solar PV and onshore wind capture prices between Q3 2022 and Q1 2023? If so, how significant is the shift and what could possibly explain that?</a:t>
            </a:r>
          </a:p>
        </p:txBody>
      </p:sp>
      <p:sp>
        <p:nvSpPr>
          <p:cNvPr id="4" name="Rectangle: Diagonal Corners Rounded 3">
            <a:extLst>
              <a:ext uri="{FF2B5EF4-FFF2-40B4-BE49-F238E27FC236}">
                <a16:creationId xmlns:a16="http://schemas.microsoft.com/office/drawing/2014/main" id="{34265F85-8C83-1E1E-A82B-7E2625322AC8}"/>
              </a:ext>
            </a:extLst>
          </p:cNvPr>
          <p:cNvSpPr/>
          <p:nvPr/>
        </p:nvSpPr>
        <p:spPr>
          <a:xfrm>
            <a:off x="1101665" y="1690688"/>
            <a:ext cx="9988669" cy="946147"/>
          </a:xfrm>
          <a:prstGeom prst="round2DiagRect">
            <a:avLst/>
          </a:prstGeom>
          <a:solidFill>
            <a:srgbClr val="2F3D58"/>
          </a:solidFill>
          <a:ln w="76200">
            <a:solidFill>
              <a:srgbClr val="2F3D58">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50000"/>
              </a:lnSpc>
            </a:pPr>
            <a:r>
              <a:rPr lang="en-US" dirty="0"/>
              <a:t>⚠️</a:t>
            </a:r>
            <a:r>
              <a:rPr lang="en-US" dirty="0">
                <a:solidFill>
                  <a:srgbClr val="D69196"/>
                </a:solidFill>
                <a:latin typeface="Inter" panose="02000503000000020004" pitchFamily="2" charset="0"/>
                <a:ea typeface="Inter" panose="02000503000000020004" pitchFamily="2" charset="0"/>
              </a:rPr>
              <a:t> </a:t>
            </a:r>
            <a:r>
              <a:rPr lang="en-US" sz="1200" b="1" dirty="0">
                <a:solidFill>
                  <a:srgbClr val="D69196"/>
                </a:solidFill>
                <a:latin typeface="Inter" panose="02000503000000020004" pitchFamily="2" charset="0"/>
                <a:ea typeface="Inter" panose="02000503000000020004" pitchFamily="2" charset="0"/>
              </a:rPr>
              <a:t>Yes – Significant upward revision.</a:t>
            </a:r>
            <a:r>
              <a:rPr lang="en-US" sz="1200" dirty="0">
                <a:solidFill>
                  <a:srgbClr val="D69196"/>
                </a:solidFill>
                <a:latin typeface="Inter" panose="02000503000000020004" pitchFamily="2" charset="0"/>
                <a:ea typeface="Inter" panose="02000503000000020004" pitchFamily="2" charset="0"/>
              </a:rPr>
              <a:t> </a:t>
            </a:r>
            <a:r>
              <a:rPr lang="en-US" sz="1200" dirty="0">
                <a:solidFill>
                  <a:srgbClr val="FFFFFF"/>
                </a:solidFill>
                <a:latin typeface="Inter" panose="02000503000000020004" pitchFamily="2" charset="0"/>
                <a:ea typeface="Inter" panose="02000503000000020004" pitchFamily="2" charset="0"/>
              </a:rPr>
              <a:t>Solar PV capture price increased by </a:t>
            </a:r>
            <a:r>
              <a:rPr lang="en-US" sz="1200" dirty="0">
                <a:solidFill>
                  <a:srgbClr val="D69196"/>
                </a:solidFill>
                <a:latin typeface="Inter" panose="02000503000000020004" pitchFamily="2" charset="0"/>
                <a:ea typeface="Inter" panose="02000503000000020004" pitchFamily="2" charset="0"/>
              </a:rPr>
              <a:t>24% </a:t>
            </a:r>
            <a:r>
              <a:rPr lang="en-US" sz="1200" dirty="0">
                <a:solidFill>
                  <a:schemeClr val="bg1"/>
                </a:solidFill>
                <a:latin typeface="Inter" panose="02000503000000020004" pitchFamily="2" charset="0"/>
                <a:ea typeface="Inter" panose="02000503000000020004" pitchFamily="2" charset="0"/>
              </a:rPr>
              <a:t>and Onshore Wind </a:t>
            </a:r>
            <a:r>
              <a:rPr lang="en-US" sz="1200" dirty="0">
                <a:solidFill>
                  <a:srgbClr val="FFFFFF"/>
                </a:solidFill>
                <a:latin typeface="Inter" panose="02000503000000020004" pitchFamily="2" charset="0"/>
                <a:ea typeface="Inter" panose="02000503000000020004" pitchFamily="2" charset="0"/>
              </a:rPr>
              <a:t>by </a:t>
            </a:r>
            <a:r>
              <a:rPr lang="en-US" sz="1200" dirty="0">
                <a:solidFill>
                  <a:srgbClr val="D69196"/>
                </a:solidFill>
                <a:latin typeface="Inter" panose="02000503000000020004" pitchFamily="2" charset="0"/>
                <a:ea typeface="Inter" panose="02000503000000020004" pitchFamily="2" charset="0"/>
              </a:rPr>
              <a:t>8%, </a:t>
            </a:r>
            <a:r>
              <a:rPr lang="en-US" sz="1200" dirty="0">
                <a:solidFill>
                  <a:srgbClr val="FFFFFF"/>
                </a:solidFill>
                <a:latin typeface="Inter" panose="02000503000000020004" pitchFamily="2" charset="0"/>
                <a:ea typeface="Inter" panose="02000503000000020004" pitchFamily="2" charset="0"/>
              </a:rPr>
              <a:t>reflecting evolving market conditions and lesson from 2022 energy crisis.</a:t>
            </a:r>
            <a:endParaRPr lang="en-US" sz="1200" dirty="0">
              <a:solidFill>
                <a:prstClr val="white"/>
              </a:solidFill>
              <a:latin typeface="Inter" panose="02000503000000020004" pitchFamily="2" charset="0"/>
              <a:ea typeface="Inter" panose="02000503000000020004" pitchFamily="2" charset="0"/>
            </a:endParaRPr>
          </a:p>
        </p:txBody>
      </p:sp>
      <p:sp>
        <p:nvSpPr>
          <p:cNvPr id="5" name="Rectangle: Rounded Corners 4">
            <a:extLst>
              <a:ext uri="{FF2B5EF4-FFF2-40B4-BE49-F238E27FC236}">
                <a16:creationId xmlns:a16="http://schemas.microsoft.com/office/drawing/2014/main" id="{675AA42B-17B4-0E97-BAB4-305ABA7A8035}"/>
              </a:ext>
            </a:extLst>
          </p:cNvPr>
          <p:cNvSpPr/>
          <p:nvPr/>
        </p:nvSpPr>
        <p:spPr>
          <a:xfrm>
            <a:off x="1101664" y="2800785"/>
            <a:ext cx="2105559" cy="1730272"/>
          </a:xfrm>
          <a:prstGeom prst="roundRect">
            <a:avLst>
              <a:gd name="adj" fmla="val 10155"/>
            </a:avLst>
          </a:prstGeom>
          <a:solidFill>
            <a:srgbClr val="D69196">
              <a:alpha val="50000"/>
            </a:srgbClr>
          </a:solidFill>
          <a:ln w="19050">
            <a:solidFill>
              <a:srgbClr val="EF4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200" b="1" dirty="0">
                <a:latin typeface="Inter  "/>
              </a:rPr>
              <a:t>☀️ Solar PV (GB)</a:t>
            </a:r>
            <a:br>
              <a:rPr lang="en-US" sz="1000" b="1" dirty="0">
                <a:latin typeface="Inter  "/>
              </a:rPr>
            </a:br>
            <a:r>
              <a:rPr lang="en-US" sz="1600" b="1" dirty="0">
                <a:solidFill>
                  <a:srgbClr val="F59E0B"/>
                </a:solidFill>
                <a:latin typeface="Inter  "/>
              </a:rPr>
              <a:t>+24%</a:t>
            </a:r>
            <a:br>
              <a:rPr lang="en-US" sz="1600" b="1" dirty="0">
                <a:solidFill>
                  <a:srgbClr val="F59E0B"/>
                </a:solidFill>
                <a:latin typeface="Inter  "/>
              </a:rPr>
            </a:br>
            <a:r>
              <a:rPr lang="en-US" sz="1200" b="1" dirty="0">
                <a:solidFill>
                  <a:schemeClr val="bg2"/>
                </a:solidFill>
                <a:latin typeface="Inter  "/>
              </a:rPr>
              <a:t>Median capture price increased from €50 to €62</a:t>
            </a:r>
          </a:p>
          <a:p>
            <a:pPr algn="ctr">
              <a:lnSpc>
                <a:spcPct val="150000"/>
              </a:lnSpc>
            </a:pPr>
            <a:r>
              <a:rPr lang="en-US" sz="1100" b="1" dirty="0">
                <a:solidFill>
                  <a:srgbClr val="EF4444"/>
                </a:solidFill>
                <a:latin typeface="Inter  "/>
              </a:rPr>
              <a:t>Significant Shift</a:t>
            </a:r>
          </a:p>
        </p:txBody>
      </p:sp>
      <p:sp>
        <p:nvSpPr>
          <p:cNvPr id="7" name="Rectangle: Rounded Corners 6">
            <a:extLst>
              <a:ext uri="{FF2B5EF4-FFF2-40B4-BE49-F238E27FC236}">
                <a16:creationId xmlns:a16="http://schemas.microsoft.com/office/drawing/2014/main" id="{2830AC3B-6692-FFE4-AF8C-9C6B8F5C4B9D}"/>
              </a:ext>
            </a:extLst>
          </p:cNvPr>
          <p:cNvSpPr/>
          <p:nvPr/>
        </p:nvSpPr>
        <p:spPr>
          <a:xfrm>
            <a:off x="1101664" y="4799639"/>
            <a:ext cx="2105559" cy="1730272"/>
          </a:xfrm>
          <a:prstGeom prst="roundRect">
            <a:avLst>
              <a:gd name="adj" fmla="val 10155"/>
            </a:avLst>
          </a:prstGeom>
          <a:solidFill>
            <a:srgbClr val="D69196">
              <a:alpha val="50000"/>
            </a:srgbClr>
          </a:solidFill>
          <a:ln w="19050">
            <a:solidFill>
              <a:srgbClr val="EF4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1200" dirty="0">
                <a:latin typeface="Inter" panose="02000503000000020004" pitchFamily="2" charset="0"/>
                <a:ea typeface="Inter" panose="02000503000000020004" pitchFamily="2" charset="0"/>
              </a:rPr>
              <a:t>💨</a:t>
            </a:r>
            <a:r>
              <a:rPr lang="en-US" sz="1200" b="1" dirty="0">
                <a:latin typeface="Inter  "/>
              </a:rPr>
              <a:t> Onshore Wind (DE)</a:t>
            </a:r>
            <a:br>
              <a:rPr lang="en-US" sz="1000" b="1" dirty="0">
                <a:latin typeface="Inter  "/>
              </a:rPr>
            </a:br>
            <a:r>
              <a:rPr lang="en-US" sz="1600" b="1" dirty="0">
                <a:solidFill>
                  <a:srgbClr val="F59E0B"/>
                </a:solidFill>
                <a:latin typeface="Inter  "/>
              </a:rPr>
              <a:t>+8%</a:t>
            </a:r>
            <a:br>
              <a:rPr lang="en-US" sz="1600" b="1" dirty="0">
                <a:solidFill>
                  <a:srgbClr val="F59E0B"/>
                </a:solidFill>
                <a:latin typeface="Inter  "/>
              </a:rPr>
            </a:br>
            <a:r>
              <a:rPr lang="en-US" sz="1200" b="1" dirty="0">
                <a:solidFill>
                  <a:schemeClr val="bg2"/>
                </a:solidFill>
                <a:latin typeface="Inter  "/>
              </a:rPr>
              <a:t>Median capture price increased from €53 to €57</a:t>
            </a:r>
          </a:p>
          <a:p>
            <a:pPr algn="ctr">
              <a:lnSpc>
                <a:spcPct val="150000"/>
              </a:lnSpc>
            </a:pPr>
            <a:r>
              <a:rPr lang="en-US" sz="1100" b="1" dirty="0">
                <a:solidFill>
                  <a:srgbClr val="EF4444"/>
                </a:solidFill>
                <a:latin typeface="Inter  "/>
              </a:rPr>
              <a:t>Moderate Shift</a:t>
            </a:r>
          </a:p>
        </p:txBody>
      </p:sp>
      <p:sp>
        <p:nvSpPr>
          <p:cNvPr id="8" name="Rectangle: Rounded Corners 7">
            <a:extLst>
              <a:ext uri="{FF2B5EF4-FFF2-40B4-BE49-F238E27FC236}">
                <a16:creationId xmlns:a16="http://schemas.microsoft.com/office/drawing/2014/main" id="{0107E3FD-82C2-E391-2FFD-4460A2B70752}"/>
              </a:ext>
            </a:extLst>
          </p:cNvPr>
          <p:cNvSpPr/>
          <p:nvPr/>
        </p:nvSpPr>
        <p:spPr>
          <a:xfrm>
            <a:off x="3734608" y="2796725"/>
            <a:ext cx="7355726" cy="3845675"/>
          </a:xfrm>
          <a:prstGeom prst="roundRect">
            <a:avLst>
              <a:gd name="adj" fmla="val 6089"/>
            </a:avLst>
          </a:prstGeom>
          <a:solidFill>
            <a:srgbClr val="D69196">
              <a:alpha val="50000"/>
            </a:srgbClr>
          </a:solidFill>
          <a:ln w="19050">
            <a:solidFill>
              <a:srgbClr val="EF4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r>
              <a:rPr lang="en-US" dirty="0"/>
              <a:t>🔍</a:t>
            </a:r>
            <a:r>
              <a:rPr lang="en-US" b="1" dirty="0"/>
              <a:t>Possible Explanations for Forecast Revisions</a:t>
            </a:r>
          </a:p>
          <a:p>
            <a:pPr>
              <a:lnSpc>
                <a:spcPct val="150000"/>
              </a:lnSpc>
            </a:pPr>
            <a:r>
              <a:rPr lang="en-US" sz="1100" b="1" cap="all" dirty="0">
                <a:solidFill>
                  <a:srgbClr val="F59E0B"/>
                </a:solidFill>
                <a:latin typeface="Inter" panose="02000503000000020004" pitchFamily="2" charset="0"/>
                <a:ea typeface="Inter" panose="02000503000000020004" pitchFamily="2" charset="0"/>
              </a:rPr>
              <a:t>Energy Crisis Impact</a:t>
            </a:r>
            <a:r>
              <a:rPr lang="en-US" sz="1100" b="1" cap="all" dirty="0">
                <a:solidFill>
                  <a:schemeClr val="bg2"/>
                </a:solidFill>
                <a:latin typeface="Inter" panose="02000503000000020004" pitchFamily="2" charset="0"/>
                <a:ea typeface="Inter" panose="02000503000000020004" pitchFamily="2" charset="0"/>
              </a:rPr>
              <a:t>: </a:t>
            </a:r>
            <a:r>
              <a:rPr lang="en-US" sz="1100" b="0" i="0" dirty="0">
                <a:solidFill>
                  <a:schemeClr val="bg2"/>
                </a:solidFill>
                <a:effectLst/>
                <a:latin typeface="Inter" panose="02000503000000020004" pitchFamily="2" charset="0"/>
                <a:ea typeface="Inter" panose="02000503000000020004" pitchFamily="2" charset="0"/>
              </a:rPr>
              <a:t>Late 2022 European energy crisis led to reassessment of long-term wholesale price expectations, increasing projected capture prices.</a:t>
            </a:r>
            <a:endParaRPr lang="en-US" sz="1100" cap="all" dirty="0">
              <a:solidFill>
                <a:schemeClr val="bg2"/>
              </a:solidFill>
              <a:latin typeface="Inter" panose="02000503000000020004" pitchFamily="2" charset="0"/>
              <a:ea typeface="Inter" panose="02000503000000020004" pitchFamily="2" charset="0"/>
            </a:endParaRPr>
          </a:p>
          <a:p>
            <a:pPr>
              <a:lnSpc>
                <a:spcPct val="150000"/>
              </a:lnSpc>
            </a:pPr>
            <a:endParaRPr lang="en-US" sz="1100" b="1" cap="all" dirty="0">
              <a:solidFill>
                <a:srgbClr val="F59E0B"/>
              </a:solidFill>
              <a:latin typeface="Inter" panose="02000503000000020004" pitchFamily="2" charset="0"/>
              <a:ea typeface="Inter" panose="02000503000000020004" pitchFamily="2" charset="0"/>
            </a:endParaRPr>
          </a:p>
          <a:p>
            <a:pPr>
              <a:lnSpc>
                <a:spcPct val="150000"/>
              </a:lnSpc>
            </a:pPr>
            <a:r>
              <a:rPr lang="en-US" sz="1100" b="1" cap="all" dirty="0">
                <a:solidFill>
                  <a:srgbClr val="F59E0B"/>
                </a:solidFill>
                <a:latin typeface="Inter" panose="02000503000000020004" pitchFamily="2" charset="0"/>
                <a:ea typeface="Inter" panose="02000503000000020004" pitchFamily="2" charset="0"/>
              </a:rPr>
              <a:t>Market Dynamics: </a:t>
            </a:r>
            <a:r>
              <a:rPr lang="en-US" sz="1100" dirty="0">
                <a:latin typeface="Inter" panose="02000503000000020004" pitchFamily="2" charset="0"/>
                <a:ea typeface="Inter" panose="02000503000000020004" pitchFamily="2" charset="0"/>
              </a:rPr>
              <a:t>Updated assumptions about baseload prices, grid flexibility, and storage deployment resulted in higher value projections for renewables</a:t>
            </a:r>
          </a:p>
          <a:p>
            <a:pPr>
              <a:lnSpc>
                <a:spcPct val="150000"/>
              </a:lnSpc>
            </a:pPr>
            <a:endParaRPr lang="en-US" sz="1100" b="1" cap="all" dirty="0">
              <a:solidFill>
                <a:srgbClr val="F59E0B"/>
              </a:solidFill>
              <a:latin typeface="Inter" panose="02000503000000020004" pitchFamily="2" charset="0"/>
              <a:ea typeface="Inter" panose="02000503000000020004" pitchFamily="2" charset="0"/>
            </a:endParaRPr>
          </a:p>
          <a:p>
            <a:pPr>
              <a:lnSpc>
                <a:spcPct val="150000"/>
              </a:lnSpc>
            </a:pPr>
            <a:r>
              <a:rPr lang="en-US" sz="1100" b="1" cap="all" dirty="0">
                <a:solidFill>
                  <a:srgbClr val="F59E0B"/>
                </a:solidFill>
                <a:latin typeface="Inter" panose="02000503000000020004" pitchFamily="2" charset="0"/>
                <a:ea typeface="Inter" panose="02000503000000020004" pitchFamily="2" charset="0"/>
              </a:rPr>
              <a:t>Industrial Demand: </a:t>
            </a:r>
            <a:r>
              <a:rPr lang="en-US" sz="1100" dirty="0">
                <a:latin typeface="Inter" panose="02000503000000020004" pitchFamily="2" charset="0"/>
                <a:ea typeface="Inter" panose="02000503000000020004" pitchFamily="2" charset="0"/>
              </a:rPr>
              <a:t>Revised industrial demand forecasts, particularly for electrification and hydrogen production, supporting higher electricity prices.</a:t>
            </a:r>
          </a:p>
          <a:p>
            <a:pPr>
              <a:lnSpc>
                <a:spcPct val="150000"/>
              </a:lnSpc>
            </a:pPr>
            <a:endParaRPr lang="en-US" sz="1100" b="1" cap="all" dirty="0">
              <a:solidFill>
                <a:srgbClr val="F59E0B"/>
              </a:solidFill>
              <a:latin typeface="Inter" panose="02000503000000020004" pitchFamily="2" charset="0"/>
              <a:ea typeface="Inter" panose="02000503000000020004" pitchFamily="2" charset="0"/>
            </a:endParaRPr>
          </a:p>
          <a:p>
            <a:pPr>
              <a:lnSpc>
                <a:spcPct val="150000"/>
              </a:lnSpc>
            </a:pPr>
            <a:r>
              <a:rPr lang="en-US" sz="1100" b="1" cap="all" dirty="0">
                <a:solidFill>
                  <a:srgbClr val="F59E0B"/>
                </a:solidFill>
                <a:latin typeface="Inter" panose="02000503000000020004" pitchFamily="2" charset="0"/>
                <a:ea typeface="Inter" panose="02000503000000020004" pitchFamily="2" charset="0"/>
              </a:rPr>
              <a:t>Policy Changes: </a:t>
            </a:r>
            <a:r>
              <a:rPr lang="en-US" sz="1100" dirty="0">
                <a:latin typeface="Inter" panose="02000503000000020004" pitchFamily="2" charset="0"/>
                <a:ea typeface="Inter" panose="02000503000000020004" pitchFamily="2" charset="0"/>
              </a:rPr>
              <a:t>EU policy responses to energy security (</a:t>
            </a:r>
            <a:r>
              <a:rPr lang="en-US" sz="1100" dirty="0" err="1">
                <a:latin typeface="Inter" panose="02000503000000020004" pitchFamily="2" charset="0"/>
                <a:ea typeface="Inter" panose="02000503000000020004" pitchFamily="2" charset="0"/>
              </a:rPr>
              <a:t>REPowerEU</a:t>
            </a:r>
            <a:r>
              <a:rPr lang="en-US" sz="1100" dirty="0">
                <a:latin typeface="Inter" panose="02000503000000020004" pitchFamily="2" charset="0"/>
                <a:ea typeface="Inter" panose="02000503000000020004" pitchFamily="2" charset="0"/>
              </a:rPr>
              <a:t>) and accelerated renewable targets influenced market price expectations.</a:t>
            </a:r>
          </a:p>
          <a:p>
            <a:pPr>
              <a:lnSpc>
                <a:spcPct val="150000"/>
              </a:lnSpc>
            </a:pPr>
            <a:endParaRPr lang="en-US" sz="1100" b="1" cap="all" dirty="0">
              <a:solidFill>
                <a:srgbClr val="F59E0B"/>
              </a:solidFill>
              <a:latin typeface="Inter" panose="02000503000000020004" pitchFamily="2" charset="0"/>
              <a:ea typeface="Inter" panose="02000503000000020004" pitchFamily="2" charset="0"/>
            </a:endParaRPr>
          </a:p>
          <a:p>
            <a:pPr>
              <a:lnSpc>
                <a:spcPct val="150000"/>
              </a:lnSpc>
            </a:pPr>
            <a:r>
              <a:rPr lang="en-US" sz="1100" b="1" cap="all" dirty="0">
                <a:solidFill>
                  <a:srgbClr val="F59E0B"/>
                </a:solidFill>
                <a:latin typeface="Inter" panose="02000503000000020004" pitchFamily="2" charset="0"/>
                <a:ea typeface="Inter" panose="02000503000000020004" pitchFamily="2" charset="0"/>
              </a:rPr>
              <a:t>Cost Inflation: </a:t>
            </a:r>
            <a:r>
              <a:rPr lang="en-US" sz="1100" dirty="0">
                <a:latin typeface="Inter" panose="02000503000000020004" pitchFamily="2" charset="0"/>
                <a:ea typeface="Inter" panose="02000503000000020004" pitchFamily="2" charset="0"/>
              </a:rPr>
              <a:t>Rising capital and operational costs for renewable projects translated into higher required revenue expectations in forecasts.</a:t>
            </a:r>
          </a:p>
          <a:p>
            <a:pPr>
              <a:lnSpc>
                <a:spcPct val="150000"/>
              </a:lnSpc>
            </a:pPr>
            <a:endParaRPr lang="en-US" sz="1100" dirty="0">
              <a:latin typeface="Inter" panose="02000503000000020004" pitchFamily="2" charset="0"/>
              <a:ea typeface="Inter" panose="02000503000000020004" pitchFamily="2" charset="0"/>
            </a:endParaRPr>
          </a:p>
          <a:p>
            <a:pPr>
              <a:lnSpc>
                <a:spcPct val="150000"/>
              </a:lnSpc>
            </a:pPr>
            <a:endParaRPr lang="en-US" sz="1100" dirty="0">
              <a:latin typeface="Inter" panose="02000503000000020004" pitchFamily="2" charset="0"/>
              <a:ea typeface="Inter" panose="02000503000000020004" pitchFamily="2" charset="0"/>
            </a:endParaRPr>
          </a:p>
          <a:p>
            <a:pPr>
              <a:lnSpc>
                <a:spcPct val="150000"/>
              </a:lnSpc>
            </a:pPr>
            <a:endParaRPr lang="en-US" sz="1100" dirty="0">
              <a:latin typeface="Inter" panose="02000503000000020004" pitchFamily="2" charset="0"/>
              <a:ea typeface="Inter" panose="02000503000000020004" pitchFamily="2" charset="0"/>
            </a:endParaRPr>
          </a:p>
          <a:p>
            <a:pPr>
              <a:lnSpc>
                <a:spcPct val="150000"/>
              </a:lnSpc>
            </a:pPr>
            <a:endParaRPr lang="en-US" sz="1100" b="1" cap="all" dirty="0">
              <a:solidFill>
                <a:schemeClr val="bg2"/>
              </a:solidFill>
              <a:latin typeface="Inter" panose="02000503000000020004" pitchFamily="2" charset="0"/>
              <a:ea typeface="Inter" panose="02000503000000020004" pitchFamily="2" charset="0"/>
            </a:endParaRPr>
          </a:p>
          <a:p>
            <a:pPr>
              <a:lnSpc>
                <a:spcPct val="150000"/>
              </a:lnSpc>
            </a:pPr>
            <a:endParaRPr lang="en-US" b="1" dirty="0"/>
          </a:p>
          <a:p>
            <a:pPr algn="ctr">
              <a:lnSpc>
                <a:spcPct val="150000"/>
              </a:lnSpc>
            </a:pPr>
            <a:endParaRPr lang="en-US" sz="1100" b="1" dirty="0">
              <a:solidFill>
                <a:srgbClr val="EF4444"/>
              </a:solidFill>
              <a:latin typeface="Inter  "/>
            </a:endParaRPr>
          </a:p>
        </p:txBody>
      </p:sp>
    </p:spTree>
    <p:extLst>
      <p:ext uri="{BB962C8B-B14F-4D97-AF65-F5344CB8AC3E}">
        <p14:creationId xmlns:p14="http://schemas.microsoft.com/office/powerpoint/2010/main" val="3254710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2F4C"/>
        </a:solidFill>
        <a:effectLst/>
      </p:bgPr>
    </p:bg>
    <p:spTree>
      <p:nvGrpSpPr>
        <p:cNvPr id="1" name="">
          <a:extLst>
            <a:ext uri="{FF2B5EF4-FFF2-40B4-BE49-F238E27FC236}">
              <a16:creationId xmlns:a16="http://schemas.microsoft.com/office/drawing/2014/main" id="{09380238-9EAE-962C-50EE-C24678981C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086486-3874-99C8-6FDE-DB4E6EBB288B}"/>
              </a:ext>
            </a:extLst>
          </p:cNvPr>
          <p:cNvSpPr>
            <a:spLocks noGrp="1"/>
          </p:cNvSpPr>
          <p:nvPr>
            <p:ph type="title"/>
          </p:nvPr>
        </p:nvSpPr>
        <p:spPr/>
        <p:txBody>
          <a:bodyPr>
            <a:noAutofit/>
          </a:bodyPr>
          <a:lstStyle/>
          <a:p>
            <a:pPr algn="ctr">
              <a:lnSpc>
                <a:spcPct val="150000"/>
              </a:lnSpc>
              <a:spcAft>
                <a:spcPts val="600"/>
              </a:spcAft>
              <a:buNone/>
            </a:pPr>
            <a:r>
              <a:rPr lang="en-US" sz="2000" b="1" i="0" dirty="0">
                <a:solidFill>
                  <a:srgbClr val="FFFFFF"/>
                </a:solidFill>
                <a:effectLst/>
                <a:latin typeface="Inter" panose="02000503000000020004" pitchFamily="2" charset="0"/>
                <a:ea typeface="Inter" panose="02000503000000020004" pitchFamily="2" charset="0"/>
              </a:rPr>
              <a:t>Forecast Change Analysis (2022 Q3 → 2023 Q1)</a:t>
            </a:r>
            <a:br>
              <a:rPr lang="en-US" sz="1100" b="1" i="0" dirty="0">
                <a:solidFill>
                  <a:srgbClr val="FFFFFF"/>
                </a:solidFill>
                <a:effectLst/>
                <a:latin typeface="Inter" panose="02000503000000020004" pitchFamily="2" charset="0"/>
                <a:ea typeface="Inter" panose="02000503000000020004" pitchFamily="2" charset="0"/>
              </a:rPr>
            </a:br>
            <a:r>
              <a:rPr lang="en-US" sz="1600" b="0" i="1" dirty="0">
                <a:solidFill>
                  <a:srgbClr val="FBBF24"/>
                </a:solidFill>
                <a:effectLst/>
                <a:latin typeface="Inter" panose="02000503000000020004" pitchFamily="2" charset="0"/>
                <a:ea typeface="Inter" panose="02000503000000020004" pitchFamily="2" charset="0"/>
              </a:rPr>
              <a:t>Did Aaron change his forecast for solar PV and onshore wind capture prices between Q3 2022 and Q1 2023? If so, how significant is the shift and what could possibly explain that?</a:t>
            </a:r>
          </a:p>
        </p:txBody>
      </p:sp>
      <p:sp>
        <p:nvSpPr>
          <p:cNvPr id="4" name="Rectangle: Diagonal Corners Rounded 3">
            <a:extLst>
              <a:ext uri="{FF2B5EF4-FFF2-40B4-BE49-F238E27FC236}">
                <a16:creationId xmlns:a16="http://schemas.microsoft.com/office/drawing/2014/main" id="{0D46EE52-E3EA-4CB1-BDF3-318980EA9B04}"/>
              </a:ext>
            </a:extLst>
          </p:cNvPr>
          <p:cNvSpPr/>
          <p:nvPr/>
        </p:nvSpPr>
        <p:spPr>
          <a:xfrm>
            <a:off x="1101665" y="1690688"/>
            <a:ext cx="9988669" cy="946147"/>
          </a:xfrm>
          <a:prstGeom prst="round2DiagRect">
            <a:avLst/>
          </a:prstGeom>
          <a:solidFill>
            <a:srgbClr val="2F3D58"/>
          </a:solidFill>
          <a:ln w="76200">
            <a:solidFill>
              <a:srgbClr val="2F3D58">
                <a:alpha val="4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50000"/>
              </a:lnSpc>
            </a:pPr>
            <a:r>
              <a:rPr lang="en-US" dirty="0"/>
              <a:t>⚠️</a:t>
            </a:r>
            <a:r>
              <a:rPr lang="en-US" dirty="0">
                <a:solidFill>
                  <a:srgbClr val="D69196"/>
                </a:solidFill>
                <a:latin typeface="Inter" panose="02000503000000020004" pitchFamily="2" charset="0"/>
                <a:ea typeface="Inter" panose="02000503000000020004" pitchFamily="2" charset="0"/>
              </a:rPr>
              <a:t> </a:t>
            </a:r>
            <a:r>
              <a:rPr lang="en-US" sz="1200" b="1" dirty="0">
                <a:solidFill>
                  <a:srgbClr val="D69196"/>
                </a:solidFill>
                <a:latin typeface="Inter" panose="02000503000000020004" pitchFamily="2" charset="0"/>
                <a:ea typeface="Inter" panose="02000503000000020004" pitchFamily="2" charset="0"/>
              </a:rPr>
              <a:t>Yes – Significant upward revision.</a:t>
            </a:r>
            <a:r>
              <a:rPr lang="en-US" sz="1200" dirty="0">
                <a:solidFill>
                  <a:srgbClr val="D69196"/>
                </a:solidFill>
                <a:latin typeface="Inter" panose="02000503000000020004" pitchFamily="2" charset="0"/>
                <a:ea typeface="Inter" panose="02000503000000020004" pitchFamily="2" charset="0"/>
              </a:rPr>
              <a:t> </a:t>
            </a:r>
            <a:r>
              <a:rPr lang="en-US" sz="1200" dirty="0">
                <a:solidFill>
                  <a:srgbClr val="FFFFFF"/>
                </a:solidFill>
                <a:latin typeface="Inter" panose="02000503000000020004" pitchFamily="2" charset="0"/>
                <a:ea typeface="Inter" panose="02000503000000020004" pitchFamily="2" charset="0"/>
              </a:rPr>
              <a:t>Solar PV capture price increased by </a:t>
            </a:r>
            <a:r>
              <a:rPr lang="en-US" sz="1200" dirty="0">
                <a:solidFill>
                  <a:srgbClr val="D69196"/>
                </a:solidFill>
                <a:latin typeface="Inter" panose="02000503000000020004" pitchFamily="2" charset="0"/>
                <a:ea typeface="Inter" panose="02000503000000020004" pitchFamily="2" charset="0"/>
              </a:rPr>
              <a:t>24% </a:t>
            </a:r>
            <a:r>
              <a:rPr lang="en-US" sz="1200" dirty="0">
                <a:solidFill>
                  <a:schemeClr val="bg1"/>
                </a:solidFill>
                <a:latin typeface="Inter" panose="02000503000000020004" pitchFamily="2" charset="0"/>
                <a:ea typeface="Inter" panose="02000503000000020004" pitchFamily="2" charset="0"/>
              </a:rPr>
              <a:t>and Onshore Wind </a:t>
            </a:r>
            <a:r>
              <a:rPr lang="en-US" sz="1200" dirty="0">
                <a:solidFill>
                  <a:srgbClr val="FFFFFF"/>
                </a:solidFill>
                <a:latin typeface="Inter" panose="02000503000000020004" pitchFamily="2" charset="0"/>
                <a:ea typeface="Inter" panose="02000503000000020004" pitchFamily="2" charset="0"/>
              </a:rPr>
              <a:t>by </a:t>
            </a:r>
            <a:r>
              <a:rPr lang="en-US" sz="1200" dirty="0">
                <a:solidFill>
                  <a:srgbClr val="D69196"/>
                </a:solidFill>
                <a:latin typeface="Inter" panose="02000503000000020004" pitchFamily="2" charset="0"/>
                <a:ea typeface="Inter" panose="02000503000000020004" pitchFamily="2" charset="0"/>
              </a:rPr>
              <a:t>8%, </a:t>
            </a:r>
            <a:r>
              <a:rPr lang="en-US" sz="1200" dirty="0">
                <a:solidFill>
                  <a:srgbClr val="FFFFFF"/>
                </a:solidFill>
                <a:latin typeface="Inter" panose="02000503000000020004" pitchFamily="2" charset="0"/>
                <a:ea typeface="Inter" panose="02000503000000020004" pitchFamily="2" charset="0"/>
              </a:rPr>
              <a:t>reflecting evolving market conditions and lesson from 2022 energy crisis.</a:t>
            </a:r>
            <a:endParaRPr lang="en-US" sz="1200" dirty="0">
              <a:solidFill>
                <a:prstClr val="white"/>
              </a:solidFill>
              <a:latin typeface="Inter" panose="02000503000000020004" pitchFamily="2" charset="0"/>
              <a:ea typeface="Inter" panose="02000503000000020004" pitchFamily="2" charset="0"/>
            </a:endParaRPr>
          </a:p>
        </p:txBody>
      </p:sp>
      <p:sp>
        <p:nvSpPr>
          <p:cNvPr id="8" name="Rectangle: Rounded Corners 7">
            <a:extLst>
              <a:ext uri="{FF2B5EF4-FFF2-40B4-BE49-F238E27FC236}">
                <a16:creationId xmlns:a16="http://schemas.microsoft.com/office/drawing/2014/main" id="{40E3B38A-9A42-10CA-B998-2F76A9306DF5}"/>
              </a:ext>
            </a:extLst>
          </p:cNvPr>
          <p:cNvSpPr/>
          <p:nvPr/>
        </p:nvSpPr>
        <p:spPr>
          <a:xfrm>
            <a:off x="2418137" y="2796725"/>
            <a:ext cx="6815003" cy="3562978"/>
          </a:xfrm>
          <a:prstGeom prst="roundRect">
            <a:avLst>
              <a:gd name="adj" fmla="val 6089"/>
            </a:avLst>
          </a:prstGeom>
          <a:solidFill>
            <a:srgbClr val="D69196">
              <a:alpha val="50000"/>
            </a:srgbClr>
          </a:solidFill>
          <a:ln w="19050">
            <a:solidFill>
              <a:srgbClr val="EF4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en-US" dirty="0">
              <a:latin typeface="Inter" panose="02000503000000020004" pitchFamily="2" charset="0"/>
              <a:ea typeface="Inter" panose="02000503000000020004" pitchFamily="2" charset="0"/>
            </a:endParaRPr>
          </a:p>
          <a:p>
            <a:pPr>
              <a:lnSpc>
                <a:spcPct val="150000"/>
              </a:lnSpc>
            </a:pPr>
            <a:endParaRPr lang="en-US" dirty="0">
              <a:latin typeface="Inter" panose="02000503000000020004" pitchFamily="2" charset="0"/>
              <a:ea typeface="Inter" panose="02000503000000020004" pitchFamily="2" charset="0"/>
            </a:endParaRPr>
          </a:p>
          <a:p>
            <a:pPr>
              <a:lnSpc>
                <a:spcPct val="150000"/>
              </a:lnSpc>
            </a:pPr>
            <a:endParaRPr lang="en-US" dirty="0">
              <a:latin typeface="Inter" panose="02000503000000020004" pitchFamily="2" charset="0"/>
              <a:ea typeface="Inter" panose="02000503000000020004" pitchFamily="2" charset="0"/>
            </a:endParaRPr>
          </a:p>
          <a:p>
            <a:pPr>
              <a:lnSpc>
                <a:spcPct val="150000"/>
              </a:lnSpc>
            </a:pPr>
            <a:endParaRPr lang="en-US" dirty="0">
              <a:latin typeface="Inter" panose="02000503000000020004" pitchFamily="2" charset="0"/>
              <a:ea typeface="Inter" panose="02000503000000020004" pitchFamily="2" charset="0"/>
            </a:endParaRPr>
          </a:p>
          <a:p>
            <a:pPr algn="ctr">
              <a:lnSpc>
                <a:spcPct val="150000"/>
              </a:lnSpc>
            </a:pPr>
            <a:r>
              <a:rPr lang="en-US" dirty="0">
                <a:solidFill>
                  <a:srgbClr val="000000"/>
                </a:solidFill>
                <a:latin typeface="Inter" panose="02000503000000020004" pitchFamily="2" charset="0"/>
                <a:ea typeface="Inter" panose="02000503000000020004" pitchFamily="2" charset="0"/>
              </a:rPr>
              <a:t>💡</a:t>
            </a:r>
            <a:r>
              <a:rPr lang="en-US" b="1" cap="all" dirty="0">
                <a:solidFill>
                  <a:srgbClr val="FBBF24"/>
                </a:solidFill>
                <a:latin typeface="Inter" panose="02000503000000020004" pitchFamily="2" charset="0"/>
                <a:ea typeface="Inter" panose="02000503000000020004" pitchFamily="2" charset="0"/>
              </a:rPr>
              <a:t>  Strategic Insight</a:t>
            </a:r>
          </a:p>
          <a:p>
            <a:pPr algn="ctr">
              <a:lnSpc>
                <a:spcPct val="150000"/>
              </a:lnSpc>
            </a:pPr>
            <a:r>
              <a:rPr lang="en-US" dirty="0">
                <a:latin typeface="Inter" panose="02000503000000020004" pitchFamily="2" charset="0"/>
                <a:ea typeface="Inter" panose="02000503000000020004" pitchFamily="2" charset="0"/>
              </a:rPr>
              <a:t>The</a:t>
            </a:r>
            <a:r>
              <a:rPr lang="en-US" dirty="0">
                <a:solidFill>
                  <a:srgbClr val="F59E0B"/>
                </a:solidFill>
                <a:latin typeface="Inter" panose="02000503000000020004" pitchFamily="2" charset="0"/>
                <a:ea typeface="Inter" panose="02000503000000020004" pitchFamily="2" charset="0"/>
              </a:rPr>
              <a:t> </a:t>
            </a:r>
            <a:r>
              <a:rPr lang="en-US" b="1" dirty="0">
                <a:solidFill>
                  <a:srgbClr val="F59E0B"/>
                </a:solidFill>
                <a:latin typeface="Inter" panose="02000503000000020004" pitchFamily="2" charset="0"/>
                <a:ea typeface="Inter" panose="02000503000000020004" pitchFamily="2" charset="0"/>
              </a:rPr>
              <a:t>24% </a:t>
            </a:r>
            <a:r>
              <a:rPr lang="en-US" b="1" dirty="0">
                <a:latin typeface="Inter" panose="02000503000000020004" pitchFamily="2" charset="0"/>
                <a:ea typeface="Inter" panose="02000503000000020004" pitchFamily="2" charset="0"/>
              </a:rPr>
              <a:t>and </a:t>
            </a:r>
            <a:r>
              <a:rPr lang="en-US" b="1" dirty="0">
                <a:solidFill>
                  <a:srgbClr val="F59E0B"/>
                </a:solidFill>
                <a:latin typeface="Inter" panose="02000503000000020004" pitchFamily="2" charset="0"/>
                <a:ea typeface="Inter" panose="02000503000000020004" pitchFamily="2" charset="0"/>
              </a:rPr>
              <a:t>8% </a:t>
            </a:r>
            <a:r>
              <a:rPr lang="en-US" b="1" dirty="0">
                <a:latin typeface="Inter" panose="02000503000000020004" pitchFamily="2" charset="0"/>
                <a:ea typeface="Inter" panose="02000503000000020004" pitchFamily="2" charset="0"/>
              </a:rPr>
              <a:t>upward revisions</a:t>
            </a:r>
            <a:r>
              <a:rPr lang="en-US" dirty="0">
                <a:latin typeface="Inter" panose="02000503000000020004" pitchFamily="2" charset="0"/>
                <a:ea typeface="Inter" panose="02000503000000020004" pitchFamily="2" charset="0"/>
              </a:rPr>
              <a:t> suggest Aaron incorporated lessons from the </a:t>
            </a:r>
            <a:r>
              <a:rPr lang="en-US" b="1" dirty="0">
                <a:latin typeface="Inter" panose="02000503000000020004" pitchFamily="2" charset="0"/>
                <a:ea typeface="Inter" panose="02000503000000020004" pitchFamily="2" charset="0"/>
              </a:rPr>
              <a:t>2022 energy crisis</a:t>
            </a:r>
            <a:r>
              <a:rPr lang="en-US" dirty="0">
                <a:latin typeface="Inter" panose="02000503000000020004" pitchFamily="2" charset="0"/>
                <a:ea typeface="Inter" panose="02000503000000020004" pitchFamily="2" charset="0"/>
              </a:rPr>
              <a:t> and updated assumptions about </a:t>
            </a:r>
            <a:r>
              <a:rPr lang="en-US" b="1" dirty="0">
                <a:latin typeface="Inter" panose="02000503000000020004" pitchFamily="2" charset="0"/>
                <a:ea typeface="Inter" panose="02000503000000020004" pitchFamily="2" charset="0"/>
              </a:rPr>
              <a:t>long-term market structure</a:t>
            </a:r>
            <a:r>
              <a:rPr lang="en-US" dirty="0">
                <a:latin typeface="Inter" panose="02000503000000020004" pitchFamily="2" charset="0"/>
                <a:ea typeface="Inter" panose="02000503000000020004" pitchFamily="2" charset="0"/>
              </a:rPr>
              <a:t>. Higher capture prices in Q1 2023 forecast indicate more optimistic renewable value expectations, potentially driven by improved understanding of </a:t>
            </a:r>
            <a:r>
              <a:rPr lang="en-US" b="1" dirty="0">
                <a:latin typeface="Inter" panose="02000503000000020004" pitchFamily="2" charset="0"/>
                <a:ea typeface="Inter" panose="02000503000000020004" pitchFamily="2" charset="0"/>
              </a:rPr>
              <a:t>grid integration and policy support</a:t>
            </a:r>
            <a:r>
              <a:rPr lang="en-US" dirty="0">
                <a:latin typeface="Inter" panose="02000503000000020004" pitchFamily="2" charset="0"/>
                <a:ea typeface="Inter" panose="02000503000000020004" pitchFamily="2" charset="0"/>
              </a:rPr>
              <a:t>.</a:t>
            </a:r>
          </a:p>
          <a:p>
            <a:pPr>
              <a:lnSpc>
                <a:spcPct val="150000"/>
              </a:lnSpc>
            </a:pPr>
            <a:endParaRPr lang="en-US" sz="1100" dirty="0">
              <a:latin typeface="Inter" panose="02000503000000020004" pitchFamily="2" charset="0"/>
              <a:ea typeface="Inter" panose="02000503000000020004" pitchFamily="2" charset="0"/>
            </a:endParaRPr>
          </a:p>
          <a:p>
            <a:pPr>
              <a:lnSpc>
                <a:spcPct val="150000"/>
              </a:lnSpc>
            </a:pPr>
            <a:endParaRPr lang="en-US" sz="1100" dirty="0">
              <a:latin typeface="Inter" panose="02000503000000020004" pitchFamily="2" charset="0"/>
              <a:ea typeface="Inter" panose="02000503000000020004" pitchFamily="2" charset="0"/>
            </a:endParaRPr>
          </a:p>
          <a:p>
            <a:pPr>
              <a:lnSpc>
                <a:spcPct val="150000"/>
              </a:lnSpc>
            </a:pPr>
            <a:endParaRPr lang="en-US" sz="1100" dirty="0">
              <a:latin typeface="Inter" panose="02000503000000020004" pitchFamily="2" charset="0"/>
              <a:ea typeface="Inter" panose="02000503000000020004" pitchFamily="2" charset="0"/>
            </a:endParaRPr>
          </a:p>
          <a:p>
            <a:pPr>
              <a:lnSpc>
                <a:spcPct val="150000"/>
              </a:lnSpc>
            </a:pPr>
            <a:endParaRPr lang="en-US" sz="1100" b="1" cap="all" dirty="0">
              <a:solidFill>
                <a:schemeClr val="bg2"/>
              </a:solidFill>
              <a:latin typeface="Inter" panose="02000503000000020004" pitchFamily="2" charset="0"/>
              <a:ea typeface="Inter" panose="02000503000000020004" pitchFamily="2" charset="0"/>
            </a:endParaRPr>
          </a:p>
          <a:p>
            <a:pPr>
              <a:lnSpc>
                <a:spcPct val="150000"/>
              </a:lnSpc>
            </a:pPr>
            <a:endParaRPr lang="en-US" b="1" dirty="0">
              <a:latin typeface="Inter" panose="02000503000000020004" pitchFamily="2" charset="0"/>
              <a:ea typeface="Inter" panose="02000503000000020004" pitchFamily="2" charset="0"/>
            </a:endParaRPr>
          </a:p>
          <a:p>
            <a:pPr algn="ctr">
              <a:lnSpc>
                <a:spcPct val="150000"/>
              </a:lnSpc>
            </a:pPr>
            <a:endParaRPr lang="en-US" sz="1100" b="1" dirty="0">
              <a:solidFill>
                <a:srgbClr val="EF4444"/>
              </a:solidFill>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3862408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2F4C"/>
        </a:solidFill>
        <a:effectLst/>
      </p:bgPr>
    </p:bg>
    <p:spTree>
      <p:nvGrpSpPr>
        <p:cNvPr id="1" name="">
          <a:extLst>
            <a:ext uri="{FF2B5EF4-FFF2-40B4-BE49-F238E27FC236}">
              <a16:creationId xmlns:a16="http://schemas.microsoft.com/office/drawing/2014/main" id="{560488B2-FF4A-D7FA-B7ED-3CD5969C76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1A1AD7-24FA-5115-E39C-4DC78F913E49}"/>
              </a:ext>
            </a:extLst>
          </p:cNvPr>
          <p:cNvSpPr>
            <a:spLocks noGrp="1"/>
          </p:cNvSpPr>
          <p:nvPr>
            <p:ph type="title"/>
          </p:nvPr>
        </p:nvSpPr>
        <p:spPr/>
        <p:txBody>
          <a:bodyPr>
            <a:noAutofit/>
          </a:bodyPr>
          <a:lstStyle/>
          <a:p>
            <a:pPr algn="ctr">
              <a:lnSpc>
                <a:spcPct val="150000"/>
              </a:lnSpc>
              <a:spcAft>
                <a:spcPts val="600"/>
              </a:spcAft>
              <a:buNone/>
            </a:pPr>
            <a:r>
              <a:rPr lang="en-US" sz="2000" b="1" i="0" dirty="0">
                <a:solidFill>
                  <a:srgbClr val="FFFFFF"/>
                </a:solidFill>
                <a:effectLst/>
                <a:latin typeface="Inter" panose="02000503000000020004" pitchFamily="2" charset="0"/>
                <a:ea typeface="Inter" panose="02000503000000020004" pitchFamily="2" charset="0"/>
              </a:rPr>
              <a:t>SUMMARY OF KEY INSIGHT REPORT</a:t>
            </a:r>
            <a:endParaRPr lang="en-US" sz="1600" b="0" i="1" dirty="0">
              <a:solidFill>
                <a:srgbClr val="FBBF24"/>
              </a:solidFill>
              <a:effectLst/>
              <a:latin typeface="Inter" panose="02000503000000020004" pitchFamily="2" charset="0"/>
              <a:ea typeface="Inter" panose="02000503000000020004" pitchFamily="2" charset="0"/>
            </a:endParaRPr>
          </a:p>
        </p:txBody>
      </p:sp>
      <p:grpSp>
        <p:nvGrpSpPr>
          <p:cNvPr id="23" name="Group 22">
            <a:extLst>
              <a:ext uri="{FF2B5EF4-FFF2-40B4-BE49-F238E27FC236}">
                <a16:creationId xmlns:a16="http://schemas.microsoft.com/office/drawing/2014/main" id="{76644FD7-BC20-BE3D-5E3A-8CDEF9D1CEA7}"/>
              </a:ext>
            </a:extLst>
          </p:cNvPr>
          <p:cNvGrpSpPr/>
          <p:nvPr/>
        </p:nvGrpSpPr>
        <p:grpSpPr>
          <a:xfrm>
            <a:off x="1181100" y="1485439"/>
            <a:ext cx="9829800" cy="4831148"/>
            <a:chOff x="660115" y="1485439"/>
            <a:chExt cx="9829800" cy="4831148"/>
          </a:xfrm>
        </p:grpSpPr>
        <p:grpSp>
          <p:nvGrpSpPr>
            <p:cNvPr id="16" name="Group 15">
              <a:extLst>
                <a:ext uri="{FF2B5EF4-FFF2-40B4-BE49-F238E27FC236}">
                  <a16:creationId xmlns:a16="http://schemas.microsoft.com/office/drawing/2014/main" id="{E9C27919-79DD-9A6C-4C55-BD06FCA8BED3}"/>
                </a:ext>
              </a:extLst>
            </p:cNvPr>
            <p:cNvGrpSpPr/>
            <p:nvPr/>
          </p:nvGrpSpPr>
          <p:grpSpPr>
            <a:xfrm>
              <a:off x="6261243" y="1485439"/>
              <a:ext cx="4228672" cy="4831148"/>
              <a:chOff x="507715" y="1333039"/>
              <a:chExt cx="4228672" cy="4831148"/>
            </a:xfrm>
          </p:grpSpPr>
          <p:sp>
            <p:nvSpPr>
              <p:cNvPr id="4" name="Title 1">
                <a:extLst>
                  <a:ext uri="{FF2B5EF4-FFF2-40B4-BE49-F238E27FC236}">
                    <a16:creationId xmlns:a16="http://schemas.microsoft.com/office/drawing/2014/main" id="{7471C32D-A41B-3308-50A6-25F703C6DE8C}"/>
                  </a:ext>
                </a:extLst>
              </p:cNvPr>
              <p:cNvSpPr txBox="1">
                <a:spLocks/>
              </p:cNvSpPr>
              <p:nvPr/>
            </p:nvSpPr>
            <p:spPr>
              <a:xfrm>
                <a:off x="507715" y="1980916"/>
                <a:ext cx="3776609" cy="156649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spcAft>
                    <a:spcPts val="600"/>
                  </a:spcAft>
                </a:pPr>
                <a:endParaRPr lang="en-US" sz="1600" i="1" dirty="0">
                  <a:solidFill>
                    <a:srgbClr val="FBBF24"/>
                  </a:solidFill>
                  <a:latin typeface="Inter" panose="02000503000000020004" pitchFamily="2" charset="0"/>
                  <a:ea typeface="Inter" panose="02000503000000020004" pitchFamily="2" charset="0"/>
                </a:endParaRPr>
              </a:p>
            </p:txBody>
          </p:sp>
          <p:sp>
            <p:nvSpPr>
              <p:cNvPr id="3" name="Rectangle: Rounded Corners 2">
                <a:extLst>
                  <a:ext uri="{FF2B5EF4-FFF2-40B4-BE49-F238E27FC236}">
                    <a16:creationId xmlns:a16="http://schemas.microsoft.com/office/drawing/2014/main" id="{DC26E6D3-58EA-A701-2634-9F941CFE28C6}"/>
                  </a:ext>
                </a:extLst>
              </p:cNvPr>
              <p:cNvSpPr/>
              <p:nvPr/>
            </p:nvSpPr>
            <p:spPr>
              <a:xfrm>
                <a:off x="1182051" y="1333039"/>
                <a:ext cx="2880000" cy="540000"/>
              </a:xfrm>
              <a:prstGeom prst="roundRect">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GB" sz="1200" dirty="0">
                    <a:solidFill>
                      <a:schemeClr val="bg1"/>
                    </a:solidFill>
                    <a:latin typeface="Inter" panose="02000503000000020004" pitchFamily="2" charset="0"/>
                    <a:ea typeface="Inter" panose="02000503000000020004" pitchFamily="2" charset="0"/>
                  </a:rPr>
                  <a:t>2. Capture Price Trend</a:t>
                </a:r>
                <a:endParaRPr lang="en-US" sz="1200" dirty="0">
                  <a:solidFill>
                    <a:schemeClr val="bg1"/>
                  </a:solidFill>
                  <a:latin typeface="Inter" panose="02000503000000020004" pitchFamily="2" charset="0"/>
                  <a:ea typeface="Inter" panose="02000503000000020004" pitchFamily="2" charset="0"/>
                </a:endParaRPr>
              </a:p>
            </p:txBody>
          </p:sp>
          <p:sp>
            <p:nvSpPr>
              <p:cNvPr id="6" name="TextBox 5">
                <a:extLst>
                  <a:ext uri="{FF2B5EF4-FFF2-40B4-BE49-F238E27FC236}">
                    <a16:creationId xmlns:a16="http://schemas.microsoft.com/office/drawing/2014/main" id="{2334A422-E746-8CC7-E458-567E5A41FA0E}"/>
                  </a:ext>
                </a:extLst>
              </p:cNvPr>
              <p:cNvSpPr txBox="1"/>
              <p:nvPr/>
            </p:nvSpPr>
            <p:spPr>
              <a:xfrm>
                <a:off x="507715" y="1908998"/>
                <a:ext cx="4228672" cy="2001895"/>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US" sz="1200" dirty="0">
                    <a:solidFill>
                      <a:schemeClr val="bg1"/>
                    </a:solidFill>
                    <a:latin typeface="Inter" panose="02000503000000020004" pitchFamily="2" charset="0"/>
                    <a:ea typeface="Inter" panose="02000503000000020004" pitchFamily="2" charset="0"/>
                  </a:rPr>
                  <a:t>In both forecasts (2022Q3 and 2023Q1), Solar PV (GB) overtakes Onshore Wind (DE) after 2029, maintaining higher capture prices through 2050 Britain’s Solar PV demonstrates higher growth potential but greater short-term volatility. </a:t>
                </a:r>
              </a:p>
              <a:p>
                <a:pPr marL="171450" indent="-171450">
                  <a:lnSpc>
                    <a:spcPct val="150000"/>
                  </a:lnSpc>
                  <a:buFont typeface="Arial" panose="020B0604020202020204" pitchFamily="34" charset="0"/>
                  <a:buChar char="•"/>
                </a:pPr>
                <a:r>
                  <a:rPr lang="en-US" sz="1200" dirty="0">
                    <a:solidFill>
                      <a:schemeClr val="bg1"/>
                    </a:solidFill>
                    <a:latin typeface="Inter" panose="02000503000000020004" pitchFamily="2" charset="0"/>
                    <a:ea typeface="Inter" panose="02000503000000020004" pitchFamily="2" charset="0"/>
                  </a:rPr>
                  <a:t>Median capture price advantage: +6.9% for Solar PV in 2023Q1 forecasts.</a:t>
                </a:r>
                <a:endParaRPr lang="en-US" sz="1200" dirty="0"/>
              </a:p>
            </p:txBody>
          </p:sp>
          <p:sp>
            <p:nvSpPr>
              <p:cNvPr id="14" name="Rectangle: Rounded Corners 13">
                <a:extLst>
                  <a:ext uri="{FF2B5EF4-FFF2-40B4-BE49-F238E27FC236}">
                    <a16:creationId xmlns:a16="http://schemas.microsoft.com/office/drawing/2014/main" id="{9DA07BD2-1EA6-593F-2E18-A5AD1D0BC45C}"/>
                  </a:ext>
                </a:extLst>
              </p:cNvPr>
              <p:cNvSpPr/>
              <p:nvPr/>
            </p:nvSpPr>
            <p:spPr>
              <a:xfrm>
                <a:off x="1182051" y="4074974"/>
                <a:ext cx="2880000" cy="540000"/>
              </a:xfrm>
              <a:prstGeom prst="roundRect">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GB" sz="1200" dirty="0">
                    <a:solidFill>
                      <a:schemeClr val="bg1"/>
                    </a:solidFill>
                    <a:latin typeface="Inter" panose="02000503000000020004" pitchFamily="2" charset="0"/>
                    <a:ea typeface="Inter" panose="02000503000000020004" pitchFamily="2" charset="0"/>
                  </a:rPr>
                  <a:t>4. </a:t>
                </a:r>
                <a:r>
                  <a:rPr lang="en-US" sz="1200" dirty="0">
                    <a:solidFill>
                      <a:schemeClr val="bg1"/>
                    </a:solidFill>
                    <a:latin typeface="Inter" panose="02000503000000020004" pitchFamily="2" charset="0"/>
                    <a:ea typeface="Inter" panose="02000503000000020004" pitchFamily="2" charset="0"/>
                  </a:rPr>
                  <a:t>Forecast Changes (2022Q3 → 2023Q1) </a:t>
                </a:r>
              </a:p>
            </p:txBody>
          </p:sp>
          <p:sp>
            <p:nvSpPr>
              <p:cNvPr id="15" name="TextBox 14">
                <a:extLst>
                  <a:ext uri="{FF2B5EF4-FFF2-40B4-BE49-F238E27FC236}">
                    <a16:creationId xmlns:a16="http://schemas.microsoft.com/office/drawing/2014/main" id="{ACB1DBB3-8B99-85B3-78E8-E85297A3ED35}"/>
                  </a:ext>
                </a:extLst>
              </p:cNvPr>
              <p:cNvSpPr txBox="1"/>
              <p:nvPr/>
            </p:nvSpPr>
            <p:spPr>
              <a:xfrm>
                <a:off x="507715" y="4716290"/>
                <a:ext cx="4228672" cy="1447897"/>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US" sz="1200" dirty="0">
                    <a:solidFill>
                      <a:schemeClr val="bg1"/>
                    </a:solidFill>
                    <a:latin typeface="Inter" panose="02000503000000020004" pitchFamily="2" charset="0"/>
                    <a:ea typeface="Inter" panose="02000503000000020004" pitchFamily="2" charset="0"/>
                  </a:rPr>
                  <a:t>Solar PV capture prices revised upward by 24%, Onshore Wind by 8%. </a:t>
                </a:r>
              </a:p>
              <a:p>
                <a:pPr marL="171450" indent="-171450">
                  <a:lnSpc>
                    <a:spcPct val="150000"/>
                  </a:lnSpc>
                  <a:buFont typeface="Arial" panose="020B0604020202020204" pitchFamily="34" charset="0"/>
                  <a:buChar char="•"/>
                </a:pPr>
                <a:r>
                  <a:rPr lang="en-US" sz="1200" dirty="0">
                    <a:solidFill>
                      <a:schemeClr val="bg1"/>
                    </a:solidFill>
                    <a:latin typeface="Inter" panose="02000503000000020004" pitchFamily="2" charset="0"/>
                    <a:ea typeface="Inter" panose="02000503000000020004" pitchFamily="2" charset="0"/>
                  </a:rPr>
                  <a:t>Driven by the 2022 energy crisis, </a:t>
                </a:r>
                <a:r>
                  <a:rPr lang="en-US" sz="1200" dirty="0" err="1">
                    <a:solidFill>
                      <a:schemeClr val="bg1"/>
                    </a:solidFill>
                    <a:latin typeface="Inter" panose="02000503000000020004" pitchFamily="2" charset="0"/>
                    <a:ea typeface="Inter" panose="02000503000000020004" pitchFamily="2" charset="0"/>
                  </a:rPr>
                  <a:t>REPowerEU</a:t>
                </a:r>
                <a:r>
                  <a:rPr lang="en-US" sz="1200" dirty="0">
                    <a:solidFill>
                      <a:schemeClr val="bg1"/>
                    </a:solidFill>
                    <a:latin typeface="Inter" panose="02000503000000020004" pitchFamily="2" charset="0"/>
                    <a:ea typeface="Inter" panose="02000503000000020004" pitchFamily="2" charset="0"/>
                  </a:rPr>
                  <a:t> policy support, and rising cost structures in renewable projects.</a:t>
                </a:r>
                <a:endParaRPr lang="en-US" sz="1200" dirty="0"/>
              </a:p>
            </p:txBody>
          </p:sp>
        </p:grpSp>
        <p:grpSp>
          <p:nvGrpSpPr>
            <p:cNvPr id="17" name="Group 16">
              <a:extLst>
                <a:ext uri="{FF2B5EF4-FFF2-40B4-BE49-F238E27FC236}">
                  <a16:creationId xmlns:a16="http://schemas.microsoft.com/office/drawing/2014/main" id="{370ABC8C-D94C-D01A-8684-6622BE3DA95D}"/>
                </a:ext>
              </a:extLst>
            </p:cNvPr>
            <p:cNvGrpSpPr/>
            <p:nvPr/>
          </p:nvGrpSpPr>
          <p:grpSpPr>
            <a:xfrm>
              <a:off x="660115" y="1485439"/>
              <a:ext cx="4228672" cy="4831148"/>
              <a:chOff x="507715" y="1333039"/>
              <a:chExt cx="4228672" cy="4831148"/>
            </a:xfrm>
          </p:grpSpPr>
          <p:sp>
            <p:nvSpPr>
              <p:cNvPr id="18" name="Title 1">
                <a:extLst>
                  <a:ext uri="{FF2B5EF4-FFF2-40B4-BE49-F238E27FC236}">
                    <a16:creationId xmlns:a16="http://schemas.microsoft.com/office/drawing/2014/main" id="{D508AB78-CF77-851D-E98F-BCED7DDD378A}"/>
                  </a:ext>
                </a:extLst>
              </p:cNvPr>
              <p:cNvSpPr txBox="1">
                <a:spLocks/>
              </p:cNvSpPr>
              <p:nvPr/>
            </p:nvSpPr>
            <p:spPr>
              <a:xfrm>
                <a:off x="507715" y="1980916"/>
                <a:ext cx="3776609" cy="156649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spcAft>
                    <a:spcPts val="600"/>
                  </a:spcAft>
                </a:pPr>
                <a:endParaRPr lang="en-US" sz="1600" i="1" dirty="0">
                  <a:solidFill>
                    <a:srgbClr val="FBBF24"/>
                  </a:solidFill>
                  <a:latin typeface="Inter" panose="02000503000000020004" pitchFamily="2" charset="0"/>
                  <a:ea typeface="Inter" panose="02000503000000020004" pitchFamily="2" charset="0"/>
                </a:endParaRPr>
              </a:p>
            </p:txBody>
          </p:sp>
          <p:sp>
            <p:nvSpPr>
              <p:cNvPr id="19" name="Rectangle: Rounded Corners 18">
                <a:extLst>
                  <a:ext uri="{FF2B5EF4-FFF2-40B4-BE49-F238E27FC236}">
                    <a16:creationId xmlns:a16="http://schemas.microsoft.com/office/drawing/2014/main" id="{AE3ABDE4-A5A3-17BD-723B-EA592F8D1B6D}"/>
                  </a:ext>
                </a:extLst>
              </p:cNvPr>
              <p:cNvSpPr/>
              <p:nvPr/>
            </p:nvSpPr>
            <p:spPr>
              <a:xfrm>
                <a:off x="1182051" y="1333039"/>
                <a:ext cx="2880000" cy="540000"/>
              </a:xfrm>
              <a:prstGeom prst="roundRect">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GB" sz="1200" dirty="0">
                    <a:solidFill>
                      <a:schemeClr val="bg1"/>
                    </a:solidFill>
                    <a:latin typeface="Inter" panose="02000503000000020004" pitchFamily="2" charset="0"/>
                    <a:ea typeface="Inter" panose="02000503000000020004" pitchFamily="2" charset="0"/>
                  </a:rPr>
                  <a:t>1. Market Dynamics</a:t>
                </a:r>
                <a:endParaRPr lang="en-US" sz="1200" dirty="0">
                  <a:solidFill>
                    <a:schemeClr val="bg1"/>
                  </a:solidFill>
                  <a:latin typeface="Inter" panose="02000503000000020004" pitchFamily="2" charset="0"/>
                  <a:ea typeface="Inter" panose="02000503000000020004" pitchFamily="2" charset="0"/>
                </a:endParaRPr>
              </a:p>
            </p:txBody>
          </p:sp>
          <p:sp>
            <p:nvSpPr>
              <p:cNvPr id="20" name="TextBox 19">
                <a:extLst>
                  <a:ext uri="{FF2B5EF4-FFF2-40B4-BE49-F238E27FC236}">
                    <a16:creationId xmlns:a16="http://schemas.microsoft.com/office/drawing/2014/main" id="{292A3931-CB78-46C2-39BB-1ACFCC0E6296}"/>
                  </a:ext>
                </a:extLst>
              </p:cNvPr>
              <p:cNvSpPr txBox="1"/>
              <p:nvPr/>
            </p:nvSpPr>
            <p:spPr>
              <a:xfrm>
                <a:off x="507715" y="1908998"/>
                <a:ext cx="4228672" cy="2279727"/>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US" sz="1200" dirty="0">
                    <a:solidFill>
                      <a:schemeClr val="bg1"/>
                    </a:solidFill>
                    <a:latin typeface="Inter" panose="02000503000000020004" pitchFamily="2" charset="0"/>
                    <a:ea typeface="Inter" panose="02000503000000020004" pitchFamily="2" charset="0"/>
                  </a:rPr>
                  <a:t>Germany’s Onshore Wind shows strong long-term price stability.</a:t>
                </a:r>
              </a:p>
              <a:p>
                <a:pPr marL="171450" indent="-171450">
                  <a:lnSpc>
                    <a:spcPct val="150000"/>
                  </a:lnSpc>
                  <a:buFont typeface="Arial" panose="020B0604020202020204" pitchFamily="34" charset="0"/>
                  <a:buChar char="•"/>
                </a:pPr>
                <a:r>
                  <a:rPr lang="en-US" sz="1200" dirty="0">
                    <a:solidFill>
                      <a:schemeClr val="bg1"/>
                    </a:solidFill>
                    <a:latin typeface="Inter" panose="02000503000000020004" pitchFamily="2" charset="0"/>
                    <a:ea typeface="Inter" panose="02000503000000020004" pitchFamily="2" charset="0"/>
                  </a:rPr>
                  <a:t>Britain’s Solar PV demonstrates higher growth potential but greater short-term volatility. </a:t>
                </a:r>
              </a:p>
              <a:p>
                <a:pPr marL="171450" indent="-171450">
                  <a:lnSpc>
                    <a:spcPct val="150000"/>
                  </a:lnSpc>
                  <a:buFont typeface="Arial" panose="020B0604020202020204" pitchFamily="34" charset="0"/>
                  <a:buChar char="•"/>
                </a:pPr>
                <a:r>
                  <a:rPr lang="en-US" sz="1200" dirty="0">
                    <a:solidFill>
                      <a:schemeClr val="bg1"/>
                    </a:solidFill>
                    <a:latin typeface="Inter" panose="02000503000000020004" pitchFamily="2" charset="0"/>
                    <a:ea typeface="Inter" panose="02000503000000020004" pitchFamily="2" charset="0"/>
                  </a:rPr>
                  <a:t>By 2050, both countries’ baseload prices converge, indicating mature and balanced markets despite differing starting conditions.</a:t>
                </a:r>
              </a:p>
              <a:p>
                <a:pPr marL="171450" indent="-171450">
                  <a:lnSpc>
                    <a:spcPct val="150000"/>
                  </a:lnSpc>
                  <a:buFont typeface="Arial" panose="020B0604020202020204" pitchFamily="34" charset="0"/>
                  <a:buChar char="•"/>
                </a:pPr>
                <a:endParaRPr lang="en-US" sz="1200" dirty="0"/>
              </a:p>
            </p:txBody>
          </p:sp>
          <p:sp>
            <p:nvSpPr>
              <p:cNvPr id="21" name="Rectangle: Rounded Corners 20">
                <a:extLst>
                  <a:ext uri="{FF2B5EF4-FFF2-40B4-BE49-F238E27FC236}">
                    <a16:creationId xmlns:a16="http://schemas.microsoft.com/office/drawing/2014/main" id="{B9212672-26AB-22D2-763F-FE9E8035BB0D}"/>
                  </a:ext>
                </a:extLst>
              </p:cNvPr>
              <p:cNvSpPr/>
              <p:nvPr/>
            </p:nvSpPr>
            <p:spPr>
              <a:xfrm>
                <a:off x="1182051" y="4074974"/>
                <a:ext cx="2880000" cy="540000"/>
              </a:xfrm>
              <a:prstGeom prst="roundRect">
                <a:avLst/>
              </a:prstGeom>
              <a:solidFill>
                <a:schemeClr val="bg1">
                  <a:alpha val="15000"/>
                </a:schemeClr>
              </a:solidFill>
              <a:ln w="25400">
                <a:solidFill>
                  <a:schemeClr val="bg1">
                    <a:alpha val="30000"/>
                  </a:schemeClr>
                </a:solidFill>
              </a:ln>
              <a:effectLst>
                <a:outerShdw blurRad="190500" dist="101600" dir="2700000" algn="tl" rotWithShape="0">
                  <a:schemeClr val="tx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GB" sz="1200" dirty="0">
                    <a:solidFill>
                      <a:schemeClr val="bg1"/>
                    </a:solidFill>
                    <a:latin typeface="Inter" panose="02000503000000020004" pitchFamily="2" charset="0"/>
                    <a:ea typeface="Inter" panose="02000503000000020004" pitchFamily="2" charset="0"/>
                  </a:rPr>
                  <a:t>3. Correlation and Market Saturation</a:t>
                </a:r>
                <a:endParaRPr lang="en-US" sz="1200" dirty="0">
                  <a:solidFill>
                    <a:schemeClr val="bg1"/>
                  </a:solidFill>
                  <a:latin typeface="Inter" panose="02000503000000020004" pitchFamily="2" charset="0"/>
                  <a:ea typeface="Inter" panose="02000503000000020004" pitchFamily="2" charset="0"/>
                </a:endParaRPr>
              </a:p>
            </p:txBody>
          </p:sp>
          <p:sp>
            <p:nvSpPr>
              <p:cNvPr id="22" name="TextBox 21">
                <a:extLst>
                  <a:ext uri="{FF2B5EF4-FFF2-40B4-BE49-F238E27FC236}">
                    <a16:creationId xmlns:a16="http://schemas.microsoft.com/office/drawing/2014/main" id="{3587CC3D-08D2-4BFE-2391-58D869AEC43D}"/>
                  </a:ext>
                </a:extLst>
              </p:cNvPr>
              <p:cNvSpPr txBox="1"/>
              <p:nvPr/>
            </p:nvSpPr>
            <p:spPr>
              <a:xfrm>
                <a:off x="507715" y="4716290"/>
                <a:ext cx="4228672" cy="1447897"/>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US" sz="1200" dirty="0">
                    <a:solidFill>
                      <a:schemeClr val="bg1"/>
                    </a:solidFill>
                    <a:latin typeface="Inter" panose="02000503000000020004" pitchFamily="2" charset="0"/>
                    <a:ea typeface="Inter" panose="02000503000000020004" pitchFamily="2" charset="0"/>
                  </a:rPr>
                  <a:t>Strong inverse correlations between generation and capture prices: Solar PV (R1 = -0.89, R2 = 0.79) Onshore Wind (R1 = -0.82, R2 = 0.67)</a:t>
                </a:r>
              </a:p>
              <a:p>
                <a:pPr marL="171450" indent="-171450">
                  <a:lnSpc>
                    <a:spcPct val="150000"/>
                  </a:lnSpc>
                  <a:buFont typeface="Arial" panose="020B0604020202020204" pitchFamily="34" charset="0"/>
                  <a:buChar char="•"/>
                </a:pPr>
                <a:r>
                  <a:rPr lang="en-US" sz="1200" dirty="0">
                    <a:solidFill>
                      <a:schemeClr val="bg1"/>
                    </a:solidFill>
                    <a:latin typeface="Inter" panose="02000503000000020004" pitchFamily="2" charset="0"/>
                    <a:ea typeface="Inter" panose="02000503000000020004" pitchFamily="2" charset="0"/>
                  </a:rPr>
                  <a:t>Indicates renewable cannibalization—as output increases, prices decline.</a:t>
                </a:r>
                <a:endParaRPr lang="en-US" sz="1200" dirty="0"/>
              </a:p>
            </p:txBody>
          </p:sp>
        </p:grpSp>
      </p:grpSp>
    </p:spTree>
    <p:extLst>
      <p:ext uri="{BB962C8B-B14F-4D97-AF65-F5344CB8AC3E}">
        <p14:creationId xmlns:p14="http://schemas.microsoft.com/office/powerpoint/2010/main" val="2650464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2F4C"/>
        </a:solidFill>
        <a:effectLst/>
      </p:bgPr>
    </p:bg>
    <p:spTree>
      <p:nvGrpSpPr>
        <p:cNvPr id="1" name="">
          <a:extLst>
            <a:ext uri="{FF2B5EF4-FFF2-40B4-BE49-F238E27FC236}">
              <a16:creationId xmlns:a16="http://schemas.microsoft.com/office/drawing/2014/main" id="{D2B7A871-CCC6-F65E-E9BC-C6361D85C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8F6B86-6F91-33DE-1C96-89E1D2F7F704}"/>
              </a:ext>
            </a:extLst>
          </p:cNvPr>
          <p:cNvSpPr>
            <a:spLocks noGrp="1"/>
          </p:cNvSpPr>
          <p:nvPr>
            <p:ph type="title"/>
          </p:nvPr>
        </p:nvSpPr>
        <p:spPr/>
        <p:txBody>
          <a:bodyPr>
            <a:noAutofit/>
          </a:bodyPr>
          <a:lstStyle/>
          <a:p>
            <a:pPr algn="ctr">
              <a:lnSpc>
                <a:spcPct val="150000"/>
              </a:lnSpc>
              <a:spcAft>
                <a:spcPts val="600"/>
              </a:spcAft>
              <a:buNone/>
            </a:pPr>
            <a:r>
              <a:rPr lang="en-US" sz="2000" b="1" i="0" dirty="0">
                <a:solidFill>
                  <a:srgbClr val="FFFFFF"/>
                </a:solidFill>
                <a:effectLst/>
                <a:latin typeface="Inter" panose="02000503000000020004" pitchFamily="2" charset="0"/>
                <a:ea typeface="Inter" panose="02000503000000020004" pitchFamily="2" charset="0"/>
              </a:rPr>
              <a:t>CALL-TO-ACTION</a:t>
            </a:r>
            <a:endParaRPr lang="en-US" sz="1600" b="0" i="1" dirty="0">
              <a:solidFill>
                <a:srgbClr val="FBBF24"/>
              </a:solidFill>
              <a:effectLst/>
              <a:latin typeface="Inter" panose="02000503000000020004" pitchFamily="2" charset="0"/>
              <a:ea typeface="Inter" panose="02000503000000020004" pitchFamily="2" charset="0"/>
            </a:endParaRPr>
          </a:p>
        </p:txBody>
      </p:sp>
      <p:sp>
        <p:nvSpPr>
          <p:cNvPr id="12" name="Title 1">
            <a:extLst>
              <a:ext uri="{FF2B5EF4-FFF2-40B4-BE49-F238E27FC236}">
                <a16:creationId xmlns:a16="http://schemas.microsoft.com/office/drawing/2014/main" id="{8AC1D475-1A98-2340-3669-FFCF2B89378A}"/>
              </a:ext>
            </a:extLst>
          </p:cNvPr>
          <p:cNvSpPr txBox="1">
            <a:spLocks/>
          </p:cNvSpPr>
          <p:nvPr/>
        </p:nvSpPr>
        <p:spPr>
          <a:xfrm>
            <a:off x="4495373" y="1930549"/>
            <a:ext cx="3201255" cy="82392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1200" dirty="0">
                <a:solidFill>
                  <a:srgbClr val="F59E0B"/>
                </a:solidFill>
                <a:latin typeface="Inter" panose="02000503000000020004" pitchFamily="2" charset="0"/>
                <a:ea typeface="Inter" panose="02000503000000020004" pitchFamily="2" charset="0"/>
              </a:rPr>
              <a:t>Diversify Renewable Portfolios</a:t>
            </a:r>
          </a:p>
          <a:p>
            <a:pPr algn="ctr">
              <a:lnSpc>
                <a:spcPct val="150000"/>
              </a:lnSpc>
            </a:pPr>
            <a:endParaRPr lang="en-US" sz="1200" dirty="0">
              <a:solidFill>
                <a:srgbClr val="F59E0B"/>
              </a:solidFill>
              <a:latin typeface="Inter" panose="02000503000000020004" pitchFamily="2" charset="0"/>
              <a:ea typeface="Inter" panose="02000503000000020004" pitchFamily="2" charset="0"/>
            </a:endParaRPr>
          </a:p>
        </p:txBody>
      </p:sp>
      <p:sp>
        <p:nvSpPr>
          <p:cNvPr id="13" name="Title 1">
            <a:extLst>
              <a:ext uri="{FF2B5EF4-FFF2-40B4-BE49-F238E27FC236}">
                <a16:creationId xmlns:a16="http://schemas.microsoft.com/office/drawing/2014/main" id="{F22ADF29-DC1D-845E-1E81-1E72373A888B}"/>
              </a:ext>
            </a:extLst>
          </p:cNvPr>
          <p:cNvSpPr txBox="1">
            <a:spLocks/>
          </p:cNvSpPr>
          <p:nvPr/>
        </p:nvSpPr>
        <p:spPr>
          <a:xfrm>
            <a:off x="4495372" y="2916300"/>
            <a:ext cx="3201255" cy="108648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200" dirty="0">
                <a:solidFill>
                  <a:schemeClr val="bg1"/>
                </a:solidFill>
                <a:latin typeface="Inter" panose="02000503000000020004" pitchFamily="2" charset="0"/>
                <a:ea typeface="Inter" panose="02000503000000020004" pitchFamily="2" charset="0"/>
              </a:rPr>
              <a:t>Combine Germany’s stable Onshore Wind with Britain’s high-growth Solar PV to balance risk and return</a:t>
            </a:r>
          </a:p>
        </p:txBody>
      </p:sp>
      <p:grpSp>
        <p:nvGrpSpPr>
          <p:cNvPr id="14" name="Group 13">
            <a:extLst>
              <a:ext uri="{FF2B5EF4-FFF2-40B4-BE49-F238E27FC236}">
                <a16:creationId xmlns:a16="http://schemas.microsoft.com/office/drawing/2014/main" id="{6CF60A17-E6CD-C228-CB3D-57ACED5B4473}"/>
              </a:ext>
            </a:extLst>
          </p:cNvPr>
          <p:cNvGrpSpPr/>
          <p:nvPr/>
        </p:nvGrpSpPr>
        <p:grpSpPr>
          <a:xfrm>
            <a:off x="8333194" y="1908005"/>
            <a:ext cx="3201256" cy="2072238"/>
            <a:chOff x="764565" y="1980917"/>
            <a:chExt cx="3201256" cy="2072238"/>
          </a:xfrm>
        </p:grpSpPr>
        <p:sp>
          <p:nvSpPr>
            <p:cNvPr id="15" name="Title 1">
              <a:extLst>
                <a:ext uri="{FF2B5EF4-FFF2-40B4-BE49-F238E27FC236}">
                  <a16:creationId xmlns:a16="http://schemas.microsoft.com/office/drawing/2014/main" id="{739F721E-54A7-CA26-C43B-EB9256589A97}"/>
                </a:ext>
              </a:extLst>
            </p:cNvPr>
            <p:cNvSpPr txBox="1">
              <a:spLocks/>
            </p:cNvSpPr>
            <p:nvPr/>
          </p:nvSpPr>
          <p:spPr>
            <a:xfrm>
              <a:off x="764566" y="1980917"/>
              <a:ext cx="3201255" cy="82392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1200" dirty="0">
                  <a:solidFill>
                    <a:srgbClr val="F59E0B"/>
                  </a:solidFill>
                  <a:latin typeface="Inter" panose="02000503000000020004" pitchFamily="2" charset="0"/>
                  <a:ea typeface="Inter" panose="02000503000000020004" pitchFamily="2" charset="0"/>
                </a:rPr>
                <a:t>Monitor Market Saturation</a:t>
              </a:r>
            </a:p>
            <a:p>
              <a:pPr algn="ctr">
                <a:lnSpc>
                  <a:spcPct val="150000"/>
                </a:lnSpc>
              </a:pPr>
              <a:endParaRPr lang="en-US" sz="1200" dirty="0">
                <a:solidFill>
                  <a:srgbClr val="F59E0B"/>
                </a:solidFill>
                <a:latin typeface="Inter" panose="02000503000000020004" pitchFamily="2" charset="0"/>
                <a:ea typeface="Inter" panose="02000503000000020004" pitchFamily="2" charset="0"/>
              </a:endParaRPr>
            </a:p>
          </p:txBody>
        </p:sp>
        <p:sp>
          <p:nvSpPr>
            <p:cNvPr id="16" name="Title 1">
              <a:extLst>
                <a:ext uri="{FF2B5EF4-FFF2-40B4-BE49-F238E27FC236}">
                  <a16:creationId xmlns:a16="http://schemas.microsoft.com/office/drawing/2014/main" id="{678EAEC2-0712-D11B-6617-ED7FB5442B96}"/>
                </a:ext>
              </a:extLst>
            </p:cNvPr>
            <p:cNvSpPr txBox="1">
              <a:spLocks/>
            </p:cNvSpPr>
            <p:nvPr/>
          </p:nvSpPr>
          <p:spPr>
            <a:xfrm>
              <a:off x="764565" y="2966668"/>
              <a:ext cx="3201255" cy="108648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200" dirty="0">
                  <a:solidFill>
                    <a:schemeClr val="bg1"/>
                  </a:solidFill>
                  <a:latin typeface="Inter" panose="02000503000000020004" pitchFamily="2" charset="0"/>
                  <a:ea typeface="Inter" panose="02000503000000020004" pitchFamily="2" charset="0"/>
                </a:rPr>
                <a:t>Strengthening negative correlation highlight the need for storage solutions and demand flexibility to offset cannibalization </a:t>
              </a:r>
            </a:p>
          </p:txBody>
        </p:sp>
      </p:grpSp>
      <p:pic>
        <p:nvPicPr>
          <p:cNvPr id="18" name="Picture 17">
            <a:extLst>
              <a:ext uri="{FF2B5EF4-FFF2-40B4-BE49-F238E27FC236}">
                <a16:creationId xmlns:a16="http://schemas.microsoft.com/office/drawing/2014/main" id="{67EEF347-E49A-8819-CE23-65BAE62C97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5372" y="2080547"/>
            <a:ext cx="355556" cy="355556"/>
          </a:xfrm>
          <a:prstGeom prst="rect">
            <a:avLst/>
          </a:prstGeom>
        </p:spPr>
      </p:pic>
      <p:pic>
        <p:nvPicPr>
          <p:cNvPr id="20" name="Picture 19">
            <a:extLst>
              <a:ext uri="{FF2B5EF4-FFF2-40B4-BE49-F238E27FC236}">
                <a16:creationId xmlns:a16="http://schemas.microsoft.com/office/drawing/2014/main" id="{3BCDC05E-E37D-0147-1DF3-6E6F68C67C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4568" y="2070273"/>
            <a:ext cx="355556" cy="355556"/>
          </a:xfrm>
          <a:prstGeom prst="rect">
            <a:avLst/>
          </a:prstGeom>
        </p:spPr>
      </p:pic>
      <p:sp>
        <p:nvSpPr>
          <p:cNvPr id="4" name="Title 1">
            <a:extLst>
              <a:ext uri="{FF2B5EF4-FFF2-40B4-BE49-F238E27FC236}">
                <a16:creationId xmlns:a16="http://schemas.microsoft.com/office/drawing/2014/main" id="{46C01334-6EEA-C892-CC46-89FC7A39BDDF}"/>
              </a:ext>
            </a:extLst>
          </p:cNvPr>
          <p:cNvSpPr txBox="1">
            <a:spLocks/>
          </p:cNvSpPr>
          <p:nvPr/>
        </p:nvSpPr>
        <p:spPr>
          <a:xfrm>
            <a:off x="764566" y="1980917"/>
            <a:ext cx="3201255" cy="82392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US" sz="1200" dirty="0">
                <a:solidFill>
                  <a:srgbClr val="F59E0B"/>
                </a:solidFill>
                <a:latin typeface="Inter" panose="02000503000000020004" pitchFamily="2" charset="0"/>
                <a:ea typeface="Inter" panose="02000503000000020004" pitchFamily="2" charset="0"/>
              </a:rPr>
              <a:t>Prioritize long term Solar PV investment in Britain </a:t>
            </a:r>
          </a:p>
        </p:txBody>
      </p:sp>
      <p:sp>
        <p:nvSpPr>
          <p:cNvPr id="9" name="Title 1">
            <a:extLst>
              <a:ext uri="{FF2B5EF4-FFF2-40B4-BE49-F238E27FC236}">
                <a16:creationId xmlns:a16="http://schemas.microsoft.com/office/drawing/2014/main" id="{3A14A858-C3B0-A33E-98B9-51178BA4A2E9}"/>
              </a:ext>
            </a:extLst>
          </p:cNvPr>
          <p:cNvSpPr txBox="1">
            <a:spLocks/>
          </p:cNvSpPr>
          <p:nvPr/>
        </p:nvSpPr>
        <p:spPr>
          <a:xfrm>
            <a:off x="764565" y="2966668"/>
            <a:ext cx="3201255" cy="108648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1200" dirty="0">
                <a:solidFill>
                  <a:schemeClr val="bg1"/>
                </a:solidFill>
                <a:latin typeface="Inter" panose="02000503000000020004" pitchFamily="2" charset="0"/>
                <a:ea typeface="Inter" panose="02000503000000020004" pitchFamily="2" charset="0"/>
              </a:rPr>
              <a:t>Despite Volatility, Solar PV offers superior long-run returns and resilience post 2029. Investors should position early to capture long term value growth.</a:t>
            </a:r>
          </a:p>
        </p:txBody>
      </p:sp>
      <p:pic>
        <p:nvPicPr>
          <p:cNvPr id="24" name="Picture 23">
            <a:extLst>
              <a:ext uri="{FF2B5EF4-FFF2-40B4-BE49-F238E27FC236}">
                <a16:creationId xmlns:a16="http://schemas.microsoft.com/office/drawing/2014/main" id="{3FAB202F-946D-62D9-3706-AF1570B0DD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102" y="2131917"/>
            <a:ext cx="355556" cy="355556"/>
          </a:xfrm>
          <a:prstGeom prst="rect">
            <a:avLst/>
          </a:prstGeom>
        </p:spPr>
      </p:pic>
    </p:spTree>
    <p:extLst>
      <p:ext uri="{BB962C8B-B14F-4D97-AF65-F5344CB8AC3E}">
        <p14:creationId xmlns:p14="http://schemas.microsoft.com/office/powerpoint/2010/main" val="42537747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15512</TotalTime>
  <Words>2191</Words>
  <Application>Microsoft Office PowerPoint</Application>
  <PresentationFormat>Widescreen</PresentationFormat>
  <Paragraphs>552</Paragraphs>
  <Slides>16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Calibri</vt:lpstr>
      <vt:lpstr>Calibri Light</vt:lpstr>
      <vt:lpstr>Inter</vt:lpstr>
      <vt:lpstr>Inter  </vt:lpstr>
      <vt:lpstr>Inter ExtraBold</vt:lpstr>
      <vt:lpstr>Inter Light</vt:lpstr>
      <vt:lpstr>Segoe UI</vt:lpstr>
      <vt:lpstr>Office Theme</vt:lpstr>
      <vt:lpstr>EU POWER MARKET  INSIGHT</vt:lpstr>
      <vt:lpstr>Table of Content EU Power Market Insight: GB vs DE Analysis (2022-2050)</vt:lpstr>
      <vt:lpstr>Looking Back from 2050: Did Our Investments Deliver Value? Two paths, one destination — which investment strategy leads to success?</vt:lpstr>
      <vt:lpstr>Executive Summary Comparing GB and DE Market Outlooks (2022Q3 vs 2023Q1)</vt:lpstr>
      <vt:lpstr>PowerPoint Presentation</vt:lpstr>
      <vt:lpstr>Baseload Price Comparison: GB VS DE How do wholesale power prices (baseload) compare between GB and DE?</vt:lpstr>
      <vt:lpstr>PowerPoint Presentation</vt:lpstr>
      <vt:lpstr>PowerPoint Presentation</vt:lpstr>
      <vt:lpstr>Capture Price Trend  From a capture price perspective, which technology offers better potential between solar PV in GB and onshore wind in DE? </vt:lpstr>
      <vt:lpstr>Capture Price Trend  From a capture price perspective, which technology offers better potential between solar PV in GB and onshore wind in DE? </vt:lpstr>
      <vt:lpstr>PowerPoint Presentation</vt:lpstr>
      <vt:lpstr>PowerPoint Presentation</vt:lpstr>
      <vt:lpstr>Forecast Change Analysis (2022 Q3 → 2023 Q1) Did Aaron change his forecast for solar PV and onshore wind capture prices between Q3 2022 and Q1 2023? If so, how significant is the shift and what could possibly explain that?</vt:lpstr>
      <vt:lpstr>Forecast Change Analysis (2022 Q3 → 2023 Q1) Did Aaron change his forecast for solar PV and onshore wind capture prices between Q3 2022 and Q1 2023? If so, how significant is the shift and what could possibly explain that?</vt:lpstr>
      <vt:lpstr>SUMMARY OF KEY INSIGHT REPORT</vt:lpstr>
      <vt:lpstr>CALL-TO-ACTION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Kuku Faruq</dc:creator>
  <cp:lastModifiedBy>Kuku Faruq</cp:lastModifiedBy>
  <cp:revision>9</cp:revision>
  <dcterms:created xsi:type="dcterms:W3CDTF">2025-10-19T08:15:25Z</dcterms:created>
  <dcterms:modified xsi:type="dcterms:W3CDTF">2025-11-01T10:29:25Z</dcterms:modified>
</cp:coreProperties>
</file>